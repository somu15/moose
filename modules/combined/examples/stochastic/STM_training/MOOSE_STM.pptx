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92" r:id="rId4"/>
  </p:sldMasterIdLst>
  <p:notesMasterIdLst>
    <p:notesMasterId r:id="rId40"/>
  </p:notesMasterIdLst>
  <p:sldIdLst>
    <p:sldId id="256" r:id="rId5"/>
    <p:sldId id="947" r:id="rId6"/>
    <p:sldId id="291" r:id="rId7"/>
    <p:sldId id="948" r:id="rId8"/>
    <p:sldId id="956" r:id="rId9"/>
    <p:sldId id="950" r:id="rId10"/>
    <p:sldId id="951" r:id="rId11"/>
    <p:sldId id="952" r:id="rId12"/>
    <p:sldId id="953" r:id="rId13"/>
    <p:sldId id="954" r:id="rId14"/>
    <p:sldId id="955" r:id="rId15"/>
    <p:sldId id="957" r:id="rId16"/>
    <p:sldId id="958" r:id="rId17"/>
    <p:sldId id="959" r:id="rId18"/>
    <p:sldId id="960" r:id="rId19"/>
    <p:sldId id="963" r:id="rId20"/>
    <p:sldId id="961" r:id="rId21"/>
    <p:sldId id="962" r:id="rId22"/>
    <p:sldId id="964" r:id="rId23"/>
    <p:sldId id="965" r:id="rId24"/>
    <p:sldId id="978" r:id="rId25"/>
    <p:sldId id="967" r:id="rId26"/>
    <p:sldId id="968" r:id="rId27"/>
    <p:sldId id="969" r:id="rId28"/>
    <p:sldId id="966" r:id="rId29"/>
    <p:sldId id="970" r:id="rId30"/>
    <p:sldId id="971" r:id="rId31"/>
    <p:sldId id="972" r:id="rId32"/>
    <p:sldId id="973" r:id="rId33"/>
    <p:sldId id="979" r:id="rId34"/>
    <p:sldId id="974" r:id="rId35"/>
    <p:sldId id="975" r:id="rId36"/>
    <p:sldId id="976" r:id="rId37"/>
    <p:sldId id="977" r:id="rId38"/>
    <p:sldId id="259"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EC423"/>
    <a:srgbClr val="07519E"/>
    <a:srgbClr val="2DA9E1"/>
    <a:srgbClr val="1C366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288"/>
    <p:restoredTop sz="94694"/>
  </p:normalViewPr>
  <p:slideViewPr>
    <p:cSldViewPr snapToGrid="0" snapToObjects="1">
      <p:cViewPr varScale="1">
        <p:scale>
          <a:sx n="227" d="100"/>
          <a:sy n="227" d="100"/>
        </p:scale>
        <p:origin x="119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09992B-A26C-6A4B-AC27-2602734F2866}" type="datetimeFigureOut">
              <a:rPr lang="en-US" smtClean="0"/>
              <a:t>3/12/25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0CCFD4-A7F8-054B-8822-BC244B953582}" type="slidenum">
              <a:rPr lang="en-US" smtClean="0"/>
              <a:t>‹#›</a:t>
            </a:fld>
            <a:endParaRPr lang="en-US"/>
          </a:p>
        </p:txBody>
      </p:sp>
    </p:spTree>
    <p:extLst>
      <p:ext uri="{BB962C8B-B14F-4D97-AF65-F5344CB8AC3E}">
        <p14:creationId xmlns:p14="http://schemas.microsoft.com/office/powerpoint/2010/main" val="2437012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0CCFD4-A7F8-054B-8822-BC244B953582}" type="slidenum">
              <a:rPr lang="en-US" smtClean="0"/>
              <a:t>2</a:t>
            </a:fld>
            <a:endParaRPr lang="en-US"/>
          </a:p>
        </p:txBody>
      </p:sp>
    </p:spTree>
    <p:extLst>
      <p:ext uri="{BB962C8B-B14F-4D97-AF65-F5344CB8AC3E}">
        <p14:creationId xmlns:p14="http://schemas.microsoft.com/office/powerpoint/2010/main" val="266253212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Hex_01">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77A4BE5-FE46-EA43-B6B0-450DE02CC372}"/>
              </a:ext>
            </a:extLst>
          </p:cNvPr>
          <p:cNvPicPr>
            <a:picLocks noChangeAspect="1"/>
          </p:cNvPicPr>
          <p:nvPr userDrawn="1"/>
        </p:nvPicPr>
        <p:blipFill>
          <a:blip r:embed="rId2"/>
          <a:stretch>
            <a:fillRect/>
          </a:stretch>
        </p:blipFill>
        <p:spPr>
          <a:xfrm>
            <a:off x="0" y="0"/>
            <a:ext cx="12192000" cy="6858000"/>
          </a:xfrm>
          <a:prstGeom prst="rect">
            <a:avLst/>
          </a:prstGeom>
        </p:spPr>
      </p:pic>
      <p:grpSp>
        <p:nvGrpSpPr>
          <p:cNvPr id="13" name="blue/green box bottom">
            <a:extLst>
              <a:ext uri="{FF2B5EF4-FFF2-40B4-BE49-F238E27FC236}">
                <a16:creationId xmlns:a16="http://schemas.microsoft.com/office/drawing/2014/main" id="{01F9400E-D49A-AA40-B4BD-53F03EC31D76}"/>
              </a:ext>
            </a:extLst>
          </p:cNvPr>
          <p:cNvGrpSpPr/>
          <p:nvPr userDrawn="1"/>
        </p:nvGrpSpPr>
        <p:grpSpPr>
          <a:xfrm>
            <a:off x="0" y="5340350"/>
            <a:ext cx="12192000" cy="1517650"/>
            <a:chOff x="0" y="5340350"/>
            <a:chExt cx="12192000" cy="1517650"/>
          </a:xfrm>
        </p:grpSpPr>
        <p:sp>
          <p:nvSpPr>
            <p:cNvPr id="11" name="Rectangle 10">
              <a:extLst>
                <a:ext uri="{FF2B5EF4-FFF2-40B4-BE49-F238E27FC236}">
                  <a16:creationId xmlns:a16="http://schemas.microsoft.com/office/drawing/2014/main" id="{7C04B8F3-C379-C04D-8634-1CDEC81586E2}"/>
                </a:ext>
              </a:extLst>
            </p:cNvPr>
            <p:cNvSpPr/>
            <p:nvPr userDrawn="1"/>
          </p:nvSpPr>
          <p:spPr bwMode="auto">
            <a:xfrm>
              <a:off x="0" y="5444519"/>
              <a:ext cx="12192000" cy="1413481"/>
            </a:xfrm>
            <a:prstGeom prst="rect">
              <a:avLst/>
            </a:prstGeom>
            <a:solidFill>
              <a:srgbClr val="07519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12" name="Rectangle 11">
              <a:extLst>
                <a:ext uri="{FF2B5EF4-FFF2-40B4-BE49-F238E27FC236}">
                  <a16:creationId xmlns:a16="http://schemas.microsoft.com/office/drawing/2014/main" id="{003207E4-91BC-AB48-939F-AAC2AA29BF23}"/>
                </a:ext>
              </a:extLst>
            </p:cNvPr>
            <p:cNvSpPr/>
            <p:nvPr userDrawn="1"/>
          </p:nvSpPr>
          <p:spPr bwMode="auto">
            <a:xfrm>
              <a:off x="0" y="5340350"/>
              <a:ext cx="12192000" cy="104169"/>
            </a:xfrm>
            <a:prstGeom prst="rect">
              <a:avLst/>
            </a:prstGeom>
            <a:solidFill>
              <a:srgbClr val="8EC42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grpSp>
      <p:sp>
        <p:nvSpPr>
          <p:cNvPr id="21" name="Text Placeholder 20">
            <a:extLst>
              <a:ext uri="{FF2B5EF4-FFF2-40B4-BE49-F238E27FC236}">
                <a16:creationId xmlns:a16="http://schemas.microsoft.com/office/drawing/2014/main" id="{E1DFF24A-6025-2847-8C93-29954BFB7B89}"/>
              </a:ext>
            </a:extLst>
          </p:cNvPr>
          <p:cNvSpPr>
            <a:spLocks noGrp="1"/>
          </p:cNvSpPr>
          <p:nvPr>
            <p:ph type="body" sz="quarter" idx="13" hasCustomPrompt="1"/>
          </p:nvPr>
        </p:nvSpPr>
        <p:spPr>
          <a:xfrm>
            <a:off x="2837144" y="1938829"/>
            <a:ext cx="9354855" cy="2292350"/>
          </a:xfrm>
          <a:prstGeom prst="rect">
            <a:avLst/>
          </a:prstGeom>
          <a:noFill/>
        </p:spPr>
        <p:txBody>
          <a:bodyPr wrap="square" lIns="365760" tIns="822960" rIns="1097280" bIns="822960" anchor="ctr" anchorCtr="0">
            <a:noAutofit/>
          </a:bodyPr>
          <a:lstStyle>
            <a:lvl1pPr marL="0" indent="0">
              <a:buFont typeface="Arial" panose="020B0604020202020204" pitchFamily="34" charset="0"/>
              <a:buNone/>
              <a:tabLst/>
              <a:defRPr sz="3600" b="1" i="0">
                <a:solidFill>
                  <a:schemeClr val="tx2"/>
                </a:solidFill>
                <a:latin typeface="Arial" panose="020B0604020202020204" pitchFamily="34" charset="0"/>
                <a:cs typeface="Arial" panose="020B0604020202020204" pitchFamily="34" charset="0"/>
              </a:defRPr>
            </a:lvl1pPr>
            <a:lvl2pPr marL="9525" indent="0">
              <a:buFontTx/>
              <a:buNone/>
              <a:tabLst/>
              <a:defRPr sz="2400">
                <a:solidFill>
                  <a:schemeClr val="tx2"/>
                </a:solidFill>
                <a:latin typeface="Arial" panose="020B0604020202020204" pitchFamily="34" charset="0"/>
                <a:cs typeface="Arial" panose="020B0604020202020204" pitchFamily="34" charset="0"/>
              </a:defRPr>
            </a:lvl2pPr>
            <a:lvl3pPr marL="914400" indent="0">
              <a:buFontTx/>
              <a:buNone/>
              <a:defRPr/>
            </a:lvl3pPr>
            <a:lvl4pPr marL="1371600" indent="0">
              <a:buFontTx/>
              <a:buNone/>
              <a:defRPr/>
            </a:lvl4pPr>
            <a:lvl5pPr marL="1828800" indent="0">
              <a:buFontTx/>
              <a:buNone/>
              <a:defRPr/>
            </a:lvl5pPr>
          </a:lstStyle>
          <a:p>
            <a:pPr lvl="0"/>
            <a:r>
              <a:rPr lang="en-US" dirty="0"/>
              <a:t>Click to edit title</a:t>
            </a:r>
          </a:p>
          <a:p>
            <a:pPr lvl="1"/>
            <a:r>
              <a:rPr lang="en-US" dirty="0"/>
              <a:t>Click to edit subtitle</a:t>
            </a:r>
          </a:p>
        </p:txBody>
      </p:sp>
      <p:pic>
        <p:nvPicPr>
          <p:cNvPr id="17" name="Picture 16">
            <a:extLst>
              <a:ext uri="{FF2B5EF4-FFF2-40B4-BE49-F238E27FC236}">
                <a16:creationId xmlns:a16="http://schemas.microsoft.com/office/drawing/2014/main" id="{D6BFF5DD-7DCF-9548-B217-A9B72A1797C1}"/>
              </a:ext>
            </a:extLst>
          </p:cNvPr>
          <p:cNvPicPr>
            <a:picLocks noChangeAspect="1"/>
          </p:cNvPicPr>
          <p:nvPr userDrawn="1"/>
        </p:nvPicPr>
        <p:blipFill>
          <a:blip r:embed="rId3"/>
          <a:srcRect/>
          <a:stretch/>
        </p:blipFill>
        <p:spPr>
          <a:xfrm>
            <a:off x="8455024" y="5910196"/>
            <a:ext cx="3191255" cy="473702"/>
          </a:xfrm>
          <a:prstGeom prst="rect">
            <a:avLst/>
          </a:prstGeom>
        </p:spPr>
      </p:pic>
      <p:sp>
        <p:nvSpPr>
          <p:cNvPr id="14" name="Text Placeholder 46">
            <a:extLst>
              <a:ext uri="{FF2B5EF4-FFF2-40B4-BE49-F238E27FC236}">
                <a16:creationId xmlns:a16="http://schemas.microsoft.com/office/drawing/2014/main" id="{45BFF713-8DD6-6843-86C3-2D1862E3CA9C}"/>
              </a:ext>
            </a:extLst>
          </p:cNvPr>
          <p:cNvSpPr>
            <a:spLocks noGrp="1"/>
          </p:cNvSpPr>
          <p:nvPr>
            <p:ph type="body" sz="quarter" idx="16"/>
          </p:nvPr>
        </p:nvSpPr>
        <p:spPr>
          <a:xfrm>
            <a:off x="670142" y="273297"/>
            <a:ext cx="2541981" cy="1392237"/>
          </a:xfrm>
          <a:effectLst/>
        </p:spPr>
        <p:txBody>
          <a:bodyPr lIns="0" rIns="0" bIns="0" anchor="b" anchorCtr="0">
            <a:noAutofit/>
          </a:bodyPr>
          <a:lstStyle>
            <a:lvl1pPr marL="7938" indent="0">
              <a:buFontTx/>
              <a:buNone/>
              <a:tabLst/>
              <a:defRPr sz="1600" b="1" i="0">
                <a:solidFill>
                  <a:schemeClr val="tx2"/>
                </a:solidFill>
                <a:latin typeface="Arial" panose="020B0604020202020204" pitchFamily="34" charset="0"/>
                <a:cs typeface="Arial" panose="020B0604020202020204" pitchFamily="34" charset="0"/>
              </a:defRPr>
            </a:lvl1pPr>
            <a:lvl2pPr marL="457200" indent="0">
              <a:buFontTx/>
              <a:buNone/>
              <a:defRPr b="0" i="0">
                <a:solidFill>
                  <a:schemeClr val="bg1"/>
                </a:solidFill>
                <a:latin typeface="Myriad Pro Condensed" panose="020B0506030403020204" pitchFamily="34" charset="0"/>
              </a:defRPr>
            </a:lvl2pPr>
            <a:lvl3pPr marL="7938" indent="0">
              <a:buFontTx/>
              <a:buNone/>
              <a:tabLst/>
              <a:defRPr sz="1600" b="0" i="0">
                <a:solidFill>
                  <a:schemeClr val="tx2"/>
                </a:solidFill>
                <a:latin typeface="Arial" panose="020B0604020202020204" pitchFamily="34" charset="0"/>
                <a:cs typeface="Arial" panose="020B0604020202020204" pitchFamily="34" charset="0"/>
              </a:defRPr>
            </a:lvl3pPr>
            <a:lvl4pPr marL="1371600" indent="0">
              <a:buFontTx/>
              <a:buNone/>
              <a:defRPr b="0" i="0">
                <a:solidFill>
                  <a:schemeClr val="bg1"/>
                </a:solidFill>
                <a:latin typeface="Myriad Pro Condensed" panose="020B0506030403020204" pitchFamily="34" charset="0"/>
              </a:defRPr>
            </a:lvl4pPr>
            <a:lvl5pPr marL="1828800" indent="0">
              <a:buFontTx/>
              <a:buNone/>
              <a:defRPr b="0" i="0">
                <a:solidFill>
                  <a:schemeClr val="bg1"/>
                </a:solidFill>
                <a:latin typeface="Myriad Pro Condensed" panose="020B0506030403020204" pitchFamily="34" charset="0"/>
              </a:defRPr>
            </a:lvl5pPr>
          </a:lstStyle>
          <a:p>
            <a:pPr lvl="0"/>
            <a:endParaRPr lang="en-US" dirty="0"/>
          </a:p>
          <a:p>
            <a:pPr lvl="2"/>
            <a:r>
              <a:rPr lang="en-US" dirty="0"/>
              <a:t>Date</a:t>
            </a:r>
          </a:p>
          <a:p>
            <a:pPr lvl="2"/>
            <a:endParaRPr lang="en-US" dirty="0"/>
          </a:p>
          <a:p>
            <a:pPr lvl="0"/>
            <a:r>
              <a:rPr lang="en-US" dirty="0"/>
              <a:t>Presenter name</a:t>
            </a:r>
          </a:p>
          <a:p>
            <a:pPr lvl="2"/>
            <a:r>
              <a:rPr lang="en-US" dirty="0"/>
              <a:t>Title</a:t>
            </a:r>
          </a:p>
        </p:txBody>
      </p:sp>
    </p:spTree>
    <p:extLst>
      <p:ext uri="{BB962C8B-B14F-4D97-AF65-F5344CB8AC3E}">
        <p14:creationId xmlns:p14="http://schemas.microsoft.com/office/powerpoint/2010/main" val="22497888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3840">
          <p15:clr>
            <a:srgbClr val="FBAE40"/>
          </p15:clr>
        </p15:guide>
        <p15:guide id="3" orient="horz" pos="1920">
          <p15:clr>
            <a:srgbClr val="FBAE40"/>
          </p15:clr>
        </p15:guide>
        <p15:guide id="4" pos="53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EC5EE-7A70-7D44-877F-2A9D26623273}"/>
              </a:ext>
            </a:extLst>
          </p:cNvPr>
          <p:cNvSpPr>
            <a:spLocks noGrp="1"/>
          </p:cNvSpPr>
          <p:nvPr>
            <p:ph type="title" hasCustomPrompt="1"/>
          </p:nvPr>
        </p:nvSpPr>
        <p:spPr/>
        <p:txBody>
          <a:bodyPr/>
          <a:lstStyle/>
          <a:p>
            <a:r>
              <a:rPr lang="en-US" dirty="0"/>
              <a:t>Click to edit title</a:t>
            </a:r>
            <a:br>
              <a:rPr lang="en-US" dirty="0"/>
            </a:br>
            <a:r>
              <a:rPr lang="en-US" dirty="0"/>
              <a:t>(Reduce font for title longer than 2 lines)</a:t>
            </a:r>
          </a:p>
        </p:txBody>
      </p:sp>
      <p:sp>
        <p:nvSpPr>
          <p:cNvPr id="3" name="Content Placeholder 2">
            <a:extLst>
              <a:ext uri="{FF2B5EF4-FFF2-40B4-BE49-F238E27FC236}">
                <a16:creationId xmlns:a16="http://schemas.microsoft.com/office/drawing/2014/main" id="{E6FD6444-081A-D54B-830B-A94153C0EF14}"/>
              </a:ext>
            </a:extLst>
          </p:cNvPr>
          <p:cNvSpPr>
            <a:spLocks noGrp="1"/>
          </p:cNvSpPr>
          <p:nvPr>
            <p:ph idx="1" hasCustomPrompt="1"/>
          </p:nvPr>
        </p:nvSpPr>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A1E2218-371C-0D41-97AF-B220A81F8AD7}"/>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66B462E5-D969-3443-B549-CE7B6CCBE8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ABC785-2799-4146-A523-CFA98FEB93BC}"/>
              </a:ext>
            </a:extLst>
          </p:cNvPr>
          <p:cNvSpPr>
            <a:spLocks noGrp="1"/>
          </p:cNvSpPr>
          <p:nvPr>
            <p:ph type="sldNum" sz="quarter" idx="12"/>
          </p:nvPr>
        </p:nvSpPr>
        <p:spPr/>
        <p:txBody>
          <a:bodyPr/>
          <a:lstStyle/>
          <a:p>
            <a:fld id="{82B577FA-F7D9-2C48-919F-F962E3BF952F}" type="slidenum">
              <a:rPr lang="en-US" smtClean="0"/>
              <a:t>‹#›</a:t>
            </a:fld>
            <a:endParaRPr lang="en-US"/>
          </a:p>
        </p:txBody>
      </p:sp>
    </p:spTree>
    <p:extLst>
      <p:ext uri="{BB962C8B-B14F-4D97-AF65-F5344CB8AC3E}">
        <p14:creationId xmlns:p14="http://schemas.microsoft.com/office/powerpoint/2010/main" val="20611937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Full Foot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2365512-1A58-B241-838D-EFAB0E25F8AF}"/>
              </a:ext>
            </a:extLst>
          </p:cNvPr>
          <p:cNvSpPr/>
          <p:nvPr userDrawn="1"/>
        </p:nvSpPr>
        <p:spPr>
          <a:xfrm>
            <a:off x="0" y="6335712"/>
            <a:ext cx="12192000" cy="5222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EE89965-9C98-C446-B0C8-8151A52702B5}"/>
              </a:ext>
            </a:extLst>
          </p:cNvPr>
          <p:cNvSpPr/>
          <p:nvPr userDrawn="1"/>
        </p:nvSpPr>
        <p:spPr>
          <a:xfrm>
            <a:off x="0" y="6237795"/>
            <a:ext cx="12192000" cy="979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IDAHO NATIONAL LABORATORY">
            <a:extLst>
              <a:ext uri="{FF2B5EF4-FFF2-40B4-BE49-F238E27FC236}">
                <a16:creationId xmlns:a16="http://schemas.microsoft.com/office/drawing/2014/main" id="{C9B294FD-1F7F-4240-B2BD-1DD570DF2ECD}"/>
              </a:ext>
            </a:extLst>
          </p:cNvPr>
          <p:cNvPicPr>
            <a:picLocks noChangeAspect="1"/>
          </p:cNvPicPr>
          <p:nvPr userDrawn="1"/>
        </p:nvPicPr>
        <p:blipFill>
          <a:blip r:embed="rId2"/>
          <a:stretch>
            <a:fillRect/>
          </a:stretch>
        </p:blipFill>
        <p:spPr>
          <a:xfrm>
            <a:off x="8944584" y="6543675"/>
            <a:ext cx="2768600" cy="127000"/>
          </a:xfrm>
          <a:prstGeom prst="rect">
            <a:avLst/>
          </a:prstGeom>
        </p:spPr>
      </p:pic>
      <p:sp>
        <p:nvSpPr>
          <p:cNvPr id="2" name="Title 1">
            <a:extLst>
              <a:ext uri="{FF2B5EF4-FFF2-40B4-BE49-F238E27FC236}">
                <a16:creationId xmlns:a16="http://schemas.microsoft.com/office/drawing/2014/main" id="{503EC5EE-7A70-7D44-877F-2A9D26623273}"/>
              </a:ext>
            </a:extLst>
          </p:cNvPr>
          <p:cNvSpPr>
            <a:spLocks noGrp="1"/>
          </p:cNvSpPr>
          <p:nvPr>
            <p:ph type="title" hasCustomPrompt="1"/>
          </p:nvPr>
        </p:nvSpPr>
        <p:spPr/>
        <p:txBody>
          <a:bodyPr/>
          <a:lstStyle/>
          <a:p>
            <a:r>
              <a:rPr lang="en-US" dirty="0"/>
              <a:t>Click to edit title</a:t>
            </a:r>
            <a:br>
              <a:rPr lang="en-US" dirty="0"/>
            </a:br>
            <a:r>
              <a:rPr lang="en-US" dirty="0"/>
              <a:t>(Reduce font for title longer than 2 lines)</a:t>
            </a:r>
          </a:p>
        </p:txBody>
      </p:sp>
      <p:sp>
        <p:nvSpPr>
          <p:cNvPr id="3" name="Content Placeholder 2">
            <a:extLst>
              <a:ext uri="{FF2B5EF4-FFF2-40B4-BE49-F238E27FC236}">
                <a16:creationId xmlns:a16="http://schemas.microsoft.com/office/drawing/2014/main" id="{E6FD6444-081A-D54B-830B-A94153C0EF14}"/>
              </a:ext>
            </a:extLst>
          </p:cNvPr>
          <p:cNvSpPr>
            <a:spLocks noGrp="1"/>
          </p:cNvSpPr>
          <p:nvPr>
            <p:ph idx="1" hasCustomPrompt="1"/>
          </p:nvPr>
        </p:nvSpPr>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A1E2218-371C-0D41-97AF-B220A81F8AD7}"/>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66B462E5-D969-3443-B549-CE7B6CCBE8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ABC785-2799-4146-A523-CFA98FEB93BC}"/>
              </a:ext>
            </a:extLst>
          </p:cNvPr>
          <p:cNvSpPr>
            <a:spLocks noGrp="1"/>
          </p:cNvSpPr>
          <p:nvPr>
            <p:ph type="sldNum" sz="quarter" idx="12"/>
          </p:nvPr>
        </p:nvSpPr>
        <p:spPr/>
        <p:txBody>
          <a:bodyPr/>
          <a:lstStyle/>
          <a:p>
            <a:fld id="{82B577FA-F7D9-2C48-919F-F962E3BF952F}" type="slidenum">
              <a:rPr lang="en-US" smtClean="0"/>
              <a:t>‹#›</a:t>
            </a:fld>
            <a:endParaRPr lang="en-US"/>
          </a:p>
        </p:txBody>
      </p:sp>
    </p:spTree>
    <p:extLst>
      <p:ext uri="{BB962C8B-B14F-4D97-AF65-F5344CB8AC3E}">
        <p14:creationId xmlns:p14="http://schemas.microsoft.com/office/powerpoint/2010/main" val="39313409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arge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EC5EE-7A70-7D44-877F-2A9D26623273}"/>
              </a:ext>
            </a:extLst>
          </p:cNvPr>
          <p:cNvSpPr>
            <a:spLocks noGrp="1"/>
          </p:cNvSpPr>
          <p:nvPr>
            <p:ph type="title" hasCustomPrompt="1"/>
          </p:nvPr>
        </p:nvSpPr>
        <p:spPr/>
        <p:txBody>
          <a:bodyPr/>
          <a:lstStyle/>
          <a:p>
            <a:r>
              <a:rPr lang="en-US" dirty="0"/>
              <a:t>Click to edit title</a:t>
            </a:r>
            <a:br>
              <a:rPr lang="en-US" dirty="0"/>
            </a:br>
            <a:r>
              <a:rPr lang="en-US" dirty="0"/>
              <a:t>(Reduce font for title longer than 2 lines)</a:t>
            </a:r>
          </a:p>
        </p:txBody>
      </p:sp>
      <p:sp>
        <p:nvSpPr>
          <p:cNvPr id="4" name="Date Placeholder 3">
            <a:extLst>
              <a:ext uri="{FF2B5EF4-FFF2-40B4-BE49-F238E27FC236}">
                <a16:creationId xmlns:a16="http://schemas.microsoft.com/office/drawing/2014/main" id="{6A1E2218-371C-0D41-97AF-B220A81F8AD7}"/>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66B462E5-D969-3443-B549-CE7B6CCBE8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ABC785-2799-4146-A523-CFA98FEB93BC}"/>
              </a:ext>
            </a:extLst>
          </p:cNvPr>
          <p:cNvSpPr>
            <a:spLocks noGrp="1"/>
          </p:cNvSpPr>
          <p:nvPr>
            <p:ph type="sldNum" sz="quarter" idx="12"/>
          </p:nvPr>
        </p:nvSpPr>
        <p:spPr/>
        <p:txBody>
          <a:bodyPr/>
          <a:lstStyle/>
          <a:p>
            <a:fld id="{82B577FA-F7D9-2C48-919F-F962E3BF952F}" type="slidenum">
              <a:rPr lang="en-US" smtClean="0"/>
              <a:t>‹#›</a:t>
            </a:fld>
            <a:endParaRPr lang="en-US"/>
          </a:p>
        </p:txBody>
      </p:sp>
      <p:sp>
        <p:nvSpPr>
          <p:cNvPr id="7" name="Picture Placeholder 6">
            <a:extLst>
              <a:ext uri="{FF2B5EF4-FFF2-40B4-BE49-F238E27FC236}">
                <a16:creationId xmlns:a16="http://schemas.microsoft.com/office/drawing/2014/main" id="{EE6D6083-77A6-334A-8C7F-A5F18D4F5F87}"/>
              </a:ext>
            </a:extLst>
          </p:cNvPr>
          <p:cNvSpPr>
            <a:spLocks noGrp="1"/>
          </p:cNvSpPr>
          <p:nvPr>
            <p:ph type="pic" sz="quarter" idx="13" hasCustomPrompt="1"/>
          </p:nvPr>
        </p:nvSpPr>
        <p:spPr>
          <a:xfrm>
            <a:off x="938213" y="1739901"/>
            <a:ext cx="10415587" cy="4327523"/>
          </a:xfrm>
          <a:prstGeom prst="rect">
            <a:avLst/>
          </a:prstGeom>
        </p:spPr>
        <p:txBody>
          <a:bodyPr/>
          <a:lstStyle>
            <a:lvl1pPr marL="0" marR="0" indent="0" algn="l" defTabSz="914400" rtl="0" eaLnBrk="1" fontAlgn="auto" latinLnBrk="0" hangingPunct="1">
              <a:lnSpc>
                <a:spcPct val="90000"/>
              </a:lnSpc>
              <a:spcBef>
                <a:spcPts val="1000"/>
              </a:spcBef>
              <a:spcAft>
                <a:spcPts val="0"/>
              </a:spcAft>
              <a:buClr>
                <a:schemeClr val="bg2"/>
              </a:buClr>
              <a:buSzTx/>
              <a:buFontTx/>
              <a:buNone/>
              <a:tabLst/>
              <a:defRPr sz="2000">
                <a:solidFill>
                  <a:schemeClr val="bg1">
                    <a:lumMod val="65000"/>
                  </a:schemeClr>
                </a:solidFill>
              </a:defRPr>
            </a:lvl1pPr>
          </a:lstStyle>
          <a:p>
            <a:r>
              <a:rPr lang="en-US" dirty="0"/>
              <a:t>Click photo icon below to insert picture</a:t>
            </a:r>
            <a:br>
              <a:rPr lang="en-US" dirty="0"/>
            </a:br>
            <a:r>
              <a:rPr lang="en-US" dirty="0"/>
              <a:t>(if replacing picture, you will have to reset your crop area)</a:t>
            </a:r>
          </a:p>
          <a:p>
            <a:endParaRPr lang="en-US" dirty="0"/>
          </a:p>
        </p:txBody>
      </p:sp>
    </p:spTree>
    <p:extLst>
      <p:ext uri="{BB962C8B-B14F-4D97-AF65-F5344CB8AC3E}">
        <p14:creationId xmlns:p14="http://schemas.microsoft.com/office/powerpoint/2010/main" val="2254134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Blank Full Foot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2365512-1A58-B241-838D-EFAB0E25F8AF}"/>
              </a:ext>
            </a:extLst>
          </p:cNvPr>
          <p:cNvSpPr/>
          <p:nvPr userDrawn="1"/>
        </p:nvSpPr>
        <p:spPr>
          <a:xfrm>
            <a:off x="0" y="6335712"/>
            <a:ext cx="12192000" cy="5222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EE89965-9C98-C446-B0C8-8151A52702B5}"/>
              </a:ext>
            </a:extLst>
          </p:cNvPr>
          <p:cNvSpPr/>
          <p:nvPr userDrawn="1"/>
        </p:nvSpPr>
        <p:spPr>
          <a:xfrm>
            <a:off x="0" y="6237795"/>
            <a:ext cx="12192000" cy="979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IDAHO NATIONAL LABORATORY">
            <a:extLst>
              <a:ext uri="{FF2B5EF4-FFF2-40B4-BE49-F238E27FC236}">
                <a16:creationId xmlns:a16="http://schemas.microsoft.com/office/drawing/2014/main" id="{C9B294FD-1F7F-4240-B2BD-1DD570DF2ECD}"/>
              </a:ext>
            </a:extLst>
          </p:cNvPr>
          <p:cNvPicPr>
            <a:picLocks noChangeAspect="1"/>
          </p:cNvPicPr>
          <p:nvPr userDrawn="1"/>
        </p:nvPicPr>
        <p:blipFill>
          <a:blip r:embed="rId2"/>
          <a:stretch>
            <a:fillRect/>
          </a:stretch>
        </p:blipFill>
        <p:spPr>
          <a:xfrm>
            <a:off x="8944584" y="6543675"/>
            <a:ext cx="2768600" cy="127000"/>
          </a:xfrm>
          <a:prstGeom prst="rect">
            <a:avLst/>
          </a:prstGeom>
        </p:spPr>
      </p:pic>
      <p:sp>
        <p:nvSpPr>
          <p:cNvPr id="2" name="Title 1">
            <a:extLst>
              <a:ext uri="{FF2B5EF4-FFF2-40B4-BE49-F238E27FC236}">
                <a16:creationId xmlns:a16="http://schemas.microsoft.com/office/drawing/2014/main" id="{503EC5EE-7A70-7D44-877F-2A9D26623273}"/>
              </a:ext>
            </a:extLst>
          </p:cNvPr>
          <p:cNvSpPr>
            <a:spLocks noGrp="1"/>
          </p:cNvSpPr>
          <p:nvPr>
            <p:ph type="title" hasCustomPrompt="1"/>
          </p:nvPr>
        </p:nvSpPr>
        <p:spPr/>
        <p:txBody>
          <a:bodyPr/>
          <a:lstStyle/>
          <a:p>
            <a:r>
              <a:rPr lang="en-US" dirty="0"/>
              <a:t>Click to edit title</a:t>
            </a:r>
            <a:br>
              <a:rPr lang="en-US" dirty="0"/>
            </a:br>
            <a:r>
              <a:rPr lang="en-US" dirty="0"/>
              <a:t>(Reduce font for title longer than 2 lines)</a:t>
            </a:r>
          </a:p>
        </p:txBody>
      </p:sp>
      <p:sp>
        <p:nvSpPr>
          <p:cNvPr id="4" name="Date Placeholder 3">
            <a:extLst>
              <a:ext uri="{FF2B5EF4-FFF2-40B4-BE49-F238E27FC236}">
                <a16:creationId xmlns:a16="http://schemas.microsoft.com/office/drawing/2014/main" id="{6A1E2218-371C-0D41-97AF-B220A81F8AD7}"/>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66B462E5-D969-3443-B549-CE7B6CCBE8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ABC785-2799-4146-A523-CFA98FEB93BC}"/>
              </a:ext>
            </a:extLst>
          </p:cNvPr>
          <p:cNvSpPr>
            <a:spLocks noGrp="1"/>
          </p:cNvSpPr>
          <p:nvPr>
            <p:ph type="sldNum" sz="quarter" idx="12"/>
          </p:nvPr>
        </p:nvSpPr>
        <p:spPr/>
        <p:txBody>
          <a:bodyPr/>
          <a:lstStyle/>
          <a:p>
            <a:fld id="{82B577FA-F7D9-2C48-919F-F962E3BF952F}" type="slidenum">
              <a:rPr lang="en-US" smtClean="0"/>
              <a:t>‹#›</a:t>
            </a:fld>
            <a:endParaRPr lang="en-US"/>
          </a:p>
        </p:txBody>
      </p:sp>
    </p:spTree>
    <p:extLst>
      <p:ext uri="{BB962C8B-B14F-4D97-AF65-F5344CB8AC3E}">
        <p14:creationId xmlns:p14="http://schemas.microsoft.com/office/powerpoint/2010/main" val="3978659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hoto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EC5EE-7A70-7D44-877F-2A9D26623273}"/>
              </a:ext>
            </a:extLst>
          </p:cNvPr>
          <p:cNvSpPr>
            <a:spLocks noGrp="1"/>
          </p:cNvSpPr>
          <p:nvPr>
            <p:ph type="title" hasCustomPrompt="1"/>
          </p:nvPr>
        </p:nvSpPr>
        <p:spPr/>
        <p:txBody>
          <a:bodyPr/>
          <a:lstStyle/>
          <a:p>
            <a:r>
              <a:rPr lang="en-US" dirty="0"/>
              <a:t>Click to edit title</a:t>
            </a:r>
            <a:br>
              <a:rPr lang="en-US" dirty="0"/>
            </a:br>
            <a:r>
              <a:rPr lang="en-US" dirty="0"/>
              <a:t>(Reduce font for title longer than 2 lines)</a:t>
            </a:r>
          </a:p>
        </p:txBody>
      </p:sp>
      <p:sp>
        <p:nvSpPr>
          <p:cNvPr id="3" name="Content Placeholder 2">
            <a:extLst>
              <a:ext uri="{FF2B5EF4-FFF2-40B4-BE49-F238E27FC236}">
                <a16:creationId xmlns:a16="http://schemas.microsoft.com/office/drawing/2014/main" id="{E6FD6444-081A-D54B-830B-A94153C0EF14}"/>
              </a:ext>
            </a:extLst>
          </p:cNvPr>
          <p:cNvSpPr>
            <a:spLocks noGrp="1"/>
          </p:cNvSpPr>
          <p:nvPr>
            <p:ph idx="1" hasCustomPrompt="1"/>
          </p:nvPr>
        </p:nvSpPr>
        <p:spPr>
          <a:xfrm>
            <a:off x="6340345" y="1739901"/>
            <a:ext cx="5013454" cy="4207040"/>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A1E2218-371C-0D41-97AF-B220A81F8AD7}"/>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66B462E5-D969-3443-B549-CE7B6CCBE8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ABC785-2799-4146-A523-CFA98FEB93BC}"/>
              </a:ext>
            </a:extLst>
          </p:cNvPr>
          <p:cNvSpPr>
            <a:spLocks noGrp="1"/>
          </p:cNvSpPr>
          <p:nvPr>
            <p:ph type="sldNum" sz="quarter" idx="12"/>
          </p:nvPr>
        </p:nvSpPr>
        <p:spPr/>
        <p:txBody>
          <a:bodyPr/>
          <a:lstStyle/>
          <a:p>
            <a:fld id="{82B577FA-F7D9-2C48-919F-F962E3BF952F}" type="slidenum">
              <a:rPr lang="en-US" smtClean="0"/>
              <a:t>‹#›</a:t>
            </a:fld>
            <a:endParaRPr lang="en-US"/>
          </a:p>
        </p:txBody>
      </p:sp>
      <p:sp>
        <p:nvSpPr>
          <p:cNvPr id="7" name="Picture Placeholder 5">
            <a:extLst>
              <a:ext uri="{FF2B5EF4-FFF2-40B4-BE49-F238E27FC236}">
                <a16:creationId xmlns:a16="http://schemas.microsoft.com/office/drawing/2014/main" id="{705329EE-4FB4-5A4D-AB92-8FB39F637855}"/>
              </a:ext>
            </a:extLst>
          </p:cNvPr>
          <p:cNvSpPr>
            <a:spLocks noGrp="1"/>
          </p:cNvSpPr>
          <p:nvPr>
            <p:ph type="pic" sz="quarter" idx="13" hasCustomPrompt="1"/>
          </p:nvPr>
        </p:nvSpPr>
        <p:spPr>
          <a:xfrm>
            <a:off x="938150" y="1739901"/>
            <a:ext cx="5081650" cy="4207040"/>
          </a:xfrm>
          <a:prstGeom prst="rect">
            <a:avLst/>
          </a:prstGeom>
        </p:spPr>
        <p:txBody>
          <a:bodyPr>
            <a:normAutofit/>
          </a:bodyPr>
          <a:lstStyle>
            <a:lvl1pPr marL="0" indent="0">
              <a:buFontTx/>
              <a:buNone/>
              <a:defRPr sz="2000">
                <a:solidFill>
                  <a:schemeClr val="bg1">
                    <a:lumMod val="65000"/>
                  </a:schemeClr>
                </a:solidFill>
              </a:defRPr>
            </a:lvl1pPr>
          </a:lstStyle>
          <a:p>
            <a:r>
              <a:rPr lang="en-US" dirty="0"/>
              <a:t>Click photo icon below to insert picture</a:t>
            </a:r>
            <a:br>
              <a:rPr lang="en-US" dirty="0"/>
            </a:br>
            <a:r>
              <a:rPr lang="en-US" dirty="0"/>
              <a:t>(if replacing picture, you will have to reset your crop area)</a:t>
            </a:r>
          </a:p>
        </p:txBody>
      </p:sp>
    </p:spTree>
    <p:extLst>
      <p:ext uri="{BB962C8B-B14F-4D97-AF65-F5344CB8AC3E}">
        <p14:creationId xmlns:p14="http://schemas.microsoft.com/office/powerpoint/2010/main" val="18102700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hoto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EC5EE-7A70-7D44-877F-2A9D26623273}"/>
              </a:ext>
            </a:extLst>
          </p:cNvPr>
          <p:cNvSpPr>
            <a:spLocks noGrp="1"/>
          </p:cNvSpPr>
          <p:nvPr>
            <p:ph type="title" hasCustomPrompt="1"/>
          </p:nvPr>
        </p:nvSpPr>
        <p:spPr/>
        <p:txBody>
          <a:bodyPr/>
          <a:lstStyle/>
          <a:p>
            <a:r>
              <a:rPr lang="en-US" dirty="0"/>
              <a:t>Click to edit title</a:t>
            </a:r>
            <a:br>
              <a:rPr lang="en-US" dirty="0"/>
            </a:br>
            <a:r>
              <a:rPr lang="en-US" dirty="0"/>
              <a:t>(Reduce font for title longer than 2 lines)</a:t>
            </a:r>
          </a:p>
        </p:txBody>
      </p:sp>
      <p:sp>
        <p:nvSpPr>
          <p:cNvPr id="3" name="Content Placeholder 2">
            <a:extLst>
              <a:ext uri="{FF2B5EF4-FFF2-40B4-BE49-F238E27FC236}">
                <a16:creationId xmlns:a16="http://schemas.microsoft.com/office/drawing/2014/main" id="{E6FD6444-081A-D54B-830B-A94153C0EF14}"/>
              </a:ext>
            </a:extLst>
          </p:cNvPr>
          <p:cNvSpPr>
            <a:spLocks noGrp="1"/>
          </p:cNvSpPr>
          <p:nvPr>
            <p:ph idx="1" hasCustomPrompt="1"/>
          </p:nvPr>
        </p:nvSpPr>
        <p:spPr>
          <a:xfrm>
            <a:off x="938150" y="1739901"/>
            <a:ext cx="5013454" cy="4207040"/>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A1E2218-371C-0D41-97AF-B220A81F8AD7}"/>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66B462E5-D969-3443-B549-CE7B6CCBE8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ABC785-2799-4146-A523-CFA98FEB93BC}"/>
              </a:ext>
            </a:extLst>
          </p:cNvPr>
          <p:cNvSpPr>
            <a:spLocks noGrp="1"/>
          </p:cNvSpPr>
          <p:nvPr>
            <p:ph type="sldNum" sz="quarter" idx="12"/>
          </p:nvPr>
        </p:nvSpPr>
        <p:spPr/>
        <p:txBody>
          <a:bodyPr/>
          <a:lstStyle/>
          <a:p>
            <a:fld id="{82B577FA-F7D9-2C48-919F-F962E3BF952F}" type="slidenum">
              <a:rPr lang="en-US" smtClean="0"/>
              <a:t>‹#›</a:t>
            </a:fld>
            <a:endParaRPr lang="en-US"/>
          </a:p>
        </p:txBody>
      </p:sp>
      <p:sp>
        <p:nvSpPr>
          <p:cNvPr id="7" name="Picture Placeholder 5">
            <a:extLst>
              <a:ext uri="{FF2B5EF4-FFF2-40B4-BE49-F238E27FC236}">
                <a16:creationId xmlns:a16="http://schemas.microsoft.com/office/drawing/2014/main" id="{705329EE-4FB4-5A4D-AB92-8FB39F637855}"/>
              </a:ext>
            </a:extLst>
          </p:cNvPr>
          <p:cNvSpPr>
            <a:spLocks noGrp="1"/>
          </p:cNvSpPr>
          <p:nvPr>
            <p:ph type="pic" sz="quarter" idx="13" hasCustomPrompt="1"/>
          </p:nvPr>
        </p:nvSpPr>
        <p:spPr>
          <a:xfrm>
            <a:off x="6272149" y="1739901"/>
            <a:ext cx="5081650" cy="4207040"/>
          </a:xfrm>
          <a:prstGeom prst="rect">
            <a:avLst/>
          </a:prstGeom>
        </p:spPr>
        <p:txBody>
          <a:bodyPr>
            <a:normAutofit/>
          </a:bodyPr>
          <a:lstStyle>
            <a:lvl1pPr marL="0" indent="0">
              <a:buFontTx/>
              <a:buNone/>
              <a:defRPr sz="2000">
                <a:solidFill>
                  <a:schemeClr val="bg1">
                    <a:lumMod val="65000"/>
                  </a:schemeClr>
                </a:solidFill>
              </a:defRPr>
            </a:lvl1pPr>
          </a:lstStyle>
          <a:p>
            <a:r>
              <a:rPr lang="en-US" dirty="0"/>
              <a:t>Click photo icon below to insert picture</a:t>
            </a:r>
            <a:br>
              <a:rPr lang="en-US" dirty="0"/>
            </a:br>
            <a:r>
              <a:rPr lang="en-US" dirty="0"/>
              <a:t>(if replacing picture, you will have to reset your crop area)</a:t>
            </a:r>
          </a:p>
        </p:txBody>
      </p:sp>
    </p:spTree>
    <p:extLst>
      <p:ext uri="{BB962C8B-B14F-4D97-AF65-F5344CB8AC3E}">
        <p14:creationId xmlns:p14="http://schemas.microsoft.com/office/powerpoint/2010/main" val="39232014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Grey Box Photo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EC5EE-7A70-7D44-877F-2A9D26623273}"/>
              </a:ext>
            </a:extLst>
          </p:cNvPr>
          <p:cNvSpPr>
            <a:spLocks noGrp="1"/>
          </p:cNvSpPr>
          <p:nvPr>
            <p:ph type="title" hasCustomPrompt="1"/>
          </p:nvPr>
        </p:nvSpPr>
        <p:spPr>
          <a:xfrm>
            <a:off x="938151" y="558602"/>
            <a:ext cx="6704151" cy="1005229"/>
          </a:xfrm>
        </p:spPr>
        <p:txBody>
          <a:bodyPr/>
          <a:lstStyle/>
          <a:p>
            <a:r>
              <a:rPr lang="en-US" dirty="0"/>
              <a:t>Click to edit title</a:t>
            </a:r>
            <a:br>
              <a:rPr lang="en-US" dirty="0"/>
            </a:br>
            <a:r>
              <a:rPr lang="en-US" dirty="0"/>
              <a:t>(2 lines max)</a:t>
            </a:r>
          </a:p>
        </p:txBody>
      </p:sp>
      <p:sp>
        <p:nvSpPr>
          <p:cNvPr id="3" name="Content Placeholder 2">
            <a:extLst>
              <a:ext uri="{FF2B5EF4-FFF2-40B4-BE49-F238E27FC236}">
                <a16:creationId xmlns:a16="http://schemas.microsoft.com/office/drawing/2014/main" id="{E6FD6444-081A-D54B-830B-A94153C0EF14}"/>
              </a:ext>
            </a:extLst>
          </p:cNvPr>
          <p:cNvSpPr>
            <a:spLocks noGrp="1"/>
          </p:cNvSpPr>
          <p:nvPr>
            <p:ph idx="1" hasCustomPrompt="1"/>
          </p:nvPr>
        </p:nvSpPr>
        <p:spPr>
          <a:xfrm>
            <a:off x="938149" y="1739901"/>
            <a:ext cx="6704153" cy="4207040"/>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A1E2218-371C-0D41-97AF-B220A81F8AD7}"/>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66B462E5-D969-3443-B549-CE7B6CCBE8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ABC785-2799-4146-A523-CFA98FEB93BC}"/>
              </a:ext>
            </a:extLst>
          </p:cNvPr>
          <p:cNvSpPr>
            <a:spLocks noGrp="1"/>
          </p:cNvSpPr>
          <p:nvPr>
            <p:ph type="sldNum" sz="quarter" idx="12"/>
          </p:nvPr>
        </p:nvSpPr>
        <p:spPr/>
        <p:txBody>
          <a:bodyPr/>
          <a:lstStyle/>
          <a:p>
            <a:fld id="{82B577FA-F7D9-2C48-919F-F962E3BF952F}" type="slidenum">
              <a:rPr lang="en-US" smtClean="0"/>
              <a:t>‹#›</a:t>
            </a:fld>
            <a:endParaRPr lang="en-US"/>
          </a:p>
        </p:txBody>
      </p:sp>
      <p:sp>
        <p:nvSpPr>
          <p:cNvPr id="8" name="Rectangle 7">
            <a:extLst>
              <a:ext uri="{FF2B5EF4-FFF2-40B4-BE49-F238E27FC236}">
                <a16:creationId xmlns:a16="http://schemas.microsoft.com/office/drawing/2014/main" id="{9B2EB56D-A175-2340-8316-CB2D73FC70C2}"/>
              </a:ext>
            </a:extLst>
          </p:cNvPr>
          <p:cNvSpPr/>
          <p:nvPr userDrawn="1"/>
        </p:nvSpPr>
        <p:spPr>
          <a:xfrm>
            <a:off x="8465770" y="-1"/>
            <a:ext cx="3726230" cy="6237795"/>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5">
            <a:extLst>
              <a:ext uri="{FF2B5EF4-FFF2-40B4-BE49-F238E27FC236}">
                <a16:creationId xmlns:a16="http://schemas.microsoft.com/office/drawing/2014/main" id="{AEB60818-A426-D644-9EEA-D2FB1CBDFB58}"/>
              </a:ext>
            </a:extLst>
          </p:cNvPr>
          <p:cNvSpPr>
            <a:spLocks noGrp="1"/>
          </p:cNvSpPr>
          <p:nvPr>
            <p:ph type="pic" sz="quarter" idx="13" hasCustomPrompt="1"/>
          </p:nvPr>
        </p:nvSpPr>
        <p:spPr>
          <a:xfrm>
            <a:off x="8871283" y="522288"/>
            <a:ext cx="2919664" cy="4351338"/>
          </a:xfrm>
          <a:prstGeom prst="rect">
            <a:avLst/>
          </a:prstGeom>
        </p:spPr>
        <p:txBody>
          <a:bodyPr>
            <a:normAutofit/>
          </a:bodyPr>
          <a:lstStyle>
            <a:lvl1pPr marL="0" indent="0">
              <a:buFontTx/>
              <a:buNone/>
              <a:defRPr sz="2000">
                <a:solidFill>
                  <a:schemeClr val="bg1">
                    <a:lumMod val="65000"/>
                  </a:schemeClr>
                </a:solidFill>
              </a:defRPr>
            </a:lvl1pPr>
          </a:lstStyle>
          <a:p>
            <a:r>
              <a:rPr lang="en-US" dirty="0"/>
              <a:t>Click photo icon below to insert picture</a:t>
            </a:r>
            <a:br>
              <a:rPr lang="en-US" dirty="0"/>
            </a:br>
            <a:r>
              <a:rPr lang="en-US" dirty="0"/>
              <a:t>(if replacing picture, you will have to reset your crop area)</a:t>
            </a:r>
          </a:p>
        </p:txBody>
      </p:sp>
    </p:spTree>
    <p:extLst>
      <p:ext uri="{BB962C8B-B14F-4D97-AF65-F5344CB8AC3E}">
        <p14:creationId xmlns:p14="http://schemas.microsoft.com/office/powerpoint/2010/main" val="1991234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ue Box Photo Righ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FD6444-081A-D54B-830B-A94153C0EF14}"/>
              </a:ext>
            </a:extLst>
          </p:cNvPr>
          <p:cNvSpPr>
            <a:spLocks noGrp="1"/>
          </p:cNvSpPr>
          <p:nvPr>
            <p:ph idx="1" hasCustomPrompt="1"/>
          </p:nvPr>
        </p:nvSpPr>
        <p:spPr>
          <a:xfrm>
            <a:off x="938149" y="1739901"/>
            <a:ext cx="6704153" cy="4207040"/>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A1E2218-371C-0D41-97AF-B220A81F8AD7}"/>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66B462E5-D969-3443-B549-CE7B6CCBE8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ABC785-2799-4146-A523-CFA98FEB93BC}"/>
              </a:ext>
            </a:extLst>
          </p:cNvPr>
          <p:cNvSpPr>
            <a:spLocks noGrp="1"/>
          </p:cNvSpPr>
          <p:nvPr>
            <p:ph type="sldNum" sz="quarter" idx="12"/>
          </p:nvPr>
        </p:nvSpPr>
        <p:spPr/>
        <p:txBody>
          <a:bodyPr/>
          <a:lstStyle/>
          <a:p>
            <a:fld id="{82B577FA-F7D9-2C48-919F-F962E3BF952F}" type="slidenum">
              <a:rPr lang="en-US" smtClean="0"/>
              <a:t>‹#›</a:t>
            </a:fld>
            <a:endParaRPr lang="en-US"/>
          </a:p>
        </p:txBody>
      </p:sp>
      <p:sp>
        <p:nvSpPr>
          <p:cNvPr id="8" name="Rectangle 7">
            <a:extLst>
              <a:ext uri="{FF2B5EF4-FFF2-40B4-BE49-F238E27FC236}">
                <a16:creationId xmlns:a16="http://schemas.microsoft.com/office/drawing/2014/main" id="{9B2EB56D-A175-2340-8316-CB2D73FC70C2}"/>
              </a:ext>
            </a:extLst>
          </p:cNvPr>
          <p:cNvSpPr/>
          <p:nvPr userDrawn="1"/>
        </p:nvSpPr>
        <p:spPr>
          <a:xfrm>
            <a:off x="8465770" y="-1"/>
            <a:ext cx="3726230" cy="623779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5">
            <a:extLst>
              <a:ext uri="{FF2B5EF4-FFF2-40B4-BE49-F238E27FC236}">
                <a16:creationId xmlns:a16="http://schemas.microsoft.com/office/drawing/2014/main" id="{AEB60818-A426-D644-9EEA-D2FB1CBDFB58}"/>
              </a:ext>
            </a:extLst>
          </p:cNvPr>
          <p:cNvSpPr>
            <a:spLocks noGrp="1"/>
          </p:cNvSpPr>
          <p:nvPr>
            <p:ph type="pic" sz="quarter" idx="13" hasCustomPrompt="1"/>
          </p:nvPr>
        </p:nvSpPr>
        <p:spPr>
          <a:xfrm>
            <a:off x="8871283" y="522288"/>
            <a:ext cx="2919664" cy="4351338"/>
          </a:xfrm>
          <a:prstGeom prst="rect">
            <a:avLst/>
          </a:prstGeom>
        </p:spPr>
        <p:txBody>
          <a:bodyPr>
            <a:normAutofit/>
          </a:bodyPr>
          <a:lstStyle>
            <a:lvl1pPr marL="0" indent="0">
              <a:buFontTx/>
              <a:buNone/>
              <a:defRPr sz="2000">
                <a:solidFill>
                  <a:schemeClr val="bg1">
                    <a:lumMod val="65000"/>
                  </a:schemeClr>
                </a:solidFill>
              </a:defRPr>
            </a:lvl1pPr>
          </a:lstStyle>
          <a:p>
            <a:r>
              <a:rPr lang="en-US" dirty="0"/>
              <a:t>Click photo icon below to insert picture</a:t>
            </a:r>
            <a:br>
              <a:rPr lang="en-US" dirty="0"/>
            </a:br>
            <a:r>
              <a:rPr lang="en-US" dirty="0"/>
              <a:t>(if replacing picture, you will have to reset your crop area)</a:t>
            </a:r>
          </a:p>
        </p:txBody>
      </p:sp>
      <p:sp>
        <p:nvSpPr>
          <p:cNvPr id="10" name="Title 1">
            <a:extLst>
              <a:ext uri="{FF2B5EF4-FFF2-40B4-BE49-F238E27FC236}">
                <a16:creationId xmlns:a16="http://schemas.microsoft.com/office/drawing/2014/main" id="{2EFBD4CC-FEFF-654C-B1A3-229DA69D10FE}"/>
              </a:ext>
            </a:extLst>
          </p:cNvPr>
          <p:cNvSpPr>
            <a:spLocks noGrp="1"/>
          </p:cNvSpPr>
          <p:nvPr>
            <p:ph type="title" hasCustomPrompt="1"/>
          </p:nvPr>
        </p:nvSpPr>
        <p:spPr>
          <a:xfrm>
            <a:off x="938151" y="558602"/>
            <a:ext cx="6704151" cy="1005229"/>
          </a:xfrm>
        </p:spPr>
        <p:txBody>
          <a:bodyPr/>
          <a:lstStyle/>
          <a:p>
            <a:r>
              <a:rPr lang="en-US" dirty="0"/>
              <a:t>Click to edit title</a:t>
            </a:r>
            <a:br>
              <a:rPr lang="en-US" dirty="0"/>
            </a:br>
            <a:r>
              <a:rPr lang="en-US" dirty="0"/>
              <a:t>(2 lines max)</a:t>
            </a:r>
          </a:p>
        </p:txBody>
      </p:sp>
    </p:spTree>
    <p:extLst>
      <p:ext uri="{BB962C8B-B14F-4D97-AF65-F5344CB8AC3E}">
        <p14:creationId xmlns:p14="http://schemas.microsoft.com/office/powerpoint/2010/main" val="39247369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ight Blue Box Photo Righ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FD6444-081A-D54B-830B-A94153C0EF14}"/>
              </a:ext>
            </a:extLst>
          </p:cNvPr>
          <p:cNvSpPr>
            <a:spLocks noGrp="1"/>
          </p:cNvSpPr>
          <p:nvPr>
            <p:ph idx="1" hasCustomPrompt="1"/>
          </p:nvPr>
        </p:nvSpPr>
        <p:spPr>
          <a:xfrm>
            <a:off x="938149" y="1739901"/>
            <a:ext cx="6704153" cy="4207040"/>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A1E2218-371C-0D41-97AF-B220A81F8AD7}"/>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66B462E5-D969-3443-B549-CE7B6CCBE8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ABC785-2799-4146-A523-CFA98FEB93BC}"/>
              </a:ext>
            </a:extLst>
          </p:cNvPr>
          <p:cNvSpPr>
            <a:spLocks noGrp="1"/>
          </p:cNvSpPr>
          <p:nvPr>
            <p:ph type="sldNum" sz="quarter" idx="12"/>
          </p:nvPr>
        </p:nvSpPr>
        <p:spPr/>
        <p:txBody>
          <a:bodyPr/>
          <a:lstStyle/>
          <a:p>
            <a:fld id="{82B577FA-F7D9-2C48-919F-F962E3BF952F}" type="slidenum">
              <a:rPr lang="en-US" smtClean="0"/>
              <a:t>‹#›</a:t>
            </a:fld>
            <a:endParaRPr lang="en-US"/>
          </a:p>
        </p:txBody>
      </p:sp>
      <p:sp>
        <p:nvSpPr>
          <p:cNvPr id="8" name="Rectangle 7">
            <a:extLst>
              <a:ext uri="{FF2B5EF4-FFF2-40B4-BE49-F238E27FC236}">
                <a16:creationId xmlns:a16="http://schemas.microsoft.com/office/drawing/2014/main" id="{9B2EB56D-A175-2340-8316-CB2D73FC70C2}"/>
              </a:ext>
            </a:extLst>
          </p:cNvPr>
          <p:cNvSpPr/>
          <p:nvPr userDrawn="1"/>
        </p:nvSpPr>
        <p:spPr>
          <a:xfrm>
            <a:off x="8465770" y="-1"/>
            <a:ext cx="3726230" cy="623779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5">
            <a:extLst>
              <a:ext uri="{FF2B5EF4-FFF2-40B4-BE49-F238E27FC236}">
                <a16:creationId xmlns:a16="http://schemas.microsoft.com/office/drawing/2014/main" id="{AEB60818-A426-D644-9EEA-D2FB1CBDFB58}"/>
              </a:ext>
            </a:extLst>
          </p:cNvPr>
          <p:cNvSpPr>
            <a:spLocks noGrp="1"/>
          </p:cNvSpPr>
          <p:nvPr>
            <p:ph type="pic" sz="quarter" idx="13" hasCustomPrompt="1"/>
          </p:nvPr>
        </p:nvSpPr>
        <p:spPr>
          <a:xfrm>
            <a:off x="8871283" y="522288"/>
            <a:ext cx="2919664" cy="4351338"/>
          </a:xfrm>
          <a:prstGeom prst="rect">
            <a:avLst/>
          </a:prstGeom>
        </p:spPr>
        <p:txBody>
          <a:bodyPr>
            <a:normAutofit/>
          </a:bodyPr>
          <a:lstStyle>
            <a:lvl1pPr marL="0" indent="0">
              <a:buFontTx/>
              <a:buNone/>
              <a:defRPr sz="2000">
                <a:solidFill>
                  <a:schemeClr val="tx1">
                    <a:lumMod val="65000"/>
                    <a:lumOff val="35000"/>
                  </a:schemeClr>
                </a:solidFill>
              </a:defRPr>
            </a:lvl1pPr>
          </a:lstStyle>
          <a:p>
            <a:r>
              <a:rPr lang="en-US" dirty="0"/>
              <a:t>Click photo icon below to insert picture</a:t>
            </a:r>
            <a:br>
              <a:rPr lang="en-US" dirty="0"/>
            </a:br>
            <a:r>
              <a:rPr lang="en-US" dirty="0"/>
              <a:t>(if replacing picture, you will have to reset your crop area)</a:t>
            </a:r>
          </a:p>
        </p:txBody>
      </p:sp>
      <p:sp>
        <p:nvSpPr>
          <p:cNvPr id="10" name="Title 1">
            <a:extLst>
              <a:ext uri="{FF2B5EF4-FFF2-40B4-BE49-F238E27FC236}">
                <a16:creationId xmlns:a16="http://schemas.microsoft.com/office/drawing/2014/main" id="{080018A3-14FE-A04B-A3B4-D9AA55483B48}"/>
              </a:ext>
            </a:extLst>
          </p:cNvPr>
          <p:cNvSpPr>
            <a:spLocks noGrp="1"/>
          </p:cNvSpPr>
          <p:nvPr>
            <p:ph type="title" hasCustomPrompt="1"/>
          </p:nvPr>
        </p:nvSpPr>
        <p:spPr>
          <a:xfrm>
            <a:off x="938151" y="558602"/>
            <a:ext cx="6704151" cy="1005229"/>
          </a:xfrm>
        </p:spPr>
        <p:txBody>
          <a:bodyPr/>
          <a:lstStyle/>
          <a:p>
            <a:r>
              <a:rPr lang="en-US" dirty="0"/>
              <a:t>Click to edit title</a:t>
            </a:r>
            <a:br>
              <a:rPr lang="en-US" dirty="0"/>
            </a:br>
            <a:r>
              <a:rPr lang="en-US" dirty="0"/>
              <a:t>(2 lines max)</a:t>
            </a:r>
          </a:p>
        </p:txBody>
      </p:sp>
    </p:spTree>
    <p:extLst>
      <p:ext uri="{BB962C8B-B14F-4D97-AF65-F5344CB8AC3E}">
        <p14:creationId xmlns:p14="http://schemas.microsoft.com/office/powerpoint/2010/main" val="54659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Big Blue Box Bullets Righ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2CB96BB-242F-BC47-80BF-E45DB97245BA}"/>
              </a:ext>
            </a:extLst>
          </p:cNvPr>
          <p:cNvSpPr/>
          <p:nvPr userDrawn="1"/>
        </p:nvSpPr>
        <p:spPr>
          <a:xfrm>
            <a:off x="6843714" y="0"/>
            <a:ext cx="5346699" cy="623779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72FA9CB-507A-AA48-963A-8D5E37B7CF5B}"/>
              </a:ext>
            </a:extLst>
          </p:cNvPr>
          <p:cNvSpPr/>
          <p:nvPr userDrawn="1"/>
        </p:nvSpPr>
        <p:spPr>
          <a:xfrm>
            <a:off x="0" y="6335712"/>
            <a:ext cx="12192000" cy="5222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E79016F-99B0-6B40-B3F7-87F0068FC0E5}"/>
              </a:ext>
            </a:extLst>
          </p:cNvPr>
          <p:cNvSpPr/>
          <p:nvPr userDrawn="1"/>
        </p:nvSpPr>
        <p:spPr>
          <a:xfrm>
            <a:off x="0" y="6237795"/>
            <a:ext cx="12192000" cy="979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IDAHO NATIONAL LABORATORY">
            <a:extLst>
              <a:ext uri="{FF2B5EF4-FFF2-40B4-BE49-F238E27FC236}">
                <a16:creationId xmlns:a16="http://schemas.microsoft.com/office/drawing/2014/main" id="{BD942965-6C07-5D4A-809D-5FC754D5902D}"/>
              </a:ext>
            </a:extLst>
          </p:cNvPr>
          <p:cNvPicPr>
            <a:picLocks noChangeAspect="1"/>
          </p:cNvPicPr>
          <p:nvPr userDrawn="1"/>
        </p:nvPicPr>
        <p:blipFill>
          <a:blip r:embed="rId2"/>
          <a:stretch>
            <a:fillRect/>
          </a:stretch>
        </p:blipFill>
        <p:spPr>
          <a:xfrm>
            <a:off x="8944584" y="6543675"/>
            <a:ext cx="2768600" cy="127000"/>
          </a:xfrm>
          <a:prstGeom prst="rect">
            <a:avLst/>
          </a:prstGeom>
        </p:spPr>
      </p:pic>
      <p:sp>
        <p:nvSpPr>
          <p:cNvPr id="14" name="Title Placeholder BIG box blue right">
            <a:extLst>
              <a:ext uri="{FF2B5EF4-FFF2-40B4-BE49-F238E27FC236}">
                <a16:creationId xmlns:a16="http://schemas.microsoft.com/office/drawing/2014/main" id="{AB7EA1D9-8A57-3143-9688-4BB8599F986F}"/>
              </a:ext>
            </a:extLst>
          </p:cNvPr>
          <p:cNvSpPr>
            <a:spLocks noGrp="1"/>
          </p:cNvSpPr>
          <p:nvPr>
            <p:ph type="body" sz="quarter" idx="14" hasCustomPrompt="1"/>
          </p:nvPr>
        </p:nvSpPr>
        <p:spPr>
          <a:xfrm>
            <a:off x="6850063" y="0"/>
            <a:ext cx="5340350" cy="907549"/>
          </a:xfrm>
          <a:prstGeom prst="rect">
            <a:avLst/>
          </a:prstGeom>
          <a:noFill/>
        </p:spPr>
        <p:txBody>
          <a:bodyPr lIns="274320" tIns="365760" rIns="274320">
            <a:normAutofit/>
          </a:bodyPr>
          <a:lstStyle>
            <a:lvl1pPr marL="0" indent="0">
              <a:buFontTx/>
              <a:buNone/>
              <a:defRPr sz="3200" b="1" i="0">
                <a:solidFill>
                  <a:schemeClr val="bg1"/>
                </a:solidFill>
                <a:latin typeface="Arial" panose="020B0604020202020204" pitchFamily="34" charset="0"/>
                <a:cs typeface="Arial" panose="020B0604020202020204" pitchFamily="34" charset="0"/>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n-US" dirty="0"/>
              <a:t>Click to edit box title</a:t>
            </a:r>
          </a:p>
        </p:txBody>
      </p:sp>
      <p:sp>
        <p:nvSpPr>
          <p:cNvPr id="15" name="Text Placeholder 2">
            <a:extLst>
              <a:ext uri="{FF2B5EF4-FFF2-40B4-BE49-F238E27FC236}">
                <a16:creationId xmlns:a16="http://schemas.microsoft.com/office/drawing/2014/main" id="{538B584E-1ECA-5646-9DA7-61B8110256F2}"/>
              </a:ext>
            </a:extLst>
          </p:cNvPr>
          <p:cNvSpPr>
            <a:spLocks noGrp="1"/>
          </p:cNvSpPr>
          <p:nvPr>
            <p:ph type="body" sz="quarter" idx="15" hasCustomPrompt="1"/>
          </p:nvPr>
        </p:nvSpPr>
        <p:spPr>
          <a:xfrm>
            <a:off x="7116947" y="1064712"/>
            <a:ext cx="4598987" cy="4515349"/>
          </a:xfrm>
          <a:prstGeom prst="rect">
            <a:avLst/>
          </a:prstGeom>
        </p:spPr>
        <p:txBody>
          <a:bodyPr lIns="0">
            <a:normAutofit/>
          </a:bodyPr>
          <a:lstStyle>
            <a:lvl1pPr marL="347663" indent="-342900">
              <a:buClr>
                <a:schemeClr val="bg1"/>
              </a:buClr>
              <a:tabLst/>
              <a:defRPr sz="2400">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Click to edit bullet list</a:t>
            </a:r>
          </a:p>
        </p:txBody>
      </p:sp>
      <p:sp>
        <p:nvSpPr>
          <p:cNvPr id="4" name="Date Placeholder 3">
            <a:extLst>
              <a:ext uri="{FF2B5EF4-FFF2-40B4-BE49-F238E27FC236}">
                <a16:creationId xmlns:a16="http://schemas.microsoft.com/office/drawing/2014/main" id="{6A1E2218-371C-0D41-97AF-B220A81F8AD7}"/>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66B462E5-D969-3443-B549-CE7B6CCBE8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ABC785-2799-4146-A523-CFA98FEB93BC}"/>
              </a:ext>
            </a:extLst>
          </p:cNvPr>
          <p:cNvSpPr>
            <a:spLocks noGrp="1"/>
          </p:cNvSpPr>
          <p:nvPr>
            <p:ph type="sldNum" sz="quarter" idx="12"/>
          </p:nvPr>
        </p:nvSpPr>
        <p:spPr/>
        <p:txBody>
          <a:bodyPr/>
          <a:lstStyle/>
          <a:p>
            <a:fld id="{82B577FA-F7D9-2C48-919F-F962E3BF952F}" type="slidenum">
              <a:rPr lang="en-US" smtClean="0"/>
              <a:t>‹#›</a:t>
            </a:fld>
            <a:endParaRPr lang="en-US"/>
          </a:p>
        </p:txBody>
      </p:sp>
      <p:sp>
        <p:nvSpPr>
          <p:cNvPr id="16" name="Picture Placeholder">
            <a:extLst>
              <a:ext uri="{FF2B5EF4-FFF2-40B4-BE49-F238E27FC236}">
                <a16:creationId xmlns:a16="http://schemas.microsoft.com/office/drawing/2014/main" id="{6EF42CC7-103E-EA4C-89A2-543032DA331C}"/>
              </a:ext>
            </a:extLst>
          </p:cNvPr>
          <p:cNvSpPr>
            <a:spLocks noGrp="1"/>
          </p:cNvSpPr>
          <p:nvPr>
            <p:ph type="pic" sz="quarter" idx="13" hasCustomPrompt="1"/>
          </p:nvPr>
        </p:nvSpPr>
        <p:spPr>
          <a:xfrm>
            <a:off x="0" y="0"/>
            <a:ext cx="6843714" cy="6228267"/>
          </a:xfrm>
          <a:prstGeom prst="rect">
            <a:avLst/>
          </a:prstGeom>
        </p:spPr>
        <p:txBody>
          <a:bodyPr>
            <a:normAutofit/>
          </a:bodyPr>
          <a:lstStyle>
            <a:lvl1pPr marL="0" indent="0">
              <a:buFontTx/>
              <a:buNone/>
              <a:defRPr sz="2000">
                <a:solidFill>
                  <a:schemeClr val="bg1">
                    <a:lumMod val="65000"/>
                  </a:schemeClr>
                </a:solidFill>
              </a:defRPr>
            </a:lvl1pPr>
          </a:lstStyle>
          <a:p>
            <a:r>
              <a:rPr lang="en-US" dirty="0"/>
              <a:t>Click photo icon below to insert picture</a:t>
            </a:r>
            <a:br>
              <a:rPr lang="en-US" dirty="0"/>
            </a:br>
            <a:r>
              <a:rPr lang="en-US" dirty="0"/>
              <a:t>(if replacing picture, you will have to reset your crop area)</a:t>
            </a:r>
          </a:p>
        </p:txBody>
      </p:sp>
    </p:spTree>
    <p:extLst>
      <p:ext uri="{BB962C8B-B14F-4D97-AF65-F5344CB8AC3E}">
        <p14:creationId xmlns:p14="http://schemas.microsoft.com/office/powerpoint/2010/main" val="38900746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25992-890C-EC4B-B676-6CCEF133B8F2}"/>
              </a:ext>
            </a:extLst>
          </p:cNvPr>
          <p:cNvSpPr>
            <a:spLocks noGrp="1"/>
          </p:cNvSpPr>
          <p:nvPr>
            <p:ph type="title" hasCustomPrompt="1"/>
          </p:nvPr>
        </p:nvSpPr>
        <p:spPr>
          <a:xfrm>
            <a:off x="938150" y="1709738"/>
            <a:ext cx="10409299" cy="2852737"/>
          </a:xfrm>
        </p:spPr>
        <p:txBody>
          <a:bodyPr anchor="ctr" anchorCtr="0"/>
          <a:lstStyle>
            <a:lvl1pPr>
              <a:defRPr sz="4800"/>
            </a:lvl1pPr>
          </a:lstStyle>
          <a:p>
            <a:r>
              <a:rPr lang="en-US" dirty="0"/>
              <a:t>Click to edit title</a:t>
            </a:r>
          </a:p>
        </p:txBody>
      </p:sp>
      <p:sp>
        <p:nvSpPr>
          <p:cNvPr id="3" name="Text Placeholder 2">
            <a:extLst>
              <a:ext uri="{FF2B5EF4-FFF2-40B4-BE49-F238E27FC236}">
                <a16:creationId xmlns:a16="http://schemas.microsoft.com/office/drawing/2014/main" id="{E55303FD-B916-FD4E-85C2-3EBF655BC1FB}"/>
              </a:ext>
            </a:extLst>
          </p:cNvPr>
          <p:cNvSpPr>
            <a:spLocks noGrp="1"/>
          </p:cNvSpPr>
          <p:nvPr>
            <p:ph type="body" idx="1" hasCustomPrompt="1"/>
          </p:nvPr>
        </p:nvSpPr>
        <p:spPr>
          <a:xfrm>
            <a:off x="938150" y="4589463"/>
            <a:ext cx="104093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subhead</a:t>
            </a:r>
          </a:p>
        </p:txBody>
      </p:sp>
      <p:sp>
        <p:nvSpPr>
          <p:cNvPr id="4" name="Date Placeholder 3">
            <a:extLst>
              <a:ext uri="{FF2B5EF4-FFF2-40B4-BE49-F238E27FC236}">
                <a16:creationId xmlns:a16="http://schemas.microsoft.com/office/drawing/2014/main" id="{2C8FDE18-9616-B043-9C71-522DAD29B02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D832FF7A-5905-EB40-919B-9225D0871D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C7509E-6005-DB4B-9578-84532E5F8BFF}"/>
              </a:ext>
            </a:extLst>
          </p:cNvPr>
          <p:cNvSpPr>
            <a:spLocks noGrp="1"/>
          </p:cNvSpPr>
          <p:nvPr>
            <p:ph type="sldNum" sz="quarter" idx="12"/>
          </p:nvPr>
        </p:nvSpPr>
        <p:spPr/>
        <p:txBody>
          <a:bodyPr/>
          <a:lstStyle/>
          <a:p>
            <a:fld id="{82B577FA-F7D9-2C48-919F-F962E3BF952F}" type="slidenum">
              <a:rPr lang="en-US" smtClean="0"/>
              <a:t>‹#›</a:t>
            </a:fld>
            <a:endParaRPr lang="en-US"/>
          </a:p>
        </p:txBody>
      </p:sp>
    </p:spTree>
    <p:extLst>
      <p:ext uri="{BB962C8B-B14F-4D97-AF65-F5344CB8AC3E}">
        <p14:creationId xmlns:p14="http://schemas.microsoft.com/office/powerpoint/2010/main" val="13743822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C0D34-E50C-7946-9657-29EA34F401D8}"/>
              </a:ext>
            </a:extLst>
          </p:cNvPr>
          <p:cNvSpPr>
            <a:spLocks noGrp="1"/>
          </p:cNvSpPr>
          <p:nvPr>
            <p:ph type="title" hasCustomPrompt="1"/>
          </p:nvPr>
        </p:nvSpPr>
        <p:spPr/>
        <p:txBody>
          <a:bodyPr/>
          <a:lstStyle/>
          <a:p>
            <a:r>
              <a:rPr lang="en-US" dirty="0"/>
              <a:t>Click to edit title</a:t>
            </a:r>
            <a:br>
              <a:rPr lang="en-US" dirty="0"/>
            </a:br>
            <a:r>
              <a:rPr lang="en-US" dirty="0"/>
              <a:t>(Reduce font for title longer than 2 lines)</a:t>
            </a:r>
          </a:p>
        </p:txBody>
      </p:sp>
      <p:sp>
        <p:nvSpPr>
          <p:cNvPr id="3" name="Content Placeholder 2">
            <a:extLst>
              <a:ext uri="{FF2B5EF4-FFF2-40B4-BE49-F238E27FC236}">
                <a16:creationId xmlns:a16="http://schemas.microsoft.com/office/drawing/2014/main" id="{3FBFFB48-1F38-8C46-B4B3-0871CA9880E3}"/>
              </a:ext>
            </a:extLst>
          </p:cNvPr>
          <p:cNvSpPr>
            <a:spLocks noGrp="1"/>
          </p:cNvSpPr>
          <p:nvPr>
            <p:ph sz="half" idx="1" hasCustomPrompt="1"/>
          </p:nvPr>
        </p:nvSpPr>
        <p:spPr>
          <a:xfrm>
            <a:off x="938150" y="1739901"/>
            <a:ext cx="5081650" cy="4351338"/>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45C7F5AB-BF51-4044-8164-B8ADFB34B0A6}"/>
              </a:ext>
            </a:extLst>
          </p:cNvPr>
          <p:cNvSpPr>
            <a:spLocks noGrp="1"/>
          </p:cNvSpPr>
          <p:nvPr>
            <p:ph sz="half" idx="2" hasCustomPrompt="1"/>
          </p:nvPr>
        </p:nvSpPr>
        <p:spPr>
          <a:xfrm>
            <a:off x="6272148" y="1739901"/>
            <a:ext cx="5081651" cy="4351338"/>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4973E568-D8E9-CE46-B564-4CAF0B6E4511}"/>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7C3C80FD-FB7C-F246-A242-07AFCB295C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FBDEBE-950D-C343-A00C-8D9FA1E33CE7}"/>
              </a:ext>
            </a:extLst>
          </p:cNvPr>
          <p:cNvSpPr>
            <a:spLocks noGrp="1"/>
          </p:cNvSpPr>
          <p:nvPr>
            <p:ph type="sldNum" sz="quarter" idx="12"/>
          </p:nvPr>
        </p:nvSpPr>
        <p:spPr/>
        <p:txBody>
          <a:bodyPr/>
          <a:lstStyle/>
          <a:p>
            <a:fld id="{82B577FA-F7D9-2C48-919F-F962E3BF952F}" type="slidenum">
              <a:rPr lang="en-US" smtClean="0"/>
              <a:t>‹#›</a:t>
            </a:fld>
            <a:endParaRPr lang="en-US"/>
          </a:p>
        </p:txBody>
      </p:sp>
    </p:spTree>
    <p:extLst>
      <p:ext uri="{BB962C8B-B14F-4D97-AF65-F5344CB8AC3E}">
        <p14:creationId xmlns:p14="http://schemas.microsoft.com/office/powerpoint/2010/main" val="36253200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mparison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C0D34-E50C-7946-9657-29EA34F401D8}"/>
              </a:ext>
            </a:extLst>
          </p:cNvPr>
          <p:cNvSpPr>
            <a:spLocks noGrp="1"/>
          </p:cNvSpPr>
          <p:nvPr>
            <p:ph type="title" hasCustomPrompt="1"/>
          </p:nvPr>
        </p:nvSpPr>
        <p:spPr/>
        <p:txBody>
          <a:bodyPr/>
          <a:lstStyle/>
          <a:p>
            <a:r>
              <a:rPr lang="en-US" dirty="0"/>
              <a:t>Click to edit title</a:t>
            </a:r>
            <a:br>
              <a:rPr lang="en-US" dirty="0"/>
            </a:br>
            <a:r>
              <a:rPr lang="en-US" dirty="0"/>
              <a:t>(Reduce font for title longer than 2 lines)</a:t>
            </a:r>
          </a:p>
        </p:txBody>
      </p:sp>
      <p:sp>
        <p:nvSpPr>
          <p:cNvPr id="3" name="Content Placeholder 2">
            <a:extLst>
              <a:ext uri="{FF2B5EF4-FFF2-40B4-BE49-F238E27FC236}">
                <a16:creationId xmlns:a16="http://schemas.microsoft.com/office/drawing/2014/main" id="{3FBFFB48-1F38-8C46-B4B3-0871CA9880E3}"/>
              </a:ext>
            </a:extLst>
          </p:cNvPr>
          <p:cNvSpPr>
            <a:spLocks noGrp="1"/>
          </p:cNvSpPr>
          <p:nvPr>
            <p:ph sz="half" idx="1" hasCustomPrompt="1"/>
          </p:nvPr>
        </p:nvSpPr>
        <p:spPr>
          <a:xfrm>
            <a:off x="938150" y="2412999"/>
            <a:ext cx="5081650" cy="3763963"/>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45C7F5AB-BF51-4044-8164-B8ADFB34B0A6}"/>
              </a:ext>
            </a:extLst>
          </p:cNvPr>
          <p:cNvSpPr>
            <a:spLocks noGrp="1"/>
          </p:cNvSpPr>
          <p:nvPr>
            <p:ph sz="half" idx="2" hasCustomPrompt="1"/>
          </p:nvPr>
        </p:nvSpPr>
        <p:spPr>
          <a:xfrm>
            <a:off x="6272148" y="2412999"/>
            <a:ext cx="5081651" cy="3763963"/>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4973E568-D8E9-CE46-B564-4CAF0B6E4511}"/>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7C3C80FD-FB7C-F246-A242-07AFCB295C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FBDEBE-950D-C343-A00C-8D9FA1E33CE7}"/>
              </a:ext>
            </a:extLst>
          </p:cNvPr>
          <p:cNvSpPr>
            <a:spLocks noGrp="1"/>
          </p:cNvSpPr>
          <p:nvPr>
            <p:ph type="sldNum" sz="quarter" idx="12"/>
          </p:nvPr>
        </p:nvSpPr>
        <p:spPr/>
        <p:txBody>
          <a:bodyPr/>
          <a:lstStyle/>
          <a:p>
            <a:fld id="{82B577FA-F7D9-2C48-919F-F962E3BF952F}" type="slidenum">
              <a:rPr lang="en-US" smtClean="0"/>
              <a:t>‹#›</a:t>
            </a:fld>
            <a:endParaRPr lang="en-US"/>
          </a:p>
        </p:txBody>
      </p:sp>
      <p:sp>
        <p:nvSpPr>
          <p:cNvPr id="9" name="Text Placeholder 2">
            <a:extLst>
              <a:ext uri="{FF2B5EF4-FFF2-40B4-BE49-F238E27FC236}">
                <a16:creationId xmlns:a16="http://schemas.microsoft.com/office/drawing/2014/main" id="{172D795B-85F6-1F49-922A-F41317873070}"/>
              </a:ext>
            </a:extLst>
          </p:cNvPr>
          <p:cNvSpPr>
            <a:spLocks noGrp="1"/>
          </p:cNvSpPr>
          <p:nvPr>
            <p:ph type="body" idx="13" hasCustomPrompt="1"/>
          </p:nvPr>
        </p:nvSpPr>
        <p:spPr>
          <a:xfrm>
            <a:off x="938213" y="1589087"/>
            <a:ext cx="5081587" cy="766763"/>
          </a:xfrm>
        </p:spPr>
        <p:txBody>
          <a:bodyPr anchor="b"/>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subhead 1</a:t>
            </a:r>
          </a:p>
        </p:txBody>
      </p:sp>
      <p:sp>
        <p:nvSpPr>
          <p:cNvPr id="10" name="Text Placeholder 4">
            <a:extLst>
              <a:ext uri="{FF2B5EF4-FFF2-40B4-BE49-F238E27FC236}">
                <a16:creationId xmlns:a16="http://schemas.microsoft.com/office/drawing/2014/main" id="{B4E34B4F-F908-104C-90F3-5135E2E8C74D}"/>
              </a:ext>
            </a:extLst>
          </p:cNvPr>
          <p:cNvSpPr>
            <a:spLocks noGrp="1"/>
          </p:cNvSpPr>
          <p:nvPr>
            <p:ph type="body" sz="quarter" idx="3" hasCustomPrompt="1"/>
          </p:nvPr>
        </p:nvSpPr>
        <p:spPr>
          <a:xfrm>
            <a:off x="6270625" y="1589087"/>
            <a:ext cx="5081587" cy="766763"/>
          </a:xfrm>
        </p:spPr>
        <p:txBody>
          <a:bodyPr anchor="b"/>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subhead 2 </a:t>
            </a:r>
          </a:p>
        </p:txBody>
      </p:sp>
    </p:spTree>
    <p:extLst>
      <p:ext uri="{BB962C8B-B14F-4D97-AF65-F5344CB8AC3E}">
        <p14:creationId xmlns:p14="http://schemas.microsoft.com/office/powerpoint/2010/main" val="17900851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EB3FEC5-4760-DC48-B91E-CFC0C33F63A9}"/>
              </a:ext>
            </a:extLst>
          </p:cNvPr>
          <p:cNvSpPr/>
          <p:nvPr userDrawn="1"/>
        </p:nvSpPr>
        <p:spPr>
          <a:xfrm>
            <a:off x="8465769" y="6335712"/>
            <a:ext cx="3726231" cy="5222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AEAE68D-24FC-6749-A309-042231DB68DA}"/>
              </a:ext>
            </a:extLst>
          </p:cNvPr>
          <p:cNvSpPr/>
          <p:nvPr userDrawn="1"/>
        </p:nvSpPr>
        <p:spPr>
          <a:xfrm>
            <a:off x="8465769" y="6237795"/>
            <a:ext cx="3726231" cy="979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IDAHO NATIONAL LABORATORY">
            <a:extLst>
              <a:ext uri="{FF2B5EF4-FFF2-40B4-BE49-F238E27FC236}">
                <a16:creationId xmlns:a16="http://schemas.microsoft.com/office/drawing/2014/main" id="{C491F914-E346-2146-A51D-D37D67DBC113}"/>
              </a:ext>
            </a:extLst>
          </p:cNvPr>
          <p:cNvPicPr>
            <a:picLocks noChangeAspect="1"/>
          </p:cNvPicPr>
          <p:nvPr userDrawn="1"/>
        </p:nvPicPr>
        <p:blipFill>
          <a:blip r:embed="rId16"/>
          <a:stretch>
            <a:fillRect/>
          </a:stretch>
        </p:blipFill>
        <p:spPr>
          <a:xfrm>
            <a:off x="8944584" y="6543675"/>
            <a:ext cx="2768600" cy="127000"/>
          </a:xfrm>
          <a:prstGeom prst="rect">
            <a:avLst/>
          </a:prstGeom>
        </p:spPr>
      </p:pic>
      <p:sp>
        <p:nvSpPr>
          <p:cNvPr id="2" name="Title Placeholder 1">
            <a:extLst>
              <a:ext uri="{FF2B5EF4-FFF2-40B4-BE49-F238E27FC236}">
                <a16:creationId xmlns:a16="http://schemas.microsoft.com/office/drawing/2014/main" id="{D682502A-5BF2-8845-923F-AAF24377FEFD}"/>
              </a:ext>
            </a:extLst>
          </p:cNvPr>
          <p:cNvSpPr>
            <a:spLocks noGrp="1"/>
          </p:cNvSpPr>
          <p:nvPr>
            <p:ph type="title"/>
          </p:nvPr>
        </p:nvSpPr>
        <p:spPr>
          <a:xfrm>
            <a:off x="938151" y="558602"/>
            <a:ext cx="10415648" cy="1008797"/>
          </a:xfrm>
          <a:prstGeom prst="rect">
            <a:avLst/>
          </a:prstGeom>
        </p:spPr>
        <p:txBody>
          <a:bodyPr vert="horz" lIns="0" tIns="0" rIns="91440" bIns="45720" rtlCol="0" anchor="t" anchorCtr="0">
            <a:noAutofit/>
          </a:bodyPr>
          <a:lstStyle/>
          <a:p>
            <a:r>
              <a:rPr lang="en-US" dirty="0"/>
              <a:t>Click to edit Master title</a:t>
            </a:r>
          </a:p>
        </p:txBody>
      </p:sp>
      <p:sp>
        <p:nvSpPr>
          <p:cNvPr id="3" name="Text Placeholder 2">
            <a:extLst>
              <a:ext uri="{FF2B5EF4-FFF2-40B4-BE49-F238E27FC236}">
                <a16:creationId xmlns:a16="http://schemas.microsoft.com/office/drawing/2014/main" id="{3C7B4A4D-34FE-994A-AFE8-DCF682312F44}"/>
              </a:ext>
            </a:extLst>
          </p:cNvPr>
          <p:cNvSpPr>
            <a:spLocks noGrp="1"/>
          </p:cNvSpPr>
          <p:nvPr>
            <p:ph type="body" idx="1"/>
          </p:nvPr>
        </p:nvSpPr>
        <p:spPr>
          <a:xfrm>
            <a:off x="938150" y="1739901"/>
            <a:ext cx="10415649" cy="4351338"/>
          </a:xfrm>
          <a:prstGeom prst="rect">
            <a:avLst/>
          </a:prstGeom>
        </p:spPr>
        <p:txBody>
          <a:bodyPr vert="horz" lIns="0" tIns="0" rIns="91440" bIns="45720" rtlCol="0">
            <a:noAutofit/>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600CF24-C629-E54C-BA9B-20518F01F087}"/>
              </a:ext>
            </a:extLst>
          </p:cNvPr>
          <p:cNvSpPr>
            <a:spLocks noGrp="1"/>
          </p:cNvSpPr>
          <p:nvPr>
            <p:ph type="dt" sz="half" idx="2"/>
          </p:nvPr>
        </p:nvSpPr>
        <p:spPr>
          <a:xfrm>
            <a:off x="6096001" y="6492875"/>
            <a:ext cx="1546302" cy="365125"/>
          </a:xfrm>
          <a:prstGeom prst="rect">
            <a:avLst/>
          </a:prstGeom>
        </p:spPr>
        <p:txBody>
          <a:bodyPr vert="horz" lIns="91440" tIns="45720" rIns="91440" bIns="155448" rtlCol="0" anchor="ctr"/>
          <a:lstStyle>
            <a:lvl1pPr algn="l">
              <a:defRPr sz="1000">
                <a:solidFill>
                  <a:schemeClr val="accent6">
                    <a:lumMod val="40000"/>
                    <a:lumOff val="60000"/>
                  </a:schemeClr>
                </a:solidFill>
                <a:latin typeface="Arial" panose="020B0604020202020204" pitchFamily="34" charset="0"/>
                <a:cs typeface="Arial" panose="020B0604020202020204" pitchFamily="34" charset="0"/>
              </a:defRPr>
            </a:lvl1pPr>
          </a:lstStyle>
          <a:p>
            <a:endParaRPr lang="en-US"/>
          </a:p>
        </p:txBody>
      </p:sp>
      <p:sp>
        <p:nvSpPr>
          <p:cNvPr id="5" name="Footer Placeholder 4">
            <a:extLst>
              <a:ext uri="{FF2B5EF4-FFF2-40B4-BE49-F238E27FC236}">
                <a16:creationId xmlns:a16="http://schemas.microsoft.com/office/drawing/2014/main" id="{73334D85-E219-4F49-88C8-4DC17F06DE96}"/>
              </a:ext>
            </a:extLst>
          </p:cNvPr>
          <p:cNvSpPr>
            <a:spLocks noGrp="1"/>
          </p:cNvSpPr>
          <p:nvPr>
            <p:ph type="ftr" sz="quarter" idx="3"/>
          </p:nvPr>
        </p:nvSpPr>
        <p:spPr>
          <a:xfrm>
            <a:off x="938150" y="6492875"/>
            <a:ext cx="5060066" cy="365125"/>
          </a:xfrm>
          <a:prstGeom prst="rect">
            <a:avLst/>
          </a:prstGeom>
        </p:spPr>
        <p:txBody>
          <a:bodyPr vert="horz" lIns="91440" tIns="45720" rIns="91440" bIns="155448" rtlCol="0" anchor="ctr"/>
          <a:lstStyle>
            <a:lvl1pPr algn="ctr">
              <a:defRPr sz="1000">
                <a:solidFill>
                  <a:schemeClr val="accent6">
                    <a:lumMod val="40000"/>
                    <a:lumOff val="60000"/>
                  </a:schemeClr>
                </a:solidFill>
                <a:latin typeface="Arial" panose="020B0604020202020204" pitchFamily="34" charset="0"/>
                <a:cs typeface="Arial" panose="020B0604020202020204" pitchFamily="34" charset="0"/>
              </a:defRPr>
            </a:lvl1pPr>
          </a:lstStyle>
          <a:p>
            <a:endParaRPr lang="en-US"/>
          </a:p>
        </p:txBody>
      </p:sp>
      <p:sp>
        <p:nvSpPr>
          <p:cNvPr id="6" name="Slide Number Placeholder 5">
            <a:extLst>
              <a:ext uri="{FF2B5EF4-FFF2-40B4-BE49-F238E27FC236}">
                <a16:creationId xmlns:a16="http://schemas.microsoft.com/office/drawing/2014/main" id="{FE57F2A8-2F01-4745-8AFB-4EEC8D271DA8}"/>
              </a:ext>
            </a:extLst>
          </p:cNvPr>
          <p:cNvSpPr>
            <a:spLocks noGrp="1"/>
          </p:cNvSpPr>
          <p:nvPr>
            <p:ph type="sldNum" sz="quarter" idx="4"/>
          </p:nvPr>
        </p:nvSpPr>
        <p:spPr>
          <a:xfrm>
            <a:off x="155020" y="6492875"/>
            <a:ext cx="434428" cy="365125"/>
          </a:xfrm>
          <a:prstGeom prst="rect">
            <a:avLst/>
          </a:prstGeom>
        </p:spPr>
        <p:txBody>
          <a:bodyPr vert="horz" lIns="91440" tIns="45720" rIns="91440" bIns="155448" rtlCol="0" anchor="ctr"/>
          <a:lstStyle>
            <a:lvl1pPr algn="ctr">
              <a:defRPr sz="1000" b="1">
                <a:solidFill>
                  <a:schemeClr val="accent6">
                    <a:lumMod val="40000"/>
                    <a:lumOff val="60000"/>
                  </a:schemeClr>
                </a:solidFill>
                <a:latin typeface="Arial" panose="020B0604020202020204" pitchFamily="34" charset="0"/>
                <a:cs typeface="Arial" panose="020B0604020202020204" pitchFamily="34" charset="0"/>
              </a:defRPr>
            </a:lvl1pPr>
          </a:lstStyle>
          <a:p>
            <a:fld id="{82B577FA-F7D9-2C48-919F-F962E3BF952F}" type="slidenum">
              <a:rPr lang="en-US" smtClean="0"/>
              <a:pPr/>
              <a:t>‹#›</a:t>
            </a:fld>
            <a:endParaRPr lang="en-US" dirty="0"/>
          </a:p>
        </p:txBody>
      </p:sp>
      <p:grpSp>
        <p:nvGrpSpPr>
          <p:cNvPr id="15" name="blue/green box top">
            <a:extLst>
              <a:ext uri="{FF2B5EF4-FFF2-40B4-BE49-F238E27FC236}">
                <a16:creationId xmlns:a16="http://schemas.microsoft.com/office/drawing/2014/main" id="{2FE8E780-1DE8-B245-8215-3ECC2513C073}"/>
              </a:ext>
            </a:extLst>
          </p:cNvPr>
          <p:cNvGrpSpPr/>
          <p:nvPr userDrawn="1"/>
        </p:nvGrpSpPr>
        <p:grpSpPr>
          <a:xfrm>
            <a:off x="0" y="522288"/>
            <a:ext cx="744467" cy="547190"/>
            <a:chOff x="0" y="711956"/>
            <a:chExt cx="3721100" cy="620205"/>
          </a:xfrm>
        </p:grpSpPr>
        <p:sp>
          <p:nvSpPr>
            <p:cNvPr id="16" name="Rectangle 15">
              <a:extLst>
                <a:ext uri="{FF2B5EF4-FFF2-40B4-BE49-F238E27FC236}">
                  <a16:creationId xmlns:a16="http://schemas.microsoft.com/office/drawing/2014/main" id="{20A2A1D5-CB4B-1A40-8711-4F412AA9927B}"/>
                </a:ext>
              </a:extLst>
            </p:cNvPr>
            <p:cNvSpPr/>
            <p:nvPr userDrawn="1"/>
          </p:nvSpPr>
          <p:spPr>
            <a:xfrm rot="10800000">
              <a:off x="0" y="711956"/>
              <a:ext cx="3721100" cy="5222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92B5F476-DD08-5B45-A331-21193BD3472A}"/>
                </a:ext>
              </a:extLst>
            </p:cNvPr>
            <p:cNvSpPr/>
            <p:nvPr userDrawn="1"/>
          </p:nvSpPr>
          <p:spPr>
            <a:xfrm rot="10800000">
              <a:off x="0" y="1234244"/>
              <a:ext cx="3721100" cy="979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735166460"/>
      </p:ext>
    </p:extLst>
  </p:cSld>
  <p:clrMap bg1="lt1" tx1="dk1" bg2="lt2" tx2="dk2" accent1="accent1" accent2="accent2" accent3="accent3" accent4="accent4" accent5="accent5" accent6="accent6" hlink="hlink" folHlink="folHlink"/>
  <p:sldLayoutIdLst>
    <p:sldLayoutId id="2147483688" r:id="rId1"/>
    <p:sldLayoutId id="2147483694" r:id="rId2"/>
    <p:sldLayoutId id="2147483704" r:id="rId3"/>
    <p:sldLayoutId id="2147483705" r:id="rId4"/>
    <p:sldLayoutId id="2147483706" r:id="rId5"/>
    <p:sldLayoutId id="2147483707" r:id="rId6"/>
    <p:sldLayoutId id="2147483708" r:id="rId7"/>
    <p:sldLayoutId id="2147483710" r:id="rId8"/>
    <p:sldLayoutId id="2147483711" r:id="rId9"/>
    <p:sldLayoutId id="2147483712" r:id="rId10"/>
    <p:sldLayoutId id="2147483713" r:id="rId11"/>
    <p:sldLayoutId id="2147483695" r:id="rId12"/>
    <p:sldLayoutId id="2147483696" r:id="rId13"/>
    <p:sldLayoutId id="2147483709" r:id="rId14"/>
  </p:sldLayoutIdLst>
  <p:hf hdr="0" ftr="0" dt="0"/>
  <p:txStyles>
    <p:titleStyle>
      <a:lvl1pPr algn="l" defTabSz="914400" rtl="0" eaLnBrk="1" latinLnBrk="0" hangingPunct="1">
        <a:lnSpc>
          <a:spcPct val="90000"/>
        </a:lnSpc>
        <a:spcBef>
          <a:spcPct val="0"/>
        </a:spcBef>
        <a:buNone/>
        <a:defRPr sz="3200" b="1" i="0" kern="1200">
          <a:solidFill>
            <a:schemeClr val="tx2"/>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Clr>
          <a:schemeClr val="bg2"/>
        </a:buClr>
        <a:buFont typeface="Arial" panose="020B0604020202020204" pitchFamily="34" charset="0"/>
        <a:buChar char="•"/>
        <a:defRPr sz="2200" b="0" i="0" kern="1200">
          <a:solidFill>
            <a:schemeClr val="tx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Clr>
          <a:schemeClr val="bg2"/>
        </a:buClr>
        <a:buFont typeface="Arial" panose="020B0604020202020204" pitchFamily="34" charset="0"/>
        <a:buChar char="−"/>
        <a:defRPr sz="2200" b="0" i="0" kern="1200">
          <a:solidFill>
            <a:schemeClr val="tx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bg2"/>
        </a:buClr>
        <a:buFont typeface="Arial" panose="020B0604020202020204" pitchFamily="34" charset="0"/>
        <a:buChar char="•"/>
        <a:defRPr sz="2200" b="0" i="0" kern="1200">
          <a:solidFill>
            <a:schemeClr val="tx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bg2"/>
        </a:buClr>
        <a:buFont typeface="Arial" panose="020B0604020202020204" pitchFamily="34" charset="0"/>
        <a:buChar char="−"/>
        <a:defRPr sz="2200" b="0" i="0" kern="1200">
          <a:solidFill>
            <a:schemeClr val="tx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bg2"/>
        </a:buClr>
        <a:buFont typeface="Arial" panose="020B0604020202020204" pitchFamily="34" charset="0"/>
        <a:buChar char="•"/>
        <a:defRPr sz="2200" b="0" i="0" kern="120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pos="420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13" Type="http://schemas.microsoft.com/office/2007/relationships/hdphoto" Target="../media/hdphoto2.wdp"/><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2.png"/><Relationship Id="rId2" Type="http://schemas.openxmlformats.org/officeDocument/2006/relationships/notesSlide" Target="../notesSlides/notesSlide1.xml"/><Relationship Id="rId16" Type="http://schemas.openxmlformats.org/officeDocument/2006/relationships/image" Target="../media/image14.emf"/><Relationship Id="rId1" Type="http://schemas.openxmlformats.org/officeDocument/2006/relationships/slideLayout" Target="../slideLayouts/slideLayout2.xml"/><Relationship Id="rId6" Type="http://schemas.openxmlformats.org/officeDocument/2006/relationships/image" Target="../media/image7.png"/><Relationship Id="rId11" Type="http://schemas.microsoft.com/office/2007/relationships/hdphoto" Target="../media/hdphoto1.wdp"/><Relationship Id="rId5" Type="http://schemas.openxmlformats.org/officeDocument/2006/relationships/image" Target="../media/image6.png"/><Relationship Id="rId15" Type="http://schemas.microsoft.com/office/2007/relationships/hdphoto" Target="../media/hdphoto3.wdp"/><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1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1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22.xml.rels><?xml version="1.0" encoding="UTF-8" standalone="yes"?>
<Relationships xmlns="http://schemas.openxmlformats.org/package/2006/relationships"><Relationship Id="rId2" Type="http://schemas.openxmlformats.org/officeDocument/2006/relationships/image" Target="../media/image49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50.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36.png"/><Relationship Id="rId4" Type="http://schemas.openxmlformats.org/officeDocument/2006/relationships/image" Target="../media/image35.png"/></Relationships>
</file>

<file path=ppt/slides/_rels/slide2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2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2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36.png"/><Relationship Id="rId4" Type="http://schemas.openxmlformats.org/officeDocument/2006/relationships/image" Target="../media/image35.png"/></Relationships>
</file>

<file path=ppt/slides/_rels/slide3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36.png"/><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mailto:Peter.German@inl.gov" TargetMode="External"/><Relationship Id="rId2" Type="http://schemas.openxmlformats.org/officeDocument/2006/relationships/hyperlink" Target="mailto:Som.Dhulipala@inl.gov" TargetMode="External"/><Relationship Id="rId1" Type="http://schemas.openxmlformats.org/officeDocument/2006/relationships/slideLayout" Target="../slideLayouts/slideLayout2.xml"/><Relationship Id="rId4" Type="http://schemas.openxmlformats.org/officeDocument/2006/relationships/hyperlink" Target="mailto:Zachary.Prince@inl.gov"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AFFBDF4-D027-5540-A4D0-49BD3CCE65CE}"/>
              </a:ext>
            </a:extLst>
          </p:cNvPr>
          <p:cNvSpPr>
            <a:spLocks noGrp="1"/>
          </p:cNvSpPr>
          <p:nvPr>
            <p:ph type="body" sz="quarter" idx="13"/>
          </p:nvPr>
        </p:nvSpPr>
        <p:spPr>
          <a:xfrm>
            <a:off x="943232" y="1007514"/>
            <a:ext cx="10305535" cy="3596998"/>
          </a:xfrm>
        </p:spPr>
        <p:txBody>
          <a:bodyPr/>
          <a:lstStyle/>
          <a:p>
            <a:pPr algn="ctr"/>
            <a:r>
              <a:rPr lang="en-US" dirty="0"/>
              <a:t>MOOSE Stochastic Tools Module Training Session</a:t>
            </a:r>
          </a:p>
          <a:p>
            <a:endParaRPr lang="en-US" dirty="0"/>
          </a:p>
          <a:p>
            <a:pPr algn="ctr">
              <a:spcBef>
                <a:spcPts val="500"/>
              </a:spcBef>
            </a:pPr>
            <a:r>
              <a:rPr lang="en-US" sz="2400" dirty="0"/>
              <a:t>Developers:</a:t>
            </a:r>
            <a:r>
              <a:rPr lang="en-US" sz="2400" b="0" dirty="0"/>
              <a:t> Som Dhulipala, Zach Prince, Peter German</a:t>
            </a:r>
          </a:p>
          <a:p>
            <a:pPr>
              <a:spcBef>
                <a:spcPts val="500"/>
              </a:spcBef>
            </a:pPr>
            <a:endParaRPr lang="en-US" sz="2400" b="0" dirty="0"/>
          </a:p>
          <a:p>
            <a:pPr algn="ctr">
              <a:spcBef>
                <a:spcPts val="500"/>
              </a:spcBef>
            </a:pPr>
            <a:r>
              <a:rPr lang="en-US" sz="2400" dirty="0"/>
              <a:t>MOOSE International Workshop 2025</a:t>
            </a:r>
          </a:p>
        </p:txBody>
      </p:sp>
      <p:sp>
        <p:nvSpPr>
          <p:cNvPr id="3" name="Text Placeholder 2">
            <a:extLst>
              <a:ext uri="{FF2B5EF4-FFF2-40B4-BE49-F238E27FC236}">
                <a16:creationId xmlns:a16="http://schemas.microsoft.com/office/drawing/2014/main" id="{221FA6BA-7AEF-C349-A828-FB83B670B5C6}"/>
              </a:ext>
            </a:extLst>
          </p:cNvPr>
          <p:cNvSpPr>
            <a:spLocks noGrp="1"/>
          </p:cNvSpPr>
          <p:nvPr>
            <p:ph type="body" sz="quarter" idx="16"/>
          </p:nvPr>
        </p:nvSpPr>
        <p:spPr>
          <a:xfrm>
            <a:off x="299139" y="275323"/>
            <a:ext cx="2541981" cy="388669"/>
          </a:xfrm>
        </p:spPr>
        <p:txBody>
          <a:bodyPr/>
          <a:lstStyle/>
          <a:p>
            <a:r>
              <a:rPr lang="en-US" sz="1800" b="0" dirty="0"/>
              <a:t>03/13/2025</a:t>
            </a:r>
          </a:p>
        </p:txBody>
      </p:sp>
    </p:spTree>
    <p:extLst>
      <p:ext uri="{BB962C8B-B14F-4D97-AF65-F5344CB8AC3E}">
        <p14:creationId xmlns:p14="http://schemas.microsoft.com/office/powerpoint/2010/main" val="1665996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1262D-C9EC-634F-B652-71F752EB466E}"/>
              </a:ext>
            </a:extLst>
          </p:cNvPr>
          <p:cNvSpPr>
            <a:spLocks noGrp="1"/>
          </p:cNvSpPr>
          <p:nvPr>
            <p:ph type="title"/>
          </p:nvPr>
        </p:nvSpPr>
        <p:spPr/>
        <p:txBody>
          <a:bodyPr/>
          <a:lstStyle/>
          <a:p>
            <a:r>
              <a:rPr lang="en-US" dirty="0"/>
              <a:t>The MOOSE Stochastic Tools Module</a:t>
            </a:r>
          </a:p>
        </p:txBody>
      </p:sp>
      <p:sp>
        <p:nvSpPr>
          <p:cNvPr id="4" name="Content Placeholder 2">
            <a:extLst>
              <a:ext uri="{FF2B5EF4-FFF2-40B4-BE49-F238E27FC236}">
                <a16:creationId xmlns:a16="http://schemas.microsoft.com/office/drawing/2014/main" id="{7E24EB81-63D9-CB4C-9ACC-3F1390C2BCF4}"/>
              </a:ext>
            </a:extLst>
          </p:cNvPr>
          <p:cNvSpPr>
            <a:spLocks noGrp="1"/>
          </p:cNvSpPr>
          <p:nvPr>
            <p:ph idx="1"/>
          </p:nvPr>
        </p:nvSpPr>
        <p:spPr>
          <a:xfrm>
            <a:off x="298602" y="1331188"/>
            <a:ext cx="7712628" cy="4831476"/>
          </a:xfrm>
        </p:spPr>
        <p:txBody>
          <a:bodyPr/>
          <a:lstStyle/>
          <a:p>
            <a:r>
              <a:rPr lang="en-US" sz="1600" dirty="0">
                <a:solidFill>
                  <a:schemeClr val="tx1"/>
                </a:solidFill>
              </a:rPr>
              <a:t>Provide a </a:t>
            </a:r>
            <a:r>
              <a:rPr lang="en-US" sz="1600" b="1" dirty="0">
                <a:solidFill>
                  <a:schemeClr val="tx1"/>
                </a:solidFill>
              </a:rPr>
              <a:t>MOOSE interface </a:t>
            </a:r>
            <a:r>
              <a:rPr lang="en-US" sz="1600" dirty="0">
                <a:solidFill>
                  <a:schemeClr val="tx1"/>
                </a:solidFill>
              </a:rPr>
              <a:t>for performing stochastic analysis on MOOSE-based models.</a:t>
            </a:r>
          </a:p>
          <a:p>
            <a:r>
              <a:rPr lang="en-US" sz="1600" dirty="0">
                <a:solidFill>
                  <a:schemeClr val="tx1"/>
                </a:solidFill>
              </a:rPr>
              <a:t>Sample parameters, run applications, and gather data that is both </a:t>
            </a:r>
            <a:r>
              <a:rPr lang="en-US" sz="1600" b="1" dirty="0">
                <a:solidFill>
                  <a:schemeClr val="tx1"/>
                </a:solidFill>
              </a:rPr>
              <a:t>efficient</a:t>
            </a:r>
            <a:r>
              <a:rPr lang="en-US" sz="1600" dirty="0">
                <a:solidFill>
                  <a:schemeClr val="tx1"/>
                </a:solidFill>
              </a:rPr>
              <a:t> (memory and runtime) and </a:t>
            </a:r>
            <a:r>
              <a:rPr lang="en-US" sz="1600" b="1" dirty="0">
                <a:solidFill>
                  <a:schemeClr val="tx1"/>
                </a:solidFill>
              </a:rPr>
              <a:t>scalable</a:t>
            </a:r>
            <a:r>
              <a:rPr lang="en-US" sz="1600" dirty="0">
                <a:solidFill>
                  <a:schemeClr val="tx1"/>
                </a:solidFill>
              </a:rPr>
              <a:t>.</a:t>
            </a:r>
          </a:p>
          <a:p>
            <a:r>
              <a:rPr lang="en-US" sz="1600" dirty="0">
                <a:solidFill>
                  <a:schemeClr val="tx1"/>
                </a:solidFill>
              </a:rPr>
              <a:t>Perform UQ and sensitivity analysis with </a:t>
            </a:r>
            <a:r>
              <a:rPr lang="en-US" sz="1600" b="1" dirty="0">
                <a:solidFill>
                  <a:schemeClr val="tx1"/>
                </a:solidFill>
              </a:rPr>
              <a:t>distributed data </a:t>
            </a:r>
            <a:r>
              <a:rPr lang="en-US" sz="1600" dirty="0">
                <a:solidFill>
                  <a:schemeClr val="tx1"/>
                </a:solidFill>
              </a:rPr>
              <a:t>with</a:t>
            </a:r>
            <a:r>
              <a:rPr lang="en-US" sz="1600" b="1" dirty="0">
                <a:solidFill>
                  <a:schemeClr val="tx1"/>
                </a:solidFill>
              </a:rPr>
              <a:t> advanced variance reduction </a:t>
            </a:r>
            <a:r>
              <a:rPr lang="en-US" sz="1600" dirty="0">
                <a:solidFill>
                  <a:schemeClr val="tx1"/>
                </a:solidFill>
              </a:rPr>
              <a:t>methods</a:t>
            </a:r>
          </a:p>
          <a:p>
            <a:r>
              <a:rPr lang="en-US" sz="1600" b="1" dirty="0">
                <a:solidFill>
                  <a:schemeClr val="tx1"/>
                </a:solidFill>
              </a:rPr>
              <a:t>Parallel Scalable Inverse Bayesian UQ </a:t>
            </a:r>
            <a:r>
              <a:rPr lang="en-US" sz="1600" dirty="0">
                <a:solidFill>
                  <a:schemeClr val="tx1"/>
                </a:solidFill>
              </a:rPr>
              <a:t>for</a:t>
            </a:r>
            <a:r>
              <a:rPr lang="en-US" sz="1600" b="1" dirty="0">
                <a:solidFill>
                  <a:schemeClr val="tx1"/>
                </a:solidFill>
              </a:rPr>
              <a:t> </a:t>
            </a:r>
            <a:r>
              <a:rPr lang="en-US" sz="1600" dirty="0">
                <a:solidFill>
                  <a:schemeClr val="tx1"/>
                </a:solidFill>
              </a:rPr>
              <a:t>parameter and model error estimation</a:t>
            </a:r>
          </a:p>
          <a:p>
            <a:r>
              <a:rPr lang="en-US" sz="1600" dirty="0">
                <a:solidFill>
                  <a:schemeClr val="tx1"/>
                </a:solidFill>
              </a:rPr>
              <a:t>Train meta-models to develop fast-evaluating </a:t>
            </a:r>
            <a:r>
              <a:rPr lang="en-US" sz="1600" b="1" dirty="0">
                <a:solidFill>
                  <a:schemeClr val="tx1"/>
                </a:solidFill>
              </a:rPr>
              <a:t>surrogates</a:t>
            </a:r>
            <a:r>
              <a:rPr lang="en-US" sz="1600" dirty="0">
                <a:solidFill>
                  <a:schemeClr val="tx1"/>
                </a:solidFill>
              </a:rPr>
              <a:t> of the high-fidelity </a:t>
            </a:r>
            <a:r>
              <a:rPr lang="en-US" sz="1600" dirty="0" err="1">
                <a:solidFill>
                  <a:schemeClr val="tx1"/>
                </a:solidFill>
              </a:rPr>
              <a:t>multiphysics</a:t>
            </a:r>
            <a:r>
              <a:rPr lang="en-US" sz="1600" dirty="0">
                <a:solidFill>
                  <a:schemeClr val="tx1"/>
                </a:solidFill>
              </a:rPr>
              <a:t> model</a:t>
            </a:r>
          </a:p>
          <a:p>
            <a:pPr lvl="1"/>
            <a:r>
              <a:rPr lang="en-US" sz="1600" dirty="0">
                <a:solidFill>
                  <a:schemeClr val="tx1"/>
                </a:solidFill>
              </a:rPr>
              <a:t>Harness advanced machine learning capabilities through the C++ front end of </a:t>
            </a:r>
            <a:r>
              <a:rPr lang="en-US" sz="1600" dirty="0" err="1">
                <a:solidFill>
                  <a:schemeClr val="tx1"/>
                </a:solidFill>
              </a:rPr>
              <a:t>Pytorch</a:t>
            </a:r>
            <a:r>
              <a:rPr lang="en-US" sz="1600" dirty="0">
                <a:solidFill>
                  <a:schemeClr val="tx1"/>
                </a:solidFill>
              </a:rPr>
              <a:t> [1]</a:t>
            </a:r>
          </a:p>
          <a:p>
            <a:pPr lvl="1"/>
            <a:r>
              <a:rPr lang="en-US" sz="1600" dirty="0">
                <a:solidFill>
                  <a:schemeClr val="tx1"/>
                </a:solidFill>
              </a:rPr>
              <a:t>Use active learning models for building surrogates</a:t>
            </a:r>
          </a:p>
          <a:p>
            <a:r>
              <a:rPr lang="en-US" sz="1600" dirty="0">
                <a:solidFill>
                  <a:schemeClr val="tx1"/>
                </a:solidFill>
              </a:rPr>
              <a:t>Provide a </a:t>
            </a:r>
            <a:r>
              <a:rPr lang="en-US" sz="1600" b="1" dirty="0">
                <a:solidFill>
                  <a:schemeClr val="tx1"/>
                </a:solidFill>
              </a:rPr>
              <a:t>pluggable</a:t>
            </a:r>
            <a:r>
              <a:rPr lang="en-US" sz="1600" dirty="0">
                <a:solidFill>
                  <a:schemeClr val="tx1"/>
                </a:solidFill>
              </a:rPr>
              <a:t> interface for these surrogates.</a:t>
            </a:r>
          </a:p>
          <a:p>
            <a:r>
              <a:rPr lang="en-US" sz="1600" dirty="0">
                <a:solidFill>
                  <a:schemeClr val="tx1"/>
                </a:solidFill>
              </a:rPr>
              <a:t>Use </a:t>
            </a:r>
            <a:r>
              <a:rPr lang="en-US" sz="1600" b="1" dirty="0">
                <a:solidFill>
                  <a:schemeClr val="tx1"/>
                </a:solidFill>
              </a:rPr>
              <a:t>POD (Proper Orthogonal Decomposition)-based dimensionality reduction</a:t>
            </a:r>
            <a:r>
              <a:rPr lang="en-US" sz="1600" dirty="0">
                <a:solidFill>
                  <a:schemeClr val="tx1"/>
                </a:solidFill>
              </a:rPr>
              <a:t> methods to build mappings between solution variables and latent (low-dimensional) spaces</a:t>
            </a:r>
          </a:p>
          <a:p>
            <a:endParaRPr lang="en-US" sz="1600" dirty="0">
              <a:solidFill>
                <a:schemeClr val="tx1"/>
              </a:solidFill>
            </a:endParaRPr>
          </a:p>
          <a:p>
            <a:pPr lvl="1"/>
            <a:endParaRPr lang="en-US" sz="1800" dirty="0">
              <a:solidFill>
                <a:schemeClr val="tx1"/>
              </a:solidFill>
            </a:endParaRPr>
          </a:p>
        </p:txBody>
      </p:sp>
      <p:grpSp>
        <p:nvGrpSpPr>
          <p:cNvPr id="17" name="Group 16">
            <a:extLst>
              <a:ext uri="{FF2B5EF4-FFF2-40B4-BE49-F238E27FC236}">
                <a16:creationId xmlns:a16="http://schemas.microsoft.com/office/drawing/2014/main" id="{BA07B697-656E-C77D-03EE-CCE7F831839B}"/>
              </a:ext>
            </a:extLst>
          </p:cNvPr>
          <p:cNvGrpSpPr/>
          <p:nvPr/>
        </p:nvGrpSpPr>
        <p:grpSpPr>
          <a:xfrm>
            <a:off x="8189459" y="4181344"/>
            <a:ext cx="3609881" cy="1820177"/>
            <a:chOff x="7820119" y="4621168"/>
            <a:chExt cx="2840110" cy="1443610"/>
          </a:xfrm>
        </p:grpSpPr>
        <p:pic>
          <p:nvPicPr>
            <p:cNvPr id="7" name="Picture 6" descr="A picture containing icon&#10;&#10;Description automatically generated">
              <a:extLst>
                <a:ext uri="{FF2B5EF4-FFF2-40B4-BE49-F238E27FC236}">
                  <a16:creationId xmlns:a16="http://schemas.microsoft.com/office/drawing/2014/main" id="{0FC0DE9F-95C8-A5A7-21BF-F27FF1421EAA}"/>
                </a:ext>
              </a:extLst>
            </p:cNvPr>
            <p:cNvPicPr>
              <a:picLocks noChangeAspect="1"/>
            </p:cNvPicPr>
            <p:nvPr/>
          </p:nvPicPr>
          <p:blipFill>
            <a:blip r:embed="rId3"/>
            <a:stretch>
              <a:fillRect/>
            </a:stretch>
          </p:blipFill>
          <p:spPr>
            <a:xfrm>
              <a:off x="9780697" y="5339450"/>
              <a:ext cx="879532" cy="725328"/>
            </a:xfrm>
            <a:prstGeom prst="rect">
              <a:avLst/>
            </a:prstGeom>
          </p:spPr>
        </p:pic>
        <p:pic>
          <p:nvPicPr>
            <p:cNvPr id="8" name="Picture 7" descr="A picture containing text, marker&#10;&#10;Description automatically generated">
              <a:extLst>
                <a:ext uri="{FF2B5EF4-FFF2-40B4-BE49-F238E27FC236}">
                  <a16:creationId xmlns:a16="http://schemas.microsoft.com/office/drawing/2014/main" id="{4F23B038-76B7-61B0-6C46-AD297E0DC957}"/>
                </a:ext>
              </a:extLst>
            </p:cNvPr>
            <p:cNvPicPr>
              <a:picLocks noChangeAspect="1"/>
            </p:cNvPicPr>
            <p:nvPr/>
          </p:nvPicPr>
          <p:blipFill>
            <a:blip r:embed="rId4"/>
            <a:stretch>
              <a:fillRect/>
            </a:stretch>
          </p:blipFill>
          <p:spPr>
            <a:xfrm>
              <a:off x="7820119" y="5349303"/>
              <a:ext cx="849433" cy="693641"/>
            </a:xfrm>
            <a:prstGeom prst="rect">
              <a:avLst/>
            </a:prstGeom>
          </p:spPr>
        </p:pic>
        <p:pic>
          <p:nvPicPr>
            <p:cNvPr id="10" name="Picture 9" descr="A picture containing chart&#10;&#10;Description automatically generated">
              <a:extLst>
                <a:ext uri="{FF2B5EF4-FFF2-40B4-BE49-F238E27FC236}">
                  <a16:creationId xmlns:a16="http://schemas.microsoft.com/office/drawing/2014/main" id="{F8295150-F721-D1AC-3850-9454AF485EFF}"/>
                </a:ext>
              </a:extLst>
            </p:cNvPr>
            <p:cNvPicPr>
              <a:picLocks noChangeAspect="1"/>
            </p:cNvPicPr>
            <p:nvPr/>
          </p:nvPicPr>
          <p:blipFill>
            <a:blip r:embed="rId5"/>
            <a:stretch>
              <a:fillRect/>
            </a:stretch>
          </p:blipFill>
          <p:spPr>
            <a:xfrm>
              <a:off x="8814999" y="5342953"/>
              <a:ext cx="849433" cy="703235"/>
            </a:xfrm>
            <a:prstGeom prst="rect">
              <a:avLst/>
            </a:prstGeom>
          </p:spPr>
        </p:pic>
        <p:pic>
          <p:nvPicPr>
            <p:cNvPr id="11" name="Picture 10" descr="A picture containing chart&#10;&#10;Description automatically generated">
              <a:extLst>
                <a:ext uri="{FF2B5EF4-FFF2-40B4-BE49-F238E27FC236}">
                  <a16:creationId xmlns:a16="http://schemas.microsoft.com/office/drawing/2014/main" id="{B826B136-9529-40B0-5805-56230396EAA9}"/>
                </a:ext>
              </a:extLst>
            </p:cNvPr>
            <p:cNvPicPr>
              <a:picLocks noChangeAspect="1"/>
            </p:cNvPicPr>
            <p:nvPr/>
          </p:nvPicPr>
          <p:blipFill>
            <a:blip r:embed="rId6"/>
            <a:stretch>
              <a:fillRect/>
            </a:stretch>
          </p:blipFill>
          <p:spPr>
            <a:xfrm>
              <a:off x="9774347" y="4621168"/>
              <a:ext cx="879532" cy="714264"/>
            </a:xfrm>
            <a:prstGeom prst="rect">
              <a:avLst/>
            </a:prstGeom>
          </p:spPr>
        </p:pic>
        <p:pic>
          <p:nvPicPr>
            <p:cNvPr id="12" name="Picture 11" descr="Chart&#10;&#10;Description automatically generated with medium confidence">
              <a:extLst>
                <a:ext uri="{FF2B5EF4-FFF2-40B4-BE49-F238E27FC236}">
                  <a16:creationId xmlns:a16="http://schemas.microsoft.com/office/drawing/2014/main" id="{EB72A896-1D9A-A660-7FE8-243014926B79}"/>
                </a:ext>
              </a:extLst>
            </p:cNvPr>
            <p:cNvPicPr>
              <a:picLocks noChangeAspect="1"/>
            </p:cNvPicPr>
            <p:nvPr/>
          </p:nvPicPr>
          <p:blipFill>
            <a:blip r:embed="rId7"/>
            <a:stretch>
              <a:fillRect/>
            </a:stretch>
          </p:blipFill>
          <p:spPr>
            <a:xfrm>
              <a:off x="8805474" y="4626671"/>
              <a:ext cx="861957" cy="708761"/>
            </a:xfrm>
            <a:prstGeom prst="rect">
              <a:avLst/>
            </a:prstGeom>
          </p:spPr>
        </p:pic>
        <p:pic>
          <p:nvPicPr>
            <p:cNvPr id="13" name="Picture 12" descr="A picture containing chart&#10;&#10;Description automatically generated">
              <a:extLst>
                <a:ext uri="{FF2B5EF4-FFF2-40B4-BE49-F238E27FC236}">
                  <a16:creationId xmlns:a16="http://schemas.microsoft.com/office/drawing/2014/main" id="{68E17096-5652-F2CE-F0B4-635463157B66}"/>
                </a:ext>
              </a:extLst>
            </p:cNvPr>
            <p:cNvPicPr>
              <a:picLocks noChangeAspect="1"/>
            </p:cNvPicPr>
            <p:nvPr/>
          </p:nvPicPr>
          <p:blipFill>
            <a:blip r:embed="rId8"/>
            <a:stretch>
              <a:fillRect/>
            </a:stretch>
          </p:blipFill>
          <p:spPr>
            <a:xfrm>
              <a:off x="7820120" y="4624819"/>
              <a:ext cx="869089" cy="725164"/>
            </a:xfrm>
            <a:prstGeom prst="rect">
              <a:avLst/>
            </a:prstGeom>
          </p:spPr>
        </p:pic>
      </p:grpSp>
      <p:grpSp>
        <p:nvGrpSpPr>
          <p:cNvPr id="22" name="Group 21">
            <a:extLst>
              <a:ext uri="{FF2B5EF4-FFF2-40B4-BE49-F238E27FC236}">
                <a16:creationId xmlns:a16="http://schemas.microsoft.com/office/drawing/2014/main" id="{D93A4958-C032-20B7-7D90-D561DF0F16D7}"/>
              </a:ext>
            </a:extLst>
          </p:cNvPr>
          <p:cNvGrpSpPr/>
          <p:nvPr/>
        </p:nvGrpSpPr>
        <p:grpSpPr>
          <a:xfrm>
            <a:off x="8506993" y="190636"/>
            <a:ext cx="3057764" cy="1744727"/>
            <a:chOff x="632879" y="3204954"/>
            <a:chExt cx="3057764" cy="1744727"/>
          </a:xfrm>
        </p:grpSpPr>
        <p:pic>
          <p:nvPicPr>
            <p:cNvPr id="31" name="Picture 2" descr="Predicting a Startup Valuation with Data Science - Journal ...">
              <a:extLst>
                <a:ext uri="{FF2B5EF4-FFF2-40B4-BE49-F238E27FC236}">
                  <a16:creationId xmlns:a16="http://schemas.microsoft.com/office/drawing/2014/main" id="{895FADB5-6DA2-B478-8D5E-D7B1224AE00A}"/>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0824" t="6956" r="17917" b="16225"/>
            <a:stretch/>
          </p:blipFill>
          <p:spPr bwMode="auto">
            <a:xfrm>
              <a:off x="632879" y="3484056"/>
              <a:ext cx="1597585" cy="114816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32" name="Picture 4">
              <a:extLst>
                <a:ext uri="{FF2B5EF4-FFF2-40B4-BE49-F238E27FC236}">
                  <a16:creationId xmlns:a16="http://schemas.microsoft.com/office/drawing/2014/main" id="{39F2EB04-B087-C1A8-38F7-1B9D28ADE4AF}"/>
                </a:ext>
              </a:extLst>
            </p:cNvPr>
            <p:cNvPicPr>
              <a:picLocks noChangeAspect="1" noChangeArrowheads="1"/>
            </p:cNvPicPr>
            <p:nvPr/>
          </p:nvPicPr>
          <p:blipFill>
            <a:blip r:embed="rId10">
              <a:extLst>
                <a:ext uri="{BEBA8EAE-BF5A-486C-A8C5-ECC9F3942E4B}">
                  <a14:imgProps xmlns:a14="http://schemas.microsoft.com/office/drawing/2010/main">
                    <a14:imgLayer r:embed="rId11">
                      <a14:imgEffect>
                        <a14:backgroundRemoval t="3581" b="96931" l="9964" r="89915">
                          <a14:foregroundMark x1="47631" y1="6777" x2="47631" y2="6777"/>
                          <a14:foregroundMark x1="29283" y1="3708" x2="29283" y2="3708"/>
                          <a14:foregroundMark x1="20899" y1="3708" x2="20899" y2="3708"/>
                          <a14:foregroundMark x1="18955" y1="3708" x2="18955" y2="3708"/>
                          <a14:foregroundMark x1="34508" y1="3708" x2="34508" y2="3708"/>
                          <a14:foregroundMark x1="77643" y1="92583" x2="77643" y2="92583"/>
                          <a14:foregroundMark x1="76063" y1="96931" x2="76063" y2="96931"/>
                          <a14:foregroundMark x1="89793" y1="29284" x2="89793" y2="29284"/>
                        </a14:backgroundRemoval>
                      </a14:imgEffect>
                    </a14:imgLayer>
                  </a14:imgProps>
                </a:ext>
                <a:ext uri="{28A0092B-C50C-407E-A947-70E740481C1C}">
                  <a14:useLocalDpi xmlns:a14="http://schemas.microsoft.com/office/drawing/2010/main" val="0"/>
                </a:ext>
              </a:extLst>
            </a:blip>
            <a:srcRect/>
            <a:stretch>
              <a:fillRect/>
            </a:stretch>
          </p:blipFill>
          <p:spPr bwMode="auto">
            <a:xfrm>
              <a:off x="3061556" y="3204954"/>
              <a:ext cx="629087" cy="59781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34" name="Picture 6">
              <a:extLst>
                <a:ext uri="{FF2B5EF4-FFF2-40B4-BE49-F238E27FC236}">
                  <a16:creationId xmlns:a16="http://schemas.microsoft.com/office/drawing/2014/main" id="{6D7B03C3-5503-9BEE-E33B-885FFED23E6D}"/>
                </a:ext>
              </a:extLst>
            </p:cNvPr>
            <p:cNvPicPr>
              <a:picLocks noChangeAspect="1" noChangeArrowheads="1"/>
            </p:cNvPicPr>
            <p:nvPr/>
          </p:nvPicPr>
          <p:blipFill>
            <a:blip r:embed="rId12">
              <a:extLst>
                <a:ext uri="{BEBA8EAE-BF5A-486C-A8C5-ECC9F3942E4B}">
                  <a14:imgProps xmlns:a14="http://schemas.microsoft.com/office/drawing/2010/main">
                    <a14:imgLayer r:embed="rId13">
                      <a14:imgEffect>
                        <a14:backgroundRemoval t="3325" b="96675" l="9964" r="89915">
                          <a14:foregroundMark x1="24058" y1="6777" x2="24058" y2="6777"/>
                          <a14:foregroundMark x1="24787" y1="3581" x2="24787" y2="3581"/>
                          <a14:foregroundMark x1="21264" y1="3708" x2="21264" y2="3708"/>
                          <a14:foregroundMark x1="26367" y1="5115" x2="26367" y2="5115"/>
                          <a14:foregroundMark x1="18955" y1="3836" x2="18955" y2="3836"/>
                          <a14:foregroundMark x1="34143" y1="3581" x2="34143" y2="3581"/>
                          <a14:foregroundMark x1="79222" y1="91944" x2="79222" y2="91944"/>
                          <a14:foregroundMark x1="75577" y1="96803" x2="75577" y2="96803"/>
                          <a14:foregroundMark x1="89915" y1="29028" x2="89915" y2="29028"/>
                          <a14:foregroundMark x1="31227" y1="3581" x2="31227" y2="3581"/>
                          <a14:foregroundMark x1="29040" y1="3325" x2="29040" y2="3325"/>
                        </a14:backgroundRemoval>
                      </a14:imgEffect>
                    </a14:imgLayer>
                  </a14:imgProps>
                </a:ext>
                <a:ext uri="{28A0092B-C50C-407E-A947-70E740481C1C}">
                  <a14:useLocalDpi xmlns:a14="http://schemas.microsoft.com/office/drawing/2010/main" val="0"/>
                </a:ext>
              </a:extLst>
            </a:blip>
            <a:srcRect/>
            <a:stretch>
              <a:fillRect/>
            </a:stretch>
          </p:blipFill>
          <p:spPr bwMode="auto">
            <a:xfrm>
              <a:off x="3061556" y="3760961"/>
              <a:ext cx="625454" cy="59436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35" name="Picture 8">
              <a:extLst>
                <a:ext uri="{FF2B5EF4-FFF2-40B4-BE49-F238E27FC236}">
                  <a16:creationId xmlns:a16="http://schemas.microsoft.com/office/drawing/2014/main" id="{EEFFB563-DE03-CC36-14D6-9B4E936AF0F0}"/>
                </a:ext>
              </a:extLst>
            </p:cNvPr>
            <p:cNvPicPr>
              <a:picLocks noChangeAspect="1" noChangeArrowheads="1"/>
            </p:cNvPicPr>
            <p:nvPr/>
          </p:nvPicPr>
          <p:blipFill>
            <a:blip r:embed="rId14">
              <a:extLst>
                <a:ext uri="{BEBA8EAE-BF5A-486C-A8C5-ECC9F3942E4B}">
                  <a14:imgProps xmlns:a14="http://schemas.microsoft.com/office/drawing/2010/main">
                    <a14:imgLayer r:embed="rId15">
                      <a14:imgEffect>
                        <a14:backgroundRemoval t="5243" b="95652" l="9964" r="89915">
                          <a14:foregroundMark x1="42649" y1="5499" x2="42649" y2="5499"/>
                          <a14:foregroundMark x1="51397" y1="7417" x2="51397" y2="7417"/>
                          <a14:foregroundMark x1="27461" y1="5754" x2="27461" y2="5754"/>
                          <a14:foregroundMark x1="20778" y1="5243" x2="20778" y2="5243"/>
                          <a14:foregroundMark x1="76671" y1="91816" x2="76671" y2="91816"/>
                          <a14:foregroundMark x1="75577" y1="95652" x2="75577" y2="95652"/>
                        </a14:backgroundRemoval>
                      </a14:imgEffect>
                    </a14:imgLayer>
                  </a14:imgProps>
                </a:ext>
                <a:ext uri="{28A0092B-C50C-407E-A947-70E740481C1C}">
                  <a14:useLocalDpi xmlns:a14="http://schemas.microsoft.com/office/drawing/2010/main" val="0"/>
                </a:ext>
              </a:extLst>
            </a:blip>
            <a:srcRect/>
            <a:stretch>
              <a:fillRect/>
            </a:stretch>
          </p:blipFill>
          <p:spPr bwMode="auto">
            <a:xfrm>
              <a:off x="3061556" y="4355321"/>
              <a:ext cx="625454" cy="59436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cxnSp>
          <p:nvCxnSpPr>
            <p:cNvPr id="39" name="Straight Arrow Connector 38">
              <a:extLst>
                <a:ext uri="{FF2B5EF4-FFF2-40B4-BE49-F238E27FC236}">
                  <a16:creationId xmlns:a16="http://schemas.microsoft.com/office/drawing/2014/main" id="{7088684E-6C85-7CEB-12BC-6D7C88BEE1D2}"/>
                </a:ext>
              </a:extLst>
            </p:cNvPr>
            <p:cNvCxnSpPr>
              <a:cxnSpLocks/>
            </p:cNvCxnSpPr>
            <p:nvPr/>
          </p:nvCxnSpPr>
          <p:spPr>
            <a:xfrm flipV="1">
              <a:off x="2230464" y="3463780"/>
              <a:ext cx="932894" cy="297181"/>
            </a:xfrm>
            <a:prstGeom prst="straightConnector1">
              <a:avLst/>
            </a:prstGeom>
            <a:ln w="38100">
              <a:headEnd type="triangle"/>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a:extLst>
                <a:ext uri="{FF2B5EF4-FFF2-40B4-BE49-F238E27FC236}">
                  <a16:creationId xmlns:a16="http://schemas.microsoft.com/office/drawing/2014/main" id="{4751159C-4079-1CED-1793-0DDBE84EB235}"/>
                </a:ext>
              </a:extLst>
            </p:cNvPr>
            <p:cNvCxnSpPr>
              <a:cxnSpLocks/>
              <a:stCxn id="31" idx="3"/>
            </p:cNvCxnSpPr>
            <p:nvPr/>
          </p:nvCxnSpPr>
          <p:spPr>
            <a:xfrm flipV="1">
              <a:off x="2230464" y="4058140"/>
              <a:ext cx="932894" cy="1"/>
            </a:xfrm>
            <a:prstGeom prst="straightConnector1">
              <a:avLst/>
            </a:prstGeom>
            <a:ln w="38100">
              <a:headEnd type="triangle"/>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09CCF963-DFAC-FFEB-B5A3-A5D714DE5B18}"/>
                </a:ext>
              </a:extLst>
            </p:cNvPr>
            <p:cNvCxnSpPr>
              <a:cxnSpLocks/>
            </p:cNvCxnSpPr>
            <p:nvPr/>
          </p:nvCxnSpPr>
          <p:spPr>
            <a:xfrm>
              <a:off x="2230464" y="4355321"/>
              <a:ext cx="932894" cy="276904"/>
            </a:xfrm>
            <a:prstGeom prst="straightConnector1">
              <a:avLst/>
            </a:prstGeom>
            <a:ln w="38100">
              <a:headEnd type="triangle"/>
              <a:tailEnd type="triangle"/>
            </a:ln>
          </p:spPr>
          <p:style>
            <a:lnRef idx="1">
              <a:schemeClr val="dk1"/>
            </a:lnRef>
            <a:fillRef idx="0">
              <a:schemeClr val="dk1"/>
            </a:fillRef>
            <a:effectRef idx="0">
              <a:schemeClr val="dk1"/>
            </a:effectRef>
            <a:fontRef idx="minor">
              <a:schemeClr val="tx1"/>
            </a:fontRef>
          </p:style>
        </p:cxnSp>
      </p:grpSp>
      <p:pic>
        <p:nvPicPr>
          <p:cNvPr id="43" name="Picture 42">
            <a:extLst>
              <a:ext uri="{FF2B5EF4-FFF2-40B4-BE49-F238E27FC236}">
                <a16:creationId xmlns:a16="http://schemas.microsoft.com/office/drawing/2014/main" id="{752D58BB-63B8-6E6A-3CBB-62966F015FD4}"/>
              </a:ext>
            </a:extLst>
          </p:cNvPr>
          <p:cNvPicPr>
            <a:picLocks noChangeAspect="1"/>
          </p:cNvPicPr>
          <p:nvPr/>
        </p:nvPicPr>
        <p:blipFill>
          <a:blip r:embed="rId16"/>
          <a:stretch>
            <a:fillRect/>
          </a:stretch>
        </p:blipFill>
        <p:spPr>
          <a:xfrm>
            <a:off x="8953675" y="2105853"/>
            <a:ext cx="1884043" cy="1773542"/>
          </a:xfrm>
          <a:prstGeom prst="rect">
            <a:avLst/>
          </a:prstGeom>
        </p:spPr>
      </p:pic>
      <p:sp>
        <p:nvSpPr>
          <p:cNvPr id="48" name="TextBox 47">
            <a:extLst>
              <a:ext uri="{FF2B5EF4-FFF2-40B4-BE49-F238E27FC236}">
                <a16:creationId xmlns:a16="http://schemas.microsoft.com/office/drawing/2014/main" id="{2DF87280-1BC7-5E0E-9336-EB981AFC02F7}"/>
              </a:ext>
            </a:extLst>
          </p:cNvPr>
          <p:cNvSpPr txBox="1"/>
          <p:nvPr/>
        </p:nvSpPr>
        <p:spPr>
          <a:xfrm>
            <a:off x="8189458" y="5956767"/>
            <a:ext cx="3498073" cy="276999"/>
          </a:xfrm>
          <a:prstGeom prst="rect">
            <a:avLst/>
          </a:prstGeom>
          <a:noFill/>
        </p:spPr>
        <p:txBody>
          <a:bodyPr wrap="none" rtlCol="0">
            <a:spAutoFit/>
          </a:bodyPr>
          <a:lstStyle/>
          <a:p>
            <a:r>
              <a:rPr lang="en-US" sz="1200" b="1" dirty="0">
                <a:solidFill>
                  <a:srgbClr val="07519E"/>
                </a:solidFill>
              </a:rPr>
              <a:t>POD modes of a 2D heat conduction problem</a:t>
            </a:r>
          </a:p>
        </p:txBody>
      </p:sp>
      <p:sp>
        <p:nvSpPr>
          <p:cNvPr id="49" name="TextBox 48">
            <a:extLst>
              <a:ext uri="{FF2B5EF4-FFF2-40B4-BE49-F238E27FC236}">
                <a16:creationId xmlns:a16="http://schemas.microsoft.com/office/drawing/2014/main" id="{B2053D90-35BC-3664-0C92-32DB29C4DCF2}"/>
              </a:ext>
            </a:extLst>
          </p:cNvPr>
          <p:cNvSpPr txBox="1"/>
          <p:nvPr/>
        </p:nvSpPr>
        <p:spPr>
          <a:xfrm>
            <a:off x="8353736" y="3847606"/>
            <a:ext cx="3303212" cy="276999"/>
          </a:xfrm>
          <a:prstGeom prst="rect">
            <a:avLst/>
          </a:prstGeom>
          <a:noFill/>
        </p:spPr>
        <p:txBody>
          <a:bodyPr wrap="none" rtlCol="0">
            <a:spAutoFit/>
          </a:bodyPr>
          <a:lstStyle/>
          <a:p>
            <a:r>
              <a:rPr lang="en-US" sz="1200" b="1" dirty="0">
                <a:solidFill>
                  <a:srgbClr val="07519E"/>
                </a:solidFill>
              </a:rPr>
              <a:t>UQ on modeling TRSIO Particle Ag release</a:t>
            </a:r>
          </a:p>
        </p:txBody>
      </p:sp>
      <p:sp>
        <p:nvSpPr>
          <p:cNvPr id="50" name="TextBox 49">
            <a:extLst>
              <a:ext uri="{FF2B5EF4-FFF2-40B4-BE49-F238E27FC236}">
                <a16:creationId xmlns:a16="http://schemas.microsoft.com/office/drawing/2014/main" id="{AE28CFB9-5677-5FE9-AAFC-DCFD5F4E88AB}"/>
              </a:ext>
            </a:extLst>
          </p:cNvPr>
          <p:cNvSpPr txBox="1"/>
          <p:nvPr/>
        </p:nvSpPr>
        <p:spPr>
          <a:xfrm>
            <a:off x="8621294" y="1773393"/>
            <a:ext cx="2518638" cy="276999"/>
          </a:xfrm>
          <a:prstGeom prst="rect">
            <a:avLst/>
          </a:prstGeom>
          <a:noFill/>
        </p:spPr>
        <p:txBody>
          <a:bodyPr wrap="none" rtlCol="0">
            <a:spAutoFit/>
          </a:bodyPr>
          <a:lstStyle/>
          <a:p>
            <a:r>
              <a:rPr lang="en-US" sz="1200" b="1" dirty="0">
                <a:solidFill>
                  <a:srgbClr val="07519E"/>
                </a:solidFill>
              </a:rPr>
              <a:t>General process for forward UQ</a:t>
            </a:r>
          </a:p>
        </p:txBody>
      </p:sp>
      <p:sp>
        <p:nvSpPr>
          <p:cNvPr id="51" name="TextBox 50">
            <a:extLst>
              <a:ext uri="{FF2B5EF4-FFF2-40B4-BE49-F238E27FC236}">
                <a16:creationId xmlns:a16="http://schemas.microsoft.com/office/drawing/2014/main" id="{954D0E93-EAD5-68C2-1CFC-72D4F336D338}"/>
              </a:ext>
            </a:extLst>
          </p:cNvPr>
          <p:cNvSpPr txBox="1"/>
          <p:nvPr/>
        </p:nvSpPr>
        <p:spPr>
          <a:xfrm>
            <a:off x="5482691" y="6550223"/>
            <a:ext cx="1226618" cy="307777"/>
          </a:xfrm>
          <a:prstGeom prst="rect">
            <a:avLst/>
          </a:prstGeom>
          <a:noFill/>
        </p:spPr>
        <p:txBody>
          <a:bodyPr wrap="none" rtlCol="0">
            <a:spAutoFit/>
          </a:bodyPr>
          <a:lstStyle/>
          <a:p>
            <a:r>
              <a:rPr lang="en-US" sz="1400" b="1" i="0" dirty="0">
                <a:solidFill>
                  <a:srgbClr val="07519E"/>
                </a:solidFill>
                <a:effectLst/>
                <a:latin typeface="Arial" panose="020B0604020202020204" pitchFamily="34" charset="0"/>
              </a:rPr>
              <a:t>Introduction</a:t>
            </a:r>
            <a:endParaRPr lang="en-US" sz="1400" b="1" dirty="0">
              <a:solidFill>
                <a:srgbClr val="07519E"/>
              </a:solidFill>
            </a:endParaRPr>
          </a:p>
        </p:txBody>
      </p:sp>
    </p:spTree>
    <p:extLst>
      <p:ext uri="{BB962C8B-B14F-4D97-AF65-F5344CB8AC3E}">
        <p14:creationId xmlns:p14="http://schemas.microsoft.com/office/powerpoint/2010/main" val="311762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C695D-134B-0792-933A-6192CB9D08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26762E-9ABD-5314-BFC2-61C9DF478FFA}"/>
              </a:ext>
            </a:extLst>
          </p:cNvPr>
          <p:cNvSpPr>
            <a:spLocks noGrp="1"/>
          </p:cNvSpPr>
          <p:nvPr>
            <p:ph type="title"/>
          </p:nvPr>
        </p:nvSpPr>
        <p:spPr>
          <a:xfrm>
            <a:off x="938151" y="558602"/>
            <a:ext cx="10415648" cy="413463"/>
          </a:xfrm>
        </p:spPr>
        <p:txBody>
          <a:bodyPr/>
          <a:lstStyle/>
          <a:p>
            <a:r>
              <a:rPr lang="en-US" dirty="0"/>
              <a:t>Recent developments in MOOSE STM</a:t>
            </a:r>
          </a:p>
        </p:txBody>
      </p:sp>
      <p:sp>
        <p:nvSpPr>
          <p:cNvPr id="4" name="Slide Number Placeholder 3">
            <a:extLst>
              <a:ext uri="{FF2B5EF4-FFF2-40B4-BE49-F238E27FC236}">
                <a16:creationId xmlns:a16="http://schemas.microsoft.com/office/drawing/2014/main" id="{C6B54C7B-C82D-AAB7-2F35-BFBF6B19A1C8}"/>
              </a:ext>
            </a:extLst>
          </p:cNvPr>
          <p:cNvSpPr>
            <a:spLocks noGrp="1"/>
          </p:cNvSpPr>
          <p:nvPr>
            <p:ph type="sldNum" sz="quarter" idx="12"/>
          </p:nvPr>
        </p:nvSpPr>
        <p:spPr/>
        <p:txBody>
          <a:bodyPr/>
          <a:lstStyle/>
          <a:p>
            <a:fld id="{82B577FA-F7D9-2C48-919F-F962E3BF952F}" type="slidenum">
              <a:rPr lang="en-US" smtClean="0"/>
              <a:t>3</a:t>
            </a:fld>
            <a:endParaRPr lang="en-US"/>
          </a:p>
        </p:txBody>
      </p:sp>
      <p:pic>
        <p:nvPicPr>
          <p:cNvPr id="8" name="Picture 7" descr="Chart&#10;&#10;AI-generated content may be incorrect.">
            <a:extLst>
              <a:ext uri="{FF2B5EF4-FFF2-40B4-BE49-F238E27FC236}">
                <a16:creationId xmlns:a16="http://schemas.microsoft.com/office/drawing/2014/main" id="{3BC4A952-3B50-AA2D-2977-9884F326C2B0}"/>
              </a:ext>
            </a:extLst>
          </p:cNvPr>
          <p:cNvPicPr>
            <a:picLocks noChangeAspect="1"/>
          </p:cNvPicPr>
          <p:nvPr/>
        </p:nvPicPr>
        <p:blipFill>
          <a:blip r:embed="rId2"/>
          <a:stretch>
            <a:fillRect/>
          </a:stretch>
        </p:blipFill>
        <p:spPr>
          <a:xfrm>
            <a:off x="155020" y="1441082"/>
            <a:ext cx="3946502" cy="3178752"/>
          </a:xfrm>
          <a:prstGeom prst="rect">
            <a:avLst/>
          </a:prstGeom>
        </p:spPr>
      </p:pic>
      <p:pic>
        <p:nvPicPr>
          <p:cNvPr id="10" name="Picture 9">
            <a:extLst>
              <a:ext uri="{FF2B5EF4-FFF2-40B4-BE49-F238E27FC236}">
                <a16:creationId xmlns:a16="http://schemas.microsoft.com/office/drawing/2014/main" id="{AB44C86F-76D2-B84B-79AD-39C786C0930A}"/>
              </a:ext>
            </a:extLst>
          </p:cNvPr>
          <p:cNvPicPr>
            <a:picLocks noChangeAspect="1"/>
          </p:cNvPicPr>
          <p:nvPr/>
        </p:nvPicPr>
        <p:blipFill>
          <a:blip r:embed="rId3"/>
          <a:stretch>
            <a:fillRect/>
          </a:stretch>
        </p:blipFill>
        <p:spPr>
          <a:xfrm>
            <a:off x="5547741" y="1568864"/>
            <a:ext cx="6351321" cy="1971407"/>
          </a:xfrm>
          <a:prstGeom prst="rect">
            <a:avLst/>
          </a:prstGeom>
        </p:spPr>
      </p:pic>
      <p:pic>
        <p:nvPicPr>
          <p:cNvPr id="12" name="Picture 11" descr="Diagram&#10;&#10;AI-generated content may be incorrect.">
            <a:extLst>
              <a:ext uri="{FF2B5EF4-FFF2-40B4-BE49-F238E27FC236}">
                <a16:creationId xmlns:a16="http://schemas.microsoft.com/office/drawing/2014/main" id="{25A06A06-156E-1A22-9431-5E0E3EED24F7}"/>
              </a:ext>
            </a:extLst>
          </p:cNvPr>
          <p:cNvPicPr>
            <a:picLocks noChangeAspect="1"/>
          </p:cNvPicPr>
          <p:nvPr/>
        </p:nvPicPr>
        <p:blipFill>
          <a:blip r:embed="rId4"/>
          <a:stretch>
            <a:fillRect/>
          </a:stretch>
        </p:blipFill>
        <p:spPr>
          <a:xfrm>
            <a:off x="3665568" y="3429000"/>
            <a:ext cx="4860864" cy="2837117"/>
          </a:xfrm>
          <a:prstGeom prst="rect">
            <a:avLst/>
          </a:prstGeom>
        </p:spPr>
      </p:pic>
      <p:sp>
        <p:nvSpPr>
          <p:cNvPr id="14" name="TextBox 13">
            <a:extLst>
              <a:ext uri="{FF2B5EF4-FFF2-40B4-BE49-F238E27FC236}">
                <a16:creationId xmlns:a16="http://schemas.microsoft.com/office/drawing/2014/main" id="{06B42953-595C-79A6-CEB0-C540D5935E8E}"/>
              </a:ext>
            </a:extLst>
          </p:cNvPr>
          <p:cNvSpPr txBox="1"/>
          <p:nvPr/>
        </p:nvSpPr>
        <p:spPr>
          <a:xfrm>
            <a:off x="775373" y="4619834"/>
            <a:ext cx="2269842" cy="923330"/>
          </a:xfrm>
          <a:prstGeom prst="rect">
            <a:avLst/>
          </a:prstGeom>
          <a:noFill/>
        </p:spPr>
        <p:txBody>
          <a:bodyPr wrap="square">
            <a:spAutoFit/>
          </a:bodyPr>
          <a:lstStyle/>
          <a:p>
            <a:pPr algn="ctr"/>
            <a:r>
              <a:rPr lang="en-US" sz="1800" b="1" dirty="0">
                <a:solidFill>
                  <a:schemeClr val="tx1"/>
                </a:solidFill>
              </a:rPr>
              <a:t>Parallel Markov chain Monte Carlo: for Bayesian UQ</a:t>
            </a:r>
            <a:endParaRPr lang="en-US" b="1" dirty="0"/>
          </a:p>
        </p:txBody>
      </p:sp>
      <p:sp>
        <p:nvSpPr>
          <p:cNvPr id="15" name="TextBox 14">
            <a:extLst>
              <a:ext uri="{FF2B5EF4-FFF2-40B4-BE49-F238E27FC236}">
                <a16:creationId xmlns:a16="http://schemas.microsoft.com/office/drawing/2014/main" id="{F1304B38-ACE4-84F1-38BB-1EC0DD359056}"/>
              </a:ext>
            </a:extLst>
          </p:cNvPr>
          <p:cNvSpPr txBox="1"/>
          <p:nvPr/>
        </p:nvSpPr>
        <p:spPr>
          <a:xfrm>
            <a:off x="5011054" y="6266117"/>
            <a:ext cx="2269842" cy="646331"/>
          </a:xfrm>
          <a:prstGeom prst="rect">
            <a:avLst/>
          </a:prstGeom>
          <a:noFill/>
        </p:spPr>
        <p:txBody>
          <a:bodyPr wrap="square">
            <a:spAutoFit/>
          </a:bodyPr>
          <a:lstStyle/>
          <a:p>
            <a:pPr algn="ctr"/>
            <a:r>
              <a:rPr lang="en-US" sz="1800" b="1" dirty="0">
                <a:solidFill>
                  <a:schemeClr val="tx1"/>
                </a:solidFill>
              </a:rPr>
              <a:t>Gaussian process variants</a:t>
            </a:r>
            <a:endParaRPr lang="en-US" b="1" dirty="0"/>
          </a:p>
        </p:txBody>
      </p:sp>
      <p:sp>
        <p:nvSpPr>
          <p:cNvPr id="16" name="TextBox 15">
            <a:extLst>
              <a:ext uri="{FF2B5EF4-FFF2-40B4-BE49-F238E27FC236}">
                <a16:creationId xmlns:a16="http://schemas.microsoft.com/office/drawing/2014/main" id="{722782A4-8B3F-08F6-9941-625FDC18A2D3}"/>
              </a:ext>
            </a:extLst>
          </p:cNvPr>
          <p:cNvSpPr txBox="1"/>
          <p:nvPr/>
        </p:nvSpPr>
        <p:spPr>
          <a:xfrm>
            <a:off x="8011864" y="3540271"/>
            <a:ext cx="2269842" cy="646331"/>
          </a:xfrm>
          <a:prstGeom prst="rect">
            <a:avLst/>
          </a:prstGeom>
          <a:noFill/>
        </p:spPr>
        <p:txBody>
          <a:bodyPr wrap="square">
            <a:spAutoFit/>
          </a:bodyPr>
          <a:lstStyle/>
          <a:p>
            <a:pPr algn="ctr"/>
            <a:r>
              <a:rPr lang="en-US" sz="1800" b="1" dirty="0">
                <a:solidFill>
                  <a:schemeClr val="tx1"/>
                </a:solidFill>
              </a:rPr>
              <a:t>Parallel active learning</a:t>
            </a:r>
            <a:endParaRPr lang="en-US" b="1" dirty="0"/>
          </a:p>
        </p:txBody>
      </p:sp>
    </p:spTree>
    <p:extLst>
      <p:ext uri="{BB962C8B-B14F-4D97-AF65-F5344CB8AC3E}">
        <p14:creationId xmlns:p14="http://schemas.microsoft.com/office/powerpoint/2010/main" val="2197065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4D428-D6F5-C768-6C63-BED6DB0457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FF3F5C-BF60-4EAB-5017-E9C471E9D9FA}"/>
              </a:ext>
            </a:extLst>
          </p:cNvPr>
          <p:cNvSpPr>
            <a:spLocks noGrp="1"/>
          </p:cNvSpPr>
          <p:nvPr>
            <p:ph type="title"/>
          </p:nvPr>
        </p:nvSpPr>
        <p:spPr>
          <a:xfrm>
            <a:off x="938151" y="558602"/>
            <a:ext cx="10415648" cy="413463"/>
          </a:xfrm>
        </p:spPr>
        <p:txBody>
          <a:bodyPr/>
          <a:lstStyle/>
          <a:p>
            <a:r>
              <a:rPr lang="en-US" dirty="0"/>
              <a:t>Focus of this training session</a:t>
            </a:r>
          </a:p>
        </p:txBody>
      </p:sp>
      <p:sp>
        <p:nvSpPr>
          <p:cNvPr id="4" name="Slide Number Placeholder 3">
            <a:extLst>
              <a:ext uri="{FF2B5EF4-FFF2-40B4-BE49-F238E27FC236}">
                <a16:creationId xmlns:a16="http://schemas.microsoft.com/office/drawing/2014/main" id="{FD2FBD87-D265-2A79-0568-1E5763793E9C}"/>
              </a:ext>
            </a:extLst>
          </p:cNvPr>
          <p:cNvSpPr>
            <a:spLocks noGrp="1"/>
          </p:cNvSpPr>
          <p:nvPr>
            <p:ph type="sldNum" sz="quarter" idx="12"/>
          </p:nvPr>
        </p:nvSpPr>
        <p:spPr/>
        <p:txBody>
          <a:bodyPr/>
          <a:lstStyle/>
          <a:p>
            <a:fld id="{82B577FA-F7D9-2C48-919F-F962E3BF952F}" type="slidenum">
              <a:rPr lang="en-US" smtClean="0"/>
              <a:t>4</a:t>
            </a:fld>
            <a:endParaRPr lang="en-US"/>
          </a:p>
        </p:txBody>
      </p:sp>
      <p:sp>
        <p:nvSpPr>
          <p:cNvPr id="5" name="TextBox 4">
            <a:extLst>
              <a:ext uri="{FF2B5EF4-FFF2-40B4-BE49-F238E27FC236}">
                <a16:creationId xmlns:a16="http://schemas.microsoft.com/office/drawing/2014/main" id="{7953963E-D5A2-03AC-FE23-AF9D02AF640E}"/>
              </a:ext>
            </a:extLst>
          </p:cNvPr>
          <p:cNvSpPr txBox="1"/>
          <p:nvPr/>
        </p:nvSpPr>
        <p:spPr>
          <a:xfrm>
            <a:off x="5482691" y="6550223"/>
            <a:ext cx="1226618" cy="307777"/>
          </a:xfrm>
          <a:prstGeom prst="rect">
            <a:avLst/>
          </a:prstGeom>
          <a:noFill/>
        </p:spPr>
        <p:txBody>
          <a:bodyPr wrap="none" rtlCol="0">
            <a:spAutoFit/>
          </a:bodyPr>
          <a:lstStyle/>
          <a:p>
            <a:r>
              <a:rPr lang="en-US" sz="1400" b="1" i="0" dirty="0">
                <a:solidFill>
                  <a:srgbClr val="07519E"/>
                </a:solidFill>
                <a:effectLst/>
                <a:latin typeface="Arial" panose="020B0604020202020204" pitchFamily="34" charset="0"/>
              </a:rPr>
              <a:t>Introduction</a:t>
            </a:r>
            <a:endParaRPr lang="en-US" sz="1400" b="1" dirty="0">
              <a:solidFill>
                <a:srgbClr val="07519E"/>
              </a:solidFill>
            </a:endParaRPr>
          </a:p>
        </p:txBody>
      </p:sp>
      <p:sp>
        <p:nvSpPr>
          <p:cNvPr id="6" name="Content Placeholder 2">
            <a:extLst>
              <a:ext uri="{FF2B5EF4-FFF2-40B4-BE49-F238E27FC236}">
                <a16:creationId xmlns:a16="http://schemas.microsoft.com/office/drawing/2014/main" id="{48414DE1-B19E-7E56-96B5-0842012489CF}"/>
              </a:ext>
            </a:extLst>
          </p:cNvPr>
          <p:cNvSpPr>
            <a:spLocks noGrp="1"/>
          </p:cNvSpPr>
          <p:nvPr>
            <p:ph idx="1"/>
          </p:nvPr>
        </p:nvSpPr>
        <p:spPr>
          <a:xfrm>
            <a:off x="298602" y="1331188"/>
            <a:ext cx="6762969" cy="4831476"/>
          </a:xfrm>
        </p:spPr>
        <p:txBody>
          <a:bodyPr/>
          <a:lstStyle/>
          <a:p>
            <a:r>
              <a:rPr lang="en-US" sz="1600" dirty="0">
                <a:solidFill>
                  <a:schemeClr val="tx1"/>
                </a:solidFill>
              </a:rPr>
              <a:t>Part 1: forward uncertainty quantification</a:t>
            </a:r>
          </a:p>
          <a:p>
            <a:pPr lvl="1"/>
            <a:r>
              <a:rPr lang="en-US" sz="1600" dirty="0">
                <a:solidFill>
                  <a:schemeClr val="tx1"/>
                </a:solidFill>
              </a:rPr>
              <a:t>Uncertainty propagation through Monte Carlo sampling</a:t>
            </a:r>
          </a:p>
          <a:p>
            <a:pPr lvl="1"/>
            <a:r>
              <a:rPr lang="en-US" sz="1600" dirty="0">
                <a:solidFill>
                  <a:schemeClr val="tx1"/>
                </a:solidFill>
              </a:rPr>
              <a:t>Sensitivity analysis using Sobol indices</a:t>
            </a:r>
          </a:p>
          <a:p>
            <a:pPr lvl="1"/>
            <a:r>
              <a:rPr lang="en-US" sz="1600" dirty="0">
                <a:solidFill>
                  <a:schemeClr val="tx1"/>
                </a:solidFill>
              </a:rPr>
              <a:t>Rare events analysis using parallel subset simulation [EXCLUDE]</a:t>
            </a:r>
          </a:p>
          <a:p>
            <a:endParaRPr lang="en-US" sz="1600" dirty="0">
              <a:solidFill>
                <a:schemeClr val="tx1"/>
              </a:solidFill>
            </a:endParaRPr>
          </a:p>
          <a:p>
            <a:r>
              <a:rPr lang="en-US" sz="1600" dirty="0">
                <a:solidFill>
                  <a:schemeClr val="tx1"/>
                </a:solidFill>
              </a:rPr>
              <a:t>Part 2: Bayesian (inverse) uncertainty quantification</a:t>
            </a:r>
          </a:p>
          <a:p>
            <a:pPr lvl="1"/>
            <a:r>
              <a:rPr lang="en-US" sz="1600" dirty="0">
                <a:solidFill>
                  <a:schemeClr val="tx1"/>
                </a:solidFill>
              </a:rPr>
              <a:t>Model parameter uncertainties</a:t>
            </a:r>
          </a:p>
          <a:p>
            <a:pPr lvl="1"/>
            <a:r>
              <a:rPr lang="en-US" sz="1600" dirty="0">
                <a:solidFill>
                  <a:schemeClr val="tx1"/>
                </a:solidFill>
              </a:rPr>
              <a:t>Model parameter + noise uncertainties</a:t>
            </a:r>
          </a:p>
          <a:p>
            <a:pPr lvl="1"/>
            <a:r>
              <a:rPr lang="en-US" sz="1600" dirty="0">
                <a:solidFill>
                  <a:schemeClr val="tx1"/>
                </a:solidFill>
              </a:rPr>
              <a:t>Model parameter + noise + model inadequacy uncertainties</a:t>
            </a:r>
          </a:p>
          <a:p>
            <a:pPr lvl="1"/>
            <a:endParaRPr lang="en-US" sz="1600" dirty="0">
              <a:solidFill>
                <a:schemeClr val="tx1"/>
              </a:solidFill>
            </a:endParaRPr>
          </a:p>
          <a:p>
            <a:r>
              <a:rPr lang="en-US" sz="1600" dirty="0">
                <a:solidFill>
                  <a:schemeClr val="tx1"/>
                </a:solidFill>
              </a:rPr>
              <a:t>Part 3: active learning</a:t>
            </a:r>
          </a:p>
          <a:p>
            <a:pPr lvl="1"/>
            <a:r>
              <a:rPr lang="en-US" sz="1600" dirty="0">
                <a:solidFill>
                  <a:schemeClr val="tx1"/>
                </a:solidFill>
              </a:rPr>
              <a:t>Training a Gaussian process surrogate with Monte Carlo sampling</a:t>
            </a:r>
          </a:p>
          <a:p>
            <a:pPr lvl="1"/>
            <a:r>
              <a:rPr lang="en-US" sz="1600" dirty="0">
                <a:solidFill>
                  <a:schemeClr val="tx1"/>
                </a:solidFill>
              </a:rPr>
              <a:t>Use of an acquisition function</a:t>
            </a:r>
          </a:p>
          <a:p>
            <a:pPr lvl="1"/>
            <a:r>
              <a:rPr lang="en-US" sz="1600" dirty="0">
                <a:solidFill>
                  <a:schemeClr val="tx1"/>
                </a:solidFill>
              </a:rPr>
              <a:t>Solving optimization problems with Bayesian optimization</a:t>
            </a:r>
          </a:p>
          <a:p>
            <a:endParaRPr lang="en-US" sz="1600" dirty="0">
              <a:solidFill>
                <a:schemeClr val="tx1"/>
              </a:solidFill>
            </a:endParaRPr>
          </a:p>
          <a:p>
            <a:pPr lvl="1"/>
            <a:endParaRPr lang="en-US" sz="1800" dirty="0">
              <a:solidFill>
                <a:schemeClr val="tx1"/>
              </a:solidFill>
            </a:endParaRPr>
          </a:p>
        </p:txBody>
      </p:sp>
      <p:pic>
        <p:nvPicPr>
          <p:cNvPr id="7" name="Picture 6" descr="Chart&#10;&#10;AI-generated content may be incorrect.">
            <a:extLst>
              <a:ext uri="{FF2B5EF4-FFF2-40B4-BE49-F238E27FC236}">
                <a16:creationId xmlns:a16="http://schemas.microsoft.com/office/drawing/2014/main" id="{4E5A3E9C-762C-3E08-A753-3396CB9053A8}"/>
              </a:ext>
            </a:extLst>
          </p:cNvPr>
          <p:cNvPicPr>
            <a:picLocks noChangeAspect="1"/>
          </p:cNvPicPr>
          <p:nvPr/>
        </p:nvPicPr>
        <p:blipFill>
          <a:blip r:embed="rId2"/>
          <a:stretch>
            <a:fillRect/>
          </a:stretch>
        </p:blipFill>
        <p:spPr>
          <a:xfrm>
            <a:off x="7275153" y="972065"/>
            <a:ext cx="4412062" cy="4274615"/>
          </a:xfrm>
          <a:prstGeom prst="rect">
            <a:avLst/>
          </a:prstGeom>
        </p:spPr>
      </p:pic>
      <p:sp>
        <p:nvSpPr>
          <p:cNvPr id="10" name="TextBox 9">
            <a:extLst>
              <a:ext uri="{FF2B5EF4-FFF2-40B4-BE49-F238E27FC236}">
                <a16:creationId xmlns:a16="http://schemas.microsoft.com/office/drawing/2014/main" id="{08CACC87-4E58-D53A-7B37-FFFBABB03CFD}"/>
              </a:ext>
            </a:extLst>
          </p:cNvPr>
          <p:cNvSpPr txBox="1"/>
          <p:nvPr/>
        </p:nvSpPr>
        <p:spPr>
          <a:xfrm>
            <a:off x="8401467" y="5239604"/>
            <a:ext cx="2511263" cy="646331"/>
          </a:xfrm>
          <a:prstGeom prst="rect">
            <a:avLst/>
          </a:prstGeom>
          <a:noFill/>
        </p:spPr>
        <p:txBody>
          <a:bodyPr wrap="square">
            <a:spAutoFit/>
          </a:bodyPr>
          <a:lstStyle/>
          <a:p>
            <a:pPr algn="ctr"/>
            <a:r>
              <a:rPr lang="en-US" sz="1800" dirty="0">
                <a:solidFill>
                  <a:schemeClr val="tx1"/>
                </a:solidFill>
              </a:rPr>
              <a:t>TRISO fuel fission product release</a:t>
            </a:r>
            <a:endParaRPr lang="en-US" dirty="0"/>
          </a:p>
        </p:txBody>
      </p:sp>
    </p:spTree>
    <p:extLst>
      <p:ext uri="{BB962C8B-B14F-4D97-AF65-F5344CB8AC3E}">
        <p14:creationId xmlns:p14="http://schemas.microsoft.com/office/powerpoint/2010/main" val="598283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83C8A-323D-F8BA-8C2D-5C5A063AB72C}"/>
              </a:ext>
            </a:extLst>
          </p:cNvPr>
          <p:cNvSpPr>
            <a:spLocks noGrp="1"/>
          </p:cNvSpPr>
          <p:nvPr>
            <p:ph type="title"/>
          </p:nvPr>
        </p:nvSpPr>
        <p:spPr>
          <a:xfrm>
            <a:off x="888176" y="2198167"/>
            <a:ext cx="10415648" cy="1008797"/>
          </a:xfrm>
        </p:spPr>
        <p:txBody>
          <a:bodyPr/>
          <a:lstStyle/>
          <a:p>
            <a:pPr algn="ctr"/>
            <a:r>
              <a:rPr lang="en-US" dirty="0"/>
              <a:t>Part 1: Forward uncertainty quantification</a:t>
            </a:r>
          </a:p>
        </p:txBody>
      </p:sp>
      <p:sp>
        <p:nvSpPr>
          <p:cNvPr id="3" name="Slide Number Placeholder 2">
            <a:extLst>
              <a:ext uri="{FF2B5EF4-FFF2-40B4-BE49-F238E27FC236}">
                <a16:creationId xmlns:a16="http://schemas.microsoft.com/office/drawing/2014/main" id="{B711A0E5-688E-2246-ECC1-2467B2898B3C}"/>
              </a:ext>
            </a:extLst>
          </p:cNvPr>
          <p:cNvSpPr>
            <a:spLocks noGrp="1"/>
          </p:cNvSpPr>
          <p:nvPr>
            <p:ph type="sldNum" sz="quarter" idx="12"/>
          </p:nvPr>
        </p:nvSpPr>
        <p:spPr/>
        <p:txBody>
          <a:bodyPr/>
          <a:lstStyle/>
          <a:p>
            <a:fld id="{82B577FA-F7D9-2C48-919F-F962E3BF952F}" type="slidenum">
              <a:rPr lang="en-US" smtClean="0"/>
              <a:t>5</a:t>
            </a:fld>
            <a:endParaRPr lang="en-US"/>
          </a:p>
        </p:txBody>
      </p:sp>
      <p:sp>
        <p:nvSpPr>
          <p:cNvPr id="5" name="TextBox 4">
            <a:extLst>
              <a:ext uri="{FF2B5EF4-FFF2-40B4-BE49-F238E27FC236}">
                <a16:creationId xmlns:a16="http://schemas.microsoft.com/office/drawing/2014/main" id="{21385E79-03BC-76E7-72B0-C33BA5556CC0}"/>
              </a:ext>
            </a:extLst>
          </p:cNvPr>
          <p:cNvSpPr txBox="1"/>
          <p:nvPr/>
        </p:nvSpPr>
        <p:spPr>
          <a:xfrm>
            <a:off x="2619241" y="2967335"/>
            <a:ext cx="6953518" cy="923330"/>
          </a:xfrm>
          <a:prstGeom prst="rect">
            <a:avLst/>
          </a:prstGeom>
          <a:noFill/>
        </p:spPr>
        <p:txBody>
          <a:bodyPr wrap="square">
            <a:spAutoFit/>
          </a:bodyPr>
          <a:lstStyle/>
          <a:p>
            <a:pPr marL="742950" lvl="1" indent="-285750">
              <a:buFont typeface="Arial" panose="020B0604020202020204" pitchFamily="34" charset="0"/>
              <a:buChar char="•"/>
            </a:pPr>
            <a:r>
              <a:rPr lang="en-US" sz="1800" dirty="0">
                <a:solidFill>
                  <a:schemeClr val="tx1"/>
                </a:solidFill>
              </a:rPr>
              <a:t>Uncertainty propagation through Monte Carlo sampling</a:t>
            </a:r>
          </a:p>
          <a:p>
            <a:pPr marL="742950" lvl="1" indent="-285750">
              <a:buFont typeface="Arial" panose="020B0604020202020204" pitchFamily="34" charset="0"/>
              <a:buChar char="•"/>
            </a:pPr>
            <a:r>
              <a:rPr lang="en-US" sz="1800" dirty="0">
                <a:solidFill>
                  <a:schemeClr val="tx1"/>
                </a:solidFill>
              </a:rPr>
              <a:t>Sensitivity analysis using Sobol indices</a:t>
            </a:r>
          </a:p>
          <a:p>
            <a:pPr marL="742950" lvl="1" indent="-285750">
              <a:buFont typeface="Arial" panose="020B0604020202020204" pitchFamily="34" charset="0"/>
              <a:buChar char="•"/>
            </a:pPr>
            <a:r>
              <a:rPr lang="en-US" sz="1800" dirty="0">
                <a:solidFill>
                  <a:schemeClr val="tx1"/>
                </a:solidFill>
              </a:rPr>
              <a:t>Rare events analysis using parallel subset simulation</a:t>
            </a:r>
            <a:endParaRPr lang="en-US" dirty="0"/>
          </a:p>
        </p:txBody>
      </p:sp>
    </p:spTree>
    <p:extLst>
      <p:ext uri="{BB962C8B-B14F-4D97-AF65-F5344CB8AC3E}">
        <p14:creationId xmlns:p14="http://schemas.microsoft.com/office/powerpoint/2010/main" val="845357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825D2-3775-8D00-54B3-430F0B1042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4BA813-AA37-D322-FDDE-1E1972F2E857}"/>
              </a:ext>
            </a:extLst>
          </p:cNvPr>
          <p:cNvSpPr>
            <a:spLocks noGrp="1"/>
          </p:cNvSpPr>
          <p:nvPr>
            <p:ph type="title"/>
          </p:nvPr>
        </p:nvSpPr>
        <p:spPr>
          <a:xfrm>
            <a:off x="938151" y="558602"/>
            <a:ext cx="10415648" cy="413463"/>
          </a:xfrm>
        </p:spPr>
        <p:txBody>
          <a:bodyPr/>
          <a:lstStyle/>
          <a:p>
            <a:r>
              <a:rPr lang="en-US" dirty="0"/>
              <a:t>Uncertainty propagation to model outputs</a:t>
            </a:r>
          </a:p>
        </p:txBody>
      </p:sp>
      <p:sp>
        <p:nvSpPr>
          <p:cNvPr id="4" name="Slide Number Placeholder 3">
            <a:extLst>
              <a:ext uri="{FF2B5EF4-FFF2-40B4-BE49-F238E27FC236}">
                <a16:creationId xmlns:a16="http://schemas.microsoft.com/office/drawing/2014/main" id="{E889E501-DD6D-FF5F-683A-1D5B4CD72571}"/>
              </a:ext>
            </a:extLst>
          </p:cNvPr>
          <p:cNvSpPr>
            <a:spLocks noGrp="1"/>
          </p:cNvSpPr>
          <p:nvPr>
            <p:ph type="sldNum" sz="quarter" idx="12"/>
          </p:nvPr>
        </p:nvSpPr>
        <p:spPr/>
        <p:txBody>
          <a:bodyPr/>
          <a:lstStyle/>
          <a:p>
            <a:fld id="{82B577FA-F7D9-2C48-919F-F962E3BF952F}" type="slidenum">
              <a:rPr lang="en-US" smtClean="0"/>
              <a:t>6</a:t>
            </a:fld>
            <a:endParaRPr lang="en-US"/>
          </a:p>
        </p:txBody>
      </p:sp>
      <p:sp>
        <p:nvSpPr>
          <p:cNvPr id="5" name="TextBox 4">
            <a:extLst>
              <a:ext uri="{FF2B5EF4-FFF2-40B4-BE49-F238E27FC236}">
                <a16:creationId xmlns:a16="http://schemas.microsoft.com/office/drawing/2014/main" id="{CDFC37E6-BBFB-093D-86F9-7E86F4012FC9}"/>
              </a:ext>
            </a:extLst>
          </p:cNvPr>
          <p:cNvSpPr txBox="1"/>
          <p:nvPr/>
        </p:nvSpPr>
        <p:spPr>
          <a:xfrm>
            <a:off x="5236912" y="6550223"/>
            <a:ext cx="1818126" cy="307777"/>
          </a:xfrm>
          <a:prstGeom prst="rect">
            <a:avLst/>
          </a:prstGeom>
          <a:noFill/>
        </p:spPr>
        <p:txBody>
          <a:bodyPr wrap="none" rtlCol="0">
            <a:spAutoFit/>
          </a:bodyPr>
          <a:lstStyle/>
          <a:p>
            <a:r>
              <a:rPr lang="en-US" sz="1400" b="1" i="0" dirty="0">
                <a:solidFill>
                  <a:srgbClr val="07519E"/>
                </a:solidFill>
                <a:effectLst/>
                <a:latin typeface="Arial" panose="020B0604020202020204" pitchFamily="34" charset="0"/>
              </a:rPr>
              <a:t>Part 1: Forward UQ</a:t>
            </a:r>
            <a:endParaRPr lang="en-US" sz="1400" b="1" dirty="0">
              <a:solidFill>
                <a:srgbClr val="07519E"/>
              </a:solidFill>
            </a:endParaRPr>
          </a:p>
        </p:txBody>
      </p:sp>
      <p:sp>
        <p:nvSpPr>
          <p:cNvPr id="3" name="Rounded Rectangle 2">
            <a:extLst>
              <a:ext uri="{FF2B5EF4-FFF2-40B4-BE49-F238E27FC236}">
                <a16:creationId xmlns:a16="http://schemas.microsoft.com/office/drawing/2014/main" id="{52692089-A6BE-B694-3650-769AD73D916D}"/>
              </a:ext>
            </a:extLst>
          </p:cNvPr>
          <p:cNvSpPr/>
          <p:nvPr/>
        </p:nvSpPr>
        <p:spPr>
          <a:xfrm>
            <a:off x="5214889" y="2949273"/>
            <a:ext cx="1862172" cy="959453"/>
          </a:xfrm>
          <a:prstGeom prst="roundRect">
            <a:avLst/>
          </a:prstGeom>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MOOSE computational model</a:t>
            </a:r>
          </a:p>
        </p:txBody>
      </p:sp>
      <p:sp>
        <p:nvSpPr>
          <p:cNvPr id="7" name="TextBox 6">
            <a:extLst>
              <a:ext uri="{FF2B5EF4-FFF2-40B4-BE49-F238E27FC236}">
                <a16:creationId xmlns:a16="http://schemas.microsoft.com/office/drawing/2014/main" id="{E458EB83-CD31-8CF6-4BAC-754B339E985F}"/>
              </a:ext>
            </a:extLst>
          </p:cNvPr>
          <p:cNvSpPr txBox="1"/>
          <p:nvPr/>
        </p:nvSpPr>
        <p:spPr>
          <a:xfrm>
            <a:off x="2220924" y="2967334"/>
            <a:ext cx="1703654" cy="923330"/>
          </a:xfrm>
          <a:prstGeom prst="rect">
            <a:avLst/>
          </a:prstGeom>
          <a:noFill/>
        </p:spPr>
        <p:txBody>
          <a:bodyPr wrap="square">
            <a:spAutoFit/>
          </a:bodyPr>
          <a:lstStyle/>
          <a:p>
            <a:pPr algn="ctr"/>
            <a:r>
              <a:rPr lang="en-US" b="1" dirty="0"/>
              <a:t>Uncertain input parameters</a:t>
            </a:r>
            <a:endParaRPr lang="en-US" dirty="0"/>
          </a:p>
        </p:txBody>
      </p:sp>
      <p:sp>
        <p:nvSpPr>
          <p:cNvPr id="8" name="TextBox 7">
            <a:extLst>
              <a:ext uri="{FF2B5EF4-FFF2-40B4-BE49-F238E27FC236}">
                <a16:creationId xmlns:a16="http://schemas.microsoft.com/office/drawing/2014/main" id="{28201F49-A3ED-35B1-AFB3-E2CB4CD1AEF9}"/>
              </a:ext>
            </a:extLst>
          </p:cNvPr>
          <p:cNvSpPr txBox="1"/>
          <p:nvPr/>
        </p:nvSpPr>
        <p:spPr>
          <a:xfrm>
            <a:off x="8367372" y="2967334"/>
            <a:ext cx="1703654" cy="923330"/>
          </a:xfrm>
          <a:prstGeom prst="rect">
            <a:avLst/>
          </a:prstGeom>
          <a:noFill/>
        </p:spPr>
        <p:txBody>
          <a:bodyPr wrap="square">
            <a:spAutoFit/>
          </a:bodyPr>
          <a:lstStyle/>
          <a:p>
            <a:pPr algn="ctr"/>
            <a:r>
              <a:rPr lang="en-US" b="1" dirty="0"/>
              <a:t>Uncertain model outputs</a:t>
            </a:r>
            <a:endParaRPr lang="en-US" dirty="0"/>
          </a:p>
        </p:txBody>
      </p:sp>
      <p:sp>
        <p:nvSpPr>
          <p:cNvPr id="9" name="TextBox 8">
            <a:extLst>
              <a:ext uri="{FF2B5EF4-FFF2-40B4-BE49-F238E27FC236}">
                <a16:creationId xmlns:a16="http://schemas.microsoft.com/office/drawing/2014/main" id="{89C95599-AF5E-FB2F-F5AF-19E386F5CFE1}"/>
              </a:ext>
            </a:extLst>
          </p:cNvPr>
          <p:cNvSpPr txBox="1"/>
          <p:nvPr/>
        </p:nvSpPr>
        <p:spPr>
          <a:xfrm>
            <a:off x="9650145" y="4434601"/>
            <a:ext cx="1703654" cy="1200329"/>
          </a:xfrm>
          <a:prstGeom prst="rect">
            <a:avLst/>
          </a:prstGeom>
          <a:noFill/>
        </p:spPr>
        <p:txBody>
          <a:bodyPr wrap="square">
            <a:spAutoFit/>
          </a:bodyPr>
          <a:lstStyle/>
          <a:p>
            <a:pPr algn="ctr"/>
            <a:r>
              <a:rPr lang="en-US" b="1" dirty="0"/>
              <a:t>Statistics: </a:t>
            </a:r>
            <a:r>
              <a:rPr lang="en-US" dirty="0"/>
              <a:t>mean, standard deviation, etc.</a:t>
            </a:r>
          </a:p>
        </p:txBody>
      </p:sp>
      <p:cxnSp>
        <p:nvCxnSpPr>
          <p:cNvPr id="11" name="Straight Arrow Connector 10">
            <a:extLst>
              <a:ext uri="{FF2B5EF4-FFF2-40B4-BE49-F238E27FC236}">
                <a16:creationId xmlns:a16="http://schemas.microsoft.com/office/drawing/2014/main" id="{D514C348-0E77-D3B1-7D69-44DD9BC75C9C}"/>
              </a:ext>
            </a:extLst>
          </p:cNvPr>
          <p:cNvCxnSpPr>
            <a:endCxn id="3" idx="1"/>
          </p:cNvCxnSpPr>
          <p:nvPr/>
        </p:nvCxnSpPr>
        <p:spPr>
          <a:xfrm>
            <a:off x="3984648" y="3428999"/>
            <a:ext cx="1230241"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6A75DDA-FF66-1EEE-8408-DAC8F39EDFE4}"/>
              </a:ext>
            </a:extLst>
          </p:cNvPr>
          <p:cNvCxnSpPr>
            <a:cxnSpLocks/>
            <a:stCxn id="3" idx="3"/>
            <a:endCxn id="8" idx="1"/>
          </p:cNvCxnSpPr>
          <p:nvPr/>
        </p:nvCxnSpPr>
        <p:spPr>
          <a:xfrm flipV="1">
            <a:off x="7077061" y="3428999"/>
            <a:ext cx="1290311"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Elbow Connector 15">
            <a:extLst>
              <a:ext uri="{FF2B5EF4-FFF2-40B4-BE49-F238E27FC236}">
                <a16:creationId xmlns:a16="http://schemas.microsoft.com/office/drawing/2014/main" id="{830FDDDA-6035-2BCB-F75D-588B9FB052E7}"/>
              </a:ext>
            </a:extLst>
          </p:cNvPr>
          <p:cNvCxnSpPr>
            <a:stCxn id="8" idx="2"/>
            <a:endCxn id="9" idx="1"/>
          </p:cNvCxnSpPr>
          <p:nvPr/>
        </p:nvCxnSpPr>
        <p:spPr>
          <a:xfrm rot="16200000" flipH="1">
            <a:off x="8862621" y="4247242"/>
            <a:ext cx="1144102" cy="430946"/>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1811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A954B-E8FF-12A5-1B45-911C53E1D0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C2A8C3-1404-7142-79DF-E0D4C35A4634}"/>
              </a:ext>
            </a:extLst>
          </p:cNvPr>
          <p:cNvSpPr>
            <a:spLocks noGrp="1"/>
          </p:cNvSpPr>
          <p:nvPr>
            <p:ph type="title"/>
          </p:nvPr>
        </p:nvSpPr>
        <p:spPr>
          <a:xfrm>
            <a:off x="938151" y="558602"/>
            <a:ext cx="10415648" cy="413463"/>
          </a:xfrm>
        </p:spPr>
        <p:txBody>
          <a:bodyPr/>
          <a:lstStyle/>
          <a:p>
            <a:r>
              <a:rPr lang="en-US" dirty="0"/>
              <a:t>Uncertainty propagation to model outputs</a:t>
            </a:r>
          </a:p>
        </p:txBody>
      </p:sp>
      <p:sp>
        <p:nvSpPr>
          <p:cNvPr id="4" name="Slide Number Placeholder 3">
            <a:extLst>
              <a:ext uri="{FF2B5EF4-FFF2-40B4-BE49-F238E27FC236}">
                <a16:creationId xmlns:a16="http://schemas.microsoft.com/office/drawing/2014/main" id="{32C5EA40-8419-3631-A06E-D159521AB583}"/>
              </a:ext>
            </a:extLst>
          </p:cNvPr>
          <p:cNvSpPr>
            <a:spLocks noGrp="1"/>
          </p:cNvSpPr>
          <p:nvPr>
            <p:ph type="sldNum" sz="quarter" idx="12"/>
          </p:nvPr>
        </p:nvSpPr>
        <p:spPr/>
        <p:txBody>
          <a:bodyPr/>
          <a:lstStyle/>
          <a:p>
            <a:fld id="{82B577FA-F7D9-2C48-919F-F962E3BF952F}" type="slidenum">
              <a:rPr lang="en-US" smtClean="0"/>
              <a:t>7</a:t>
            </a:fld>
            <a:endParaRPr lang="en-US"/>
          </a:p>
        </p:txBody>
      </p:sp>
      <p:sp>
        <p:nvSpPr>
          <p:cNvPr id="5" name="TextBox 4">
            <a:extLst>
              <a:ext uri="{FF2B5EF4-FFF2-40B4-BE49-F238E27FC236}">
                <a16:creationId xmlns:a16="http://schemas.microsoft.com/office/drawing/2014/main" id="{71EBE528-69EA-ED48-D96B-CF55E8CEB27D}"/>
              </a:ext>
            </a:extLst>
          </p:cNvPr>
          <p:cNvSpPr txBox="1"/>
          <p:nvPr/>
        </p:nvSpPr>
        <p:spPr>
          <a:xfrm>
            <a:off x="5236912" y="6550223"/>
            <a:ext cx="1818126" cy="307777"/>
          </a:xfrm>
          <a:prstGeom prst="rect">
            <a:avLst/>
          </a:prstGeom>
          <a:noFill/>
        </p:spPr>
        <p:txBody>
          <a:bodyPr wrap="none" rtlCol="0">
            <a:spAutoFit/>
          </a:bodyPr>
          <a:lstStyle/>
          <a:p>
            <a:r>
              <a:rPr lang="en-US" sz="1400" b="1" i="0" dirty="0">
                <a:solidFill>
                  <a:srgbClr val="07519E"/>
                </a:solidFill>
                <a:effectLst/>
                <a:latin typeface="Arial" panose="020B0604020202020204" pitchFamily="34" charset="0"/>
              </a:rPr>
              <a:t>Part 1: Forward UQ</a:t>
            </a:r>
            <a:endParaRPr lang="en-US" sz="1400" b="1" dirty="0">
              <a:solidFill>
                <a:srgbClr val="07519E"/>
              </a:solidFill>
            </a:endParaRPr>
          </a:p>
        </p:txBody>
      </p:sp>
      <p:pic>
        <p:nvPicPr>
          <p:cNvPr id="6" name="Picture 5" descr="Text&#10;&#10;AI-generated content may be incorrect.">
            <a:extLst>
              <a:ext uri="{FF2B5EF4-FFF2-40B4-BE49-F238E27FC236}">
                <a16:creationId xmlns:a16="http://schemas.microsoft.com/office/drawing/2014/main" id="{13B94523-737A-390C-DDFC-AF360CFFEA54}"/>
              </a:ext>
            </a:extLst>
          </p:cNvPr>
          <p:cNvPicPr>
            <a:picLocks noChangeAspect="1"/>
          </p:cNvPicPr>
          <p:nvPr/>
        </p:nvPicPr>
        <p:blipFill>
          <a:blip r:embed="rId2"/>
          <a:stretch>
            <a:fillRect/>
          </a:stretch>
        </p:blipFill>
        <p:spPr>
          <a:xfrm>
            <a:off x="1182028" y="1288865"/>
            <a:ext cx="1613435" cy="2140135"/>
          </a:xfrm>
          <a:prstGeom prst="rect">
            <a:avLst/>
          </a:prstGeom>
        </p:spPr>
      </p:pic>
      <p:pic>
        <p:nvPicPr>
          <p:cNvPr id="8" name="Picture 7" descr="Graphical user interface, text&#10;&#10;AI-generated content may be incorrect.">
            <a:extLst>
              <a:ext uri="{FF2B5EF4-FFF2-40B4-BE49-F238E27FC236}">
                <a16:creationId xmlns:a16="http://schemas.microsoft.com/office/drawing/2014/main" id="{605306AA-B929-4E23-6EB7-4D1832CA3685}"/>
              </a:ext>
            </a:extLst>
          </p:cNvPr>
          <p:cNvPicPr>
            <a:picLocks noChangeAspect="1"/>
          </p:cNvPicPr>
          <p:nvPr/>
        </p:nvPicPr>
        <p:blipFill>
          <a:blip r:embed="rId3"/>
          <a:stretch>
            <a:fillRect/>
          </a:stretch>
        </p:blipFill>
        <p:spPr>
          <a:xfrm>
            <a:off x="438762" y="4519251"/>
            <a:ext cx="3669822" cy="1457330"/>
          </a:xfrm>
          <a:prstGeom prst="rect">
            <a:avLst/>
          </a:prstGeom>
        </p:spPr>
      </p:pic>
      <p:pic>
        <p:nvPicPr>
          <p:cNvPr id="10" name="Picture 9" descr="Text&#10;&#10;AI-generated content may be incorrect.">
            <a:extLst>
              <a:ext uri="{FF2B5EF4-FFF2-40B4-BE49-F238E27FC236}">
                <a16:creationId xmlns:a16="http://schemas.microsoft.com/office/drawing/2014/main" id="{B65EEDBC-12F5-BBEB-B690-9C5E454C4CF4}"/>
              </a:ext>
            </a:extLst>
          </p:cNvPr>
          <p:cNvPicPr>
            <a:picLocks noChangeAspect="1"/>
          </p:cNvPicPr>
          <p:nvPr/>
        </p:nvPicPr>
        <p:blipFill>
          <a:blip r:embed="rId4"/>
          <a:stretch>
            <a:fillRect/>
          </a:stretch>
        </p:blipFill>
        <p:spPr>
          <a:xfrm>
            <a:off x="5148136" y="1369187"/>
            <a:ext cx="2289608" cy="1439857"/>
          </a:xfrm>
          <a:prstGeom prst="rect">
            <a:avLst/>
          </a:prstGeom>
        </p:spPr>
      </p:pic>
      <p:pic>
        <p:nvPicPr>
          <p:cNvPr id="12" name="Picture 11" descr="Text&#10;&#10;AI-generated content may be incorrect.">
            <a:extLst>
              <a:ext uri="{FF2B5EF4-FFF2-40B4-BE49-F238E27FC236}">
                <a16:creationId xmlns:a16="http://schemas.microsoft.com/office/drawing/2014/main" id="{AD8DB4D9-05A9-185E-0713-A47C3E792FAF}"/>
              </a:ext>
            </a:extLst>
          </p:cNvPr>
          <p:cNvPicPr>
            <a:picLocks noChangeAspect="1"/>
          </p:cNvPicPr>
          <p:nvPr/>
        </p:nvPicPr>
        <p:blipFill>
          <a:blip r:embed="rId5"/>
          <a:stretch>
            <a:fillRect/>
          </a:stretch>
        </p:blipFill>
        <p:spPr>
          <a:xfrm>
            <a:off x="8316368" y="1194761"/>
            <a:ext cx="3568870" cy="2035822"/>
          </a:xfrm>
          <a:prstGeom prst="rect">
            <a:avLst/>
          </a:prstGeom>
        </p:spPr>
      </p:pic>
      <p:pic>
        <p:nvPicPr>
          <p:cNvPr id="14" name="Picture 13" descr="Text&#10;&#10;AI-generated content may be incorrect.">
            <a:extLst>
              <a:ext uri="{FF2B5EF4-FFF2-40B4-BE49-F238E27FC236}">
                <a16:creationId xmlns:a16="http://schemas.microsoft.com/office/drawing/2014/main" id="{F6CBBF74-97AD-4B18-745B-7C15E36E091C}"/>
              </a:ext>
            </a:extLst>
          </p:cNvPr>
          <p:cNvPicPr>
            <a:picLocks noChangeAspect="1"/>
          </p:cNvPicPr>
          <p:nvPr/>
        </p:nvPicPr>
        <p:blipFill>
          <a:blip r:embed="rId6"/>
          <a:stretch>
            <a:fillRect/>
          </a:stretch>
        </p:blipFill>
        <p:spPr>
          <a:xfrm>
            <a:off x="4872484" y="3767980"/>
            <a:ext cx="2840909" cy="1657197"/>
          </a:xfrm>
          <a:prstGeom prst="rect">
            <a:avLst/>
          </a:prstGeom>
        </p:spPr>
      </p:pic>
      <p:sp>
        <p:nvSpPr>
          <p:cNvPr id="17" name="TextBox 16">
            <a:extLst>
              <a:ext uri="{FF2B5EF4-FFF2-40B4-BE49-F238E27FC236}">
                <a16:creationId xmlns:a16="http://schemas.microsoft.com/office/drawing/2014/main" id="{E2F41A12-0AB9-4A37-26B4-5C26C2910959}"/>
              </a:ext>
            </a:extLst>
          </p:cNvPr>
          <p:cNvSpPr txBox="1"/>
          <p:nvPr/>
        </p:nvSpPr>
        <p:spPr>
          <a:xfrm>
            <a:off x="1030404" y="3561134"/>
            <a:ext cx="1916682" cy="369332"/>
          </a:xfrm>
          <a:prstGeom prst="rect">
            <a:avLst/>
          </a:prstGeom>
          <a:noFill/>
        </p:spPr>
        <p:txBody>
          <a:bodyPr wrap="square">
            <a:spAutoFit/>
          </a:bodyPr>
          <a:lstStyle/>
          <a:p>
            <a:pPr algn="ctr"/>
            <a:r>
              <a:rPr lang="en-US" dirty="0"/>
              <a:t>1. Distributions</a:t>
            </a:r>
          </a:p>
        </p:txBody>
      </p:sp>
      <p:sp>
        <p:nvSpPr>
          <p:cNvPr id="18" name="TextBox 17">
            <a:extLst>
              <a:ext uri="{FF2B5EF4-FFF2-40B4-BE49-F238E27FC236}">
                <a16:creationId xmlns:a16="http://schemas.microsoft.com/office/drawing/2014/main" id="{46C14391-9606-5347-9F95-3898603467DA}"/>
              </a:ext>
            </a:extLst>
          </p:cNvPr>
          <p:cNvSpPr txBox="1"/>
          <p:nvPr/>
        </p:nvSpPr>
        <p:spPr>
          <a:xfrm>
            <a:off x="1030404" y="6050062"/>
            <a:ext cx="1916682" cy="369332"/>
          </a:xfrm>
          <a:prstGeom prst="rect">
            <a:avLst/>
          </a:prstGeom>
          <a:noFill/>
        </p:spPr>
        <p:txBody>
          <a:bodyPr wrap="square">
            <a:spAutoFit/>
          </a:bodyPr>
          <a:lstStyle/>
          <a:p>
            <a:pPr algn="ctr"/>
            <a:r>
              <a:rPr lang="en-US" dirty="0"/>
              <a:t>2. Samplers</a:t>
            </a:r>
          </a:p>
        </p:txBody>
      </p:sp>
      <p:sp>
        <p:nvSpPr>
          <p:cNvPr id="19" name="TextBox 18">
            <a:extLst>
              <a:ext uri="{FF2B5EF4-FFF2-40B4-BE49-F238E27FC236}">
                <a16:creationId xmlns:a16="http://schemas.microsoft.com/office/drawing/2014/main" id="{02C2600D-7C0C-D31C-5E5C-42A6E7E3AC41}"/>
              </a:ext>
            </a:extLst>
          </p:cNvPr>
          <p:cNvSpPr txBox="1"/>
          <p:nvPr/>
        </p:nvSpPr>
        <p:spPr>
          <a:xfrm>
            <a:off x="5334598" y="2866257"/>
            <a:ext cx="1916682" cy="369332"/>
          </a:xfrm>
          <a:prstGeom prst="rect">
            <a:avLst/>
          </a:prstGeom>
          <a:noFill/>
        </p:spPr>
        <p:txBody>
          <a:bodyPr wrap="square">
            <a:spAutoFit/>
          </a:bodyPr>
          <a:lstStyle/>
          <a:p>
            <a:pPr algn="ctr"/>
            <a:r>
              <a:rPr lang="en-US" dirty="0"/>
              <a:t>3. </a:t>
            </a:r>
            <a:r>
              <a:rPr lang="en-US" dirty="0" err="1"/>
              <a:t>MultiApps</a:t>
            </a:r>
            <a:endParaRPr lang="en-US" dirty="0"/>
          </a:p>
        </p:txBody>
      </p:sp>
      <p:sp>
        <p:nvSpPr>
          <p:cNvPr id="20" name="TextBox 19">
            <a:extLst>
              <a:ext uri="{FF2B5EF4-FFF2-40B4-BE49-F238E27FC236}">
                <a16:creationId xmlns:a16="http://schemas.microsoft.com/office/drawing/2014/main" id="{B03238ED-F96A-4555-5B82-8F106206ED51}"/>
              </a:ext>
            </a:extLst>
          </p:cNvPr>
          <p:cNvSpPr txBox="1"/>
          <p:nvPr/>
        </p:nvSpPr>
        <p:spPr>
          <a:xfrm>
            <a:off x="5314575" y="5487259"/>
            <a:ext cx="1916682" cy="646331"/>
          </a:xfrm>
          <a:prstGeom prst="rect">
            <a:avLst/>
          </a:prstGeom>
          <a:noFill/>
        </p:spPr>
        <p:txBody>
          <a:bodyPr wrap="square">
            <a:spAutoFit/>
          </a:bodyPr>
          <a:lstStyle/>
          <a:p>
            <a:pPr algn="ctr"/>
            <a:r>
              <a:rPr lang="en-US" dirty="0"/>
              <a:t>4. </a:t>
            </a:r>
            <a:r>
              <a:rPr lang="en-US" dirty="0" err="1"/>
              <a:t>cmdline</a:t>
            </a:r>
            <a:r>
              <a:rPr lang="en-US" dirty="0"/>
              <a:t> controls</a:t>
            </a:r>
          </a:p>
        </p:txBody>
      </p:sp>
      <p:sp>
        <p:nvSpPr>
          <p:cNvPr id="21" name="TextBox 20">
            <a:extLst>
              <a:ext uri="{FF2B5EF4-FFF2-40B4-BE49-F238E27FC236}">
                <a16:creationId xmlns:a16="http://schemas.microsoft.com/office/drawing/2014/main" id="{0B42CE5B-BB9D-D799-183F-28F5B68EAAE1}"/>
              </a:ext>
            </a:extLst>
          </p:cNvPr>
          <p:cNvSpPr txBox="1"/>
          <p:nvPr/>
        </p:nvSpPr>
        <p:spPr>
          <a:xfrm>
            <a:off x="9142462" y="3244334"/>
            <a:ext cx="1916682" cy="369332"/>
          </a:xfrm>
          <a:prstGeom prst="rect">
            <a:avLst/>
          </a:prstGeom>
          <a:noFill/>
        </p:spPr>
        <p:txBody>
          <a:bodyPr wrap="square">
            <a:spAutoFit/>
          </a:bodyPr>
          <a:lstStyle/>
          <a:p>
            <a:pPr algn="ctr"/>
            <a:r>
              <a:rPr lang="en-US" dirty="0"/>
              <a:t>5. Transfers</a:t>
            </a:r>
          </a:p>
        </p:txBody>
      </p:sp>
      <p:sp>
        <p:nvSpPr>
          <p:cNvPr id="22" name="TextBox 21">
            <a:extLst>
              <a:ext uri="{FF2B5EF4-FFF2-40B4-BE49-F238E27FC236}">
                <a16:creationId xmlns:a16="http://schemas.microsoft.com/office/drawing/2014/main" id="{19794142-029F-F834-AF04-5B8717848CB0}"/>
              </a:ext>
            </a:extLst>
          </p:cNvPr>
          <p:cNvSpPr txBox="1"/>
          <p:nvPr/>
        </p:nvSpPr>
        <p:spPr>
          <a:xfrm>
            <a:off x="9142462" y="5563471"/>
            <a:ext cx="1916682" cy="369332"/>
          </a:xfrm>
          <a:prstGeom prst="rect">
            <a:avLst/>
          </a:prstGeom>
          <a:noFill/>
        </p:spPr>
        <p:txBody>
          <a:bodyPr wrap="square">
            <a:spAutoFit/>
          </a:bodyPr>
          <a:lstStyle/>
          <a:p>
            <a:pPr algn="ctr"/>
            <a:r>
              <a:rPr lang="en-US" dirty="0"/>
              <a:t>6. Reporters</a:t>
            </a:r>
          </a:p>
        </p:txBody>
      </p:sp>
      <p:pic>
        <p:nvPicPr>
          <p:cNvPr id="24" name="Picture 23" descr="Graphical user interface&#10;&#10;AI-generated content may be incorrect.">
            <a:extLst>
              <a:ext uri="{FF2B5EF4-FFF2-40B4-BE49-F238E27FC236}">
                <a16:creationId xmlns:a16="http://schemas.microsoft.com/office/drawing/2014/main" id="{AF57920D-79C9-6816-8252-4881F1F7F93A}"/>
              </a:ext>
            </a:extLst>
          </p:cNvPr>
          <p:cNvPicPr>
            <a:picLocks noChangeAspect="1"/>
          </p:cNvPicPr>
          <p:nvPr/>
        </p:nvPicPr>
        <p:blipFill>
          <a:blip r:embed="rId7"/>
          <a:stretch>
            <a:fillRect/>
          </a:stretch>
        </p:blipFill>
        <p:spPr>
          <a:xfrm>
            <a:off x="8680348" y="4174250"/>
            <a:ext cx="2840909" cy="1244001"/>
          </a:xfrm>
          <a:prstGeom prst="rect">
            <a:avLst/>
          </a:prstGeom>
        </p:spPr>
      </p:pic>
    </p:spTree>
    <p:extLst>
      <p:ext uri="{BB962C8B-B14F-4D97-AF65-F5344CB8AC3E}">
        <p14:creationId xmlns:p14="http://schemas.microsoft.com/office/powerpoint/2010/main" val="3111217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6A6D4-1A8E-8A38-FA14-302E51D91E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6206E0-0B0E-5DA4-A23C-02360CC163C8}"/>
              </a:ext>
            </a:extLst>
          </p:cNvPr>
          <p:cNvSpPr>
            <a:spLocks noGrp="1"/>
          </p:cNvSpPr>
          <p:nvPr>
            <p:ph type="title"/>
          </p:nvPr>
        </p:nvSpPr>
        <p:spPr>
          <a:xfrm>
            <a:off x="938151" y="558602"/>
            <a:ext cx="10415648" cy="413463"/>
          </a:xfrm>
        </p:spPr>
        <p:txBody>
          <a:bodyPr/>
          <a:lstStyle/>
          <a:p>
            <a:r>
              <a:rPr lang="en-US" dirty="0"/>
              <a:t>Sobol sensitivity analysis</a:t>
            </a:r>
          </a:p>
        </p:txBody>
      </p:sp>
      <p:sp>
        <p:nvSpPr>
          <p:cNvPr id="4" name="Slide Number Placeholder 3">
            <a:extLst>
              <a:ext uri="{FF2B5EF4-FFF2-40B4-BE49-F238E27FC236}">
                <a16:creationId xmlns:a16="http://schemas.microsoft.com/office/drawing/2014/main" id="{01199D14-F108-1CA2-91CD-1201A3BF1131}"/>
              </a:ext>
            </a:extLst>
          </p:cNvPr>
          <p:cNvSpPr>
            <a:spLocks noGrp="1"/>
          </p:cNvSpPr>
          <p:nvPr>
            <p:ph type="sldNum" sz="quarter" idx="12"/>
          </p:nvPr>
        </p:nvSpPr>
        <p:spPr/>
        <p:txBody>
          <a:bodyPr/>
          <a:lstStyle/>
          <a:p>
            <a:fld id="{82B577FA-F7D9-2C48-919F-F962E3BF952F}" type="slidenum">
              <a:rPr lang="en-US" smtClean="0"/>
              <a:t>8</a:t>
            </a:fld>
            <a:endParaRPr lang="en-US"/>
          </a:p>
        </p:txBody>
      </p:sp>
      <p:sp>
        <p:nvSpPr>
          <p:cNvPr id="5" name="TextBox 4">
            <a:extLst>
              <a:ext uri="{FF2B5EF4-FFF2-40B4-BE49-F238E27FC236}">
                <a16:creationId xmlns:a16="http://schemas.microsoft.com/office/drawing/2014/main" id="{1343566F-0A59-4CF3-1AA1-33383B8CCCCD}"/>
              </a:ext>
            </a:extLst>
          </p:cNvPr>
          <p:cNvSpPr txBox="1"/>
          <p:nvPr/>
        </p:nvSpPr>
        <p:spPr>
          <a:xfrm>
            <a:off x="5236912" y="6550223"/>
            <a:ext cx="1818126" cy="307777"/>
          </a:xfrm>
          <a:prstGeom prst="rect">
            <a:avLst/>
          </a:prstGeom>
          <a:noFill/>
        </p:spPr>
        <p:txBody>
          <a:bodyPr wrap="none" rtlCol="0">
            <a:spAutoFit/>
          </a:bodyPr>
          <a:lstStyle/>
          <a:p>
            <a:r>
              <a:rPr lang="en-US" sz="1400" b="1" i="0" dirty="0">
                <a:solidFill>
                  <a:srgbClr val="07519E"/>
                </a:solidFill>
                <a:effectLst/>
                <a:latin typeface="Arial" panose="020B0604020202020204" pitchFamily="34" charset="0"/>
              </a:rPr>
              <a:t>Part 1: Forward UQ</a:t>
            </a:r>
            <a:endParaRPr lang="en-US" sz="1400" b="1" dirty="0">
              <a:solidFill>
                <a:srgbClr val="07519E"/>
              </a:solidFill>
            </a:endParaRPr>
          </a:p>
        </p:txBody>
      </p:sp>
      <p:sp>
        <p:nvSpPr>
          <p:cNvPr id="3" name="Rounded Rectangle 2">
            <a:extLst>
              <a:ext uri="{FF2B5EF4-FFF2-40B4-BE49-F238E27FC236}">
                <a16:creationId xmlns:a16="http://schemas.microsoft.com/office/drawing/2014/main" id="{F9FD40A7-D3F8-CEEF-618A-EE2AA54C49A1}"/>
              </a:ext>
            </a:extLst>
          </p:cNvPr>
          <p:cNvSpPr/>
          <p:nvPr/>
        </p:nvSpPr>
        <p:spPr>
          <a:xfrm>
            <a:off x="1746595" y="3299050"/>
            <a:ext cx="1862172" cy="959453"/>
          </a:xfrm>
          <a:prstGeom prst="roundRect">
            <a:avLst/>
          </a:prstGeom>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MOOSE computational model</a:t>
            </a:r>
          </a:p>
        </p:txBody>
      </p:sp>
      <p:sp>
        <p:nvSpPr>
          <p:cNvPr id="6" name="TextBox 5">
            <a:extLst>
              <a:ext uri="{FF2B5EF4-FFF2-40B4-BE49-F238E27FC236}">
                <a16:creationId xmlns:a16="http://schemas.microsoft.com/office/drawing/2014/main" id="{BA622251-E902-9F50-2738-257F882F4D5C}"/>
              </a:ext>
            </a:extLst>
          </p:cNvPr>
          <p:cNvSpPr txBox="1"/>
          <p:nvPr/>
        </p:nvSpPr>
        <p:spPr>
          <a:xfrm>
            <a:off x="1825854" y="1553545"/>
            <a:ext cx="1703654" cy="923330"/>
          </a:xfrm>
          <a:prstGeom prst="rect">
            <a:avLst/>
          </a:prstGeom>
          <a:noFill/>
        </p:spPr>
        <p:txBody>
          <a:bodyPr wrap="square">
            <a:spAutoFit/>
          </a:bodyPr>
          <a:lstStyle/>
          <a:p>
            <a:pPr algn="ctr"/>
            <a:r>
              <a:rPr lang="en-US" b="1" dirty="0"/>
              <a:t>Uncertain input parameters</a:t>
            </a:r>
            <a:endParaRPr lang="en-US" dirty="0"/>
          </a:p>
        </p:txBody>
      </p:sp>
      <p:sp>
        <p:nvSpPr>
          <p:cNvPr id="7" name="TextBox 6">
            <a:extLst>
              <a:ext uri="{FF2B5EF4-FFF2-40B4-BE49-F238E27FC236}">
                <a16:creationId xmlns:a16="http://schemas.microsoft.com/office/drawing/2014/main" id="{E8BA33E8-2262-7DB9-F722-1B6A03F2E472}"/>
              </a:ext>
            </a:extLst>
          </p:cNvPr>
          <p:cNvSpPr txBox="1"/>
          <p:nvPr/>
        </p:nvSpPr>
        <p:spPr>
          <a:xfrm>
            <a:off x="1825854" y="5045413"/>
            <a:ext cx="1703654" cy="923330"/>
          </a:xfrm>
          <a:prstGeom prst="rect">
            <a:avLst/>
          </a:prstGeom>
          <a:noFill/>
        </p:spPr>
        <p:txBody>
          <a:bodyPr wrap="square">
            <a:spAutoFit/>
          </a:bodyPr>
          <a:lstStyle/>
          <a:p>
            <a:pPr algn="ctr"/>
            <a:r>
              <a:rPr lang="en-US" b="1" dirty="0"/>
              <a:t>Sensitive input parameters</a:t>
            </a:r>
            <a:endParaRPr lang="en-US" dirty="0"/>
          </a:p>
        </p:txBody>
      </p:sp>
      <p:cxnSp>
        <p:nvCxnSpPr>
          <p:cNvPr id="8" name="Straight Arrow Connector 7">
            <a:extLst>
              <a:ext uri="{FF2B5EF4-FFF2-40B4-BE49-F238E27FC236}">
                <a16:creationId xmlns:a16="http://schemas.microsoft.com/office/drawing/2014/main" id="{2667FC20-A516-B194-8299-2B9A5720594E}"/>
              </a:ext>
            </a:extLst>
          </p:cNvPr>
          <p:cNvCxnSpPr>
            <a:cxnSpLocks/>
            <a:endCxn id="3" idx="0"/>
          </p:cNvCxnSpPr>
          <p:nvPr/>
        </p:nvCxnSpPr>
        <p:spPr>
          <a:xfrm>
            <a:off x="2677681" y="2493021"/>
            <a:ext cx="0" cy="80602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1AAA1E93-7C33-CCBA-3B43-0F591FF04000}"/>
              </a:ext>
            </a:extLst>
          </p:cNvPr>
          <p:cNvCxnSpPr>
            <a:cxnSpLocks/>
            <a:stCxn id="3" idx="2"/>
          </p:cNvCxnSpPr>
          <p:nvPr/>
        </p:nvCxnSpPr>
        <p:spPr>
          <a:xfrm>
            <a:off x="2677681" y="4258503"/>
            <a:ext cx="0" cy="75078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5" name="Picture 14" descr="Chart, bar chart&#10;&#10;AI-generated content may be incorrect.">
            <a:extLst>
              <a:ext uri="{FF2B5EF4-FFF2-40B4-BE49-F238E27FC236}">
                <a16:creationId xmlns:a16="http://schemas.microsoft.com/office/drawing/2014/main" id="{DCF1E0C6-05CC-606B-F7C9-BF3C9287F577}"/>
              </a:ext>
            </a:extLst>
          </p:cNvPr>
          <p:cNvPicPr>
            <a:picLocks noChangeAspect="1"/>
          </p:cNvPicPr>
          <p:nvPr/>
        </p:nvPicPr>
        <p:blipFill>
          <a:blip r:embed="rId2"/>
          <a:srcRect l="3473" t="18417" b="12066"/>
          <a:stretch/>
        </p:blipFill>
        <p:spPr>
          <a:xfrm>
            <a:off x="5223684" y="1074034"/>
            <a:ext cx="4290635" cy="2207194"/>
          </a:xfrm>
          <a:prstGeom prst="rect">
            <a:avLst/>
          </a:prstGeom>
        </p:spPr>
      </p:pic>
      <p:pic>
        <p:nvPicPr>
          <p:cNvPr id="17" name="Picture 16" descr="Chart, bar chart&#10;&#10;AI-generated content may be incorrect.">
            <a:extLst>
              <a:ext uri="{FF2B5EF4-FFF2-40B4-BE49-F238E27FC236}">
                <a16:creationId xmlns:a16="http://schemas.microsoft.com/office/drawing/2014/main" id="{E27EDD98-A190-117C-DFEE-9764866E34D8}"/>
              </a:ext>
            </a:extLst>
          </p:cNvPr>
          <p:cNvPicPr>
            <a:picLocks noChangeAspect="1"/>
          </p:cNvPicPr>
          <p:nvPr/>
        </p:nvPicPr>
        <p:blipFill>
          <a:blip r:embed="rId3"/>
          <a:srcRect l="8206" t="14780" r="2000" b="9961"/>
          <a:stretch/>
        </p:blipFill>
        <p:spPr>
          <a:xfrm>
            <a:off x="5580248" y="3827026"/>
            <a:ext cx="3577505" cy="2141717"/>
          </a:xfrm>
          <a:prstGeom prst="rect">
            <a:avLst/>
          </a:prstGeom>
        </p:spPr>
      </p:pic>
      <p:sp>
        <p:nvSpPr>
          <p:cNvPr id="18" name="TextBox 17">
            <a:extLst>
              <a:ext uri="{FF2B5EF4-FFF2-40B4-BE49-F238E27FC236}">
                <a16:creationId xmlns:a16="http://schemas.microsoft.com/office/drawing/2014/main" id="{30A6F481-6F52-244E-9AF9-F960FBEA2709}"/>
              </a:ext>
            </a:extLst>
          </p:cNvPr>
          <p:cNvSpPr txBox="1"/>
          <p:nvPr/>
        </p:nvSpPr>
        <p:spPr>
          <a:xfrm>
            <a:off x="9514319" y="1854465"/>
            <a:ext cx="2273243" cy="646331"/>
          </a:xfrm>
          <a:prstGeom prst="rect">
            <a:avLst/>
          </a:prstGeom>
          <a:noFill/>
        </p:spPr>
        <p:txBody>
          <a:bodyPr wrap="square">
            <a:spAutoFit/>
          </a:bodyPr>
          <a:lstStyle/>
          <a:p>
            <a:pPr algn="ctr"/>
            <a:r>
              <a:rPr lang="en-US" dirty="0"/>
              <a:t>First order sensitivity indices</a:t>
            </a:r>
          </a:p>
        </p:txBody>
      </p:sp>
      <p:sp>
        <p:nvSpPr>
          <p:cNvPr id="19" name="TextBox 18">
            <a:extLst>
              <a:ext uri="{FF2B5EF4-FFF2-40B4-BE49-F238E27FC236}">
                <a16:creationId xmlns:a16="http://schemas.microsoft.com/office/drawing/2014/main" id="{D868C484-AFA0-1EB4-0289-081299AAE545}"/>
              </a:ext>
            </a:extLst>
          </p:cNvPr>
          <p:cNvSpPr txBox="1"/>
          <p:nvPr/>
        </p:nvSpPr>
        <p:spPr>
          <a:xfrm>
            <a:off x="9508200" y="4574718"/>
            <a:ext cx="2273243" cy="646331"/>
          </a:xfrm>
          <a:prstGeom prst="rect">
            <a:avLst/>
          </a:prstGeom>
          <a:noFill/>
        </p:spPr>
        <p:txBody>
          <a:bodyPr wrap="square">
            <a:spAutoFit/>
          </a:bodyPr>
          <a:lstStyle/>
          <a:p>
            <a:pPr algn="ctr"/>
            <a:r>
              <a:rPr lang="en-US" dirty="0"/>
              <a:t>Second order sensitivity indices</a:t>
            </a:r>
          </a:p>
        </p:txBody>
      </p:sp>
    </p:spTree>
    <p:extLst>
      <p:ext uri="{BB962C8B-B14F-4D97-AF65-F5344CB8AC3E}">
        <p14:creationId xmlns:p14="http://schemas.microsoft.com/office/powerpoint/2010/main" val="30101532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699A8-4CEE-A72B-EA75-4549CA427C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9A074B-6872-8583-59BD-BC4F6F8F328B}"/>
              </a:ext>
            </a:extLst>
          </p:cNvPr>
          <p:cNvSpPr>
            <a:spLocks noGrp="1"/>
          </p:cNvSpPr>
          <p:nvPr>
            <p:ph type="title"/>
          </p:nvPr>
        </p:nvSpPr>
        <p:spPr>
          <a:xfrm>
            <a:off x="938151" y="558602"/>
            <a:ext cx="10415648" cy="413463"/>
          </a:xfrm>
        </p:spPr>
        <p:txBody>
          <a:bodyPr/>
          <a:lstStyle/>
          <a:p>
            <a:r>
              <a:rPr lang="en-US" dirty="0"/>
              <a:t>Sobol sensitivity analysis</a:t>
            </a:r>
          </a:p>
        </p:txBody>
      </p:sp>
      <p:sp>
        <p:nvSpPr>
          <p:cNvPr id="4" name="Slide Number Placeholder 3">
            <a:extLst>
              <a:ext uri="{FF2B5EF4-FFF2-40B4-BE49-F238E27FC236}">
                <a16:creationId xmlns:a16="http://schemas.microsoft.com/office/drawing/2014/main" id="{F64B7A42-5DED-00E5-4BA7-8B0721B4C523}"/>
              </a:ext>
            </a:extLst>
          </p:cNvPr>
          <p:cNvSpPr>
            <a:spLocks noGrp="1"/>
          </p:cNvSpPr>
          <p:nvPr>
            <p:ph type="sldNum" sz="quarter" idx="12"/>
          </p:nvPr>
        </p:nvSpPr>
        <p:spPr/>
        <p:txBody>
          <a:bodyPr/>
          <a:lstStyle/>
          <a:p>
            <a:fld id="{82B577FA-F7D9-2C48-919F-F962E3BF952F}" type="slidenum">
              <a:rPr lang="en-US" smtClean="0"/>
              <a:t>9</a:t>
            </a:fld>
            <a:endParaRPr lang="en-US"/>
          </a:p>
        </p:txBody>
      </p:sp>
      <p:sp>
        <p:nvSpPr>
          <p:cNvPr id="5" name="TextBox 4">
            <a:extLst>
              <a:ext uri="{FF2B5EF4-FFF2-40B4-BE49-F238E27FC236}">
                <a16:creationId xmlns:a16="http://schemas.microsoft.com/office/drawing/2014/main" id="{0217BF8F-44E1-88C9-041B-2100489C802D}"/>
              </a:ext>
            </a:extLst>
          </p:cNvPr>
          <p:cNvSpPr txBox="1"/>
          <p:nvPr/>
        </p:nvSpPr>
        <p:spPr>
          <a:xfrm>
            <a:off x="5236912" y="6550223"/>
            <a:ext cx="1818126" cy="307777"/>
          </a:xfrm>
          <a:prstGeom prst="rect">
            <a:avLst/>
          </a:prstGeom>
          <a:noFill/>
        </p:spPr>
        <p:txBody>
          <a:bodyPr wrap="none" rtlCol="0">
            <a:spAutoFit/>
          </a:bodyPr>
          <a:lstStyle/>
          <a:p>
            <a:r>
              <a:rPr lang="en-US" sz="1400" b="1" i="0" dirty="0">
                <a:solidFill>
                  <a:srgbClr val="07519E"/>
                </a:solidFill>
                <a:effectLst/>
                <a:latin typeface="Arial" panose="020B0604020202020204" pitchFamily="34" charset="0"/>
              </a:rPr>
              <a:t>Part 1: Forward UQ</a:t>
            </a:r>
            <a:endParaRPr lang="en-US" sz="1400" b="1" dirty="0">
              <a:solidFill>
                <a:srgbClr val="07519E"/>
              </a:solidFill>
            </a:endParaRPr>
          </a:p>
        </p:txBody>
      </p:sp>
      <p:pic>
        <p:nvPicPr>
          <p:cNvPr id="6" name="Picture 5" descr="Text&#10;&#10;AI-generated content may be incorrect.">
            <a:extLst>
              <a:ext uri="{FF2B5EF4-FFF2-40B4-BE49-F238E27FC236}">
                <a16:creationId xmlns:a16="http://schemas.microsoft.com/office/drawing/2014/main" id="{C4AF8631-DCBA-732B-2666-06A1FED2A8A0}"/>
              </a:ext>
            </a:extLst>
          </p:cNvPr>
          <p:cNvPicPr>
            <a:picLocks noChangeAspect="1"/>
          </p:cNvPicPr>
          <p:nvPr/>
        </p:nvPicPr>
        <p:blipFill>
          <a:blip r:embed="rId2"/>
          <a:stretch>
            <a:fillRect/>
          </a:stretch>
        </p:blipFill>
        <p:spPr>
          <a:xfrm>
            <a:off x="1116719" y="1385574"/>
            <a:ext cx="3274261" cy="4086851"/>
          </a:xfrm>
          <a:prstGeom prst="rect">
            <a:avLst/>
          </a:prstGeom>
        </p:spPr>
      </p:pic>
      <p:pic>
        <p:nvPicPr>
          <p:cNvPr id="8" name="Picture 7" descr="Text&#10;&#10;AI-generated content may be incorrect.">
            <a:extLst>
              <a:ext uri="{FF2B5EF4-FFF2-40B4-BE49-F238E27FC236}">
                <a16:creationId xmlns:a16="http://schemas.microsoft.com/office/drawing/2014/main" id="{E883F9B3-9835-B21B-16AA-3F7DCB4DE6AE}"/>
              </a:ext>
            </a:extLst>
          </p:cNvPr>
          <p:cNvPicPr>
            <a:picLocks noChangeAspect="1"/>
          </p:cNvPicPr>
          <p:nvPr/>
        </p:nvPicPr>
        <p:blipFill>
          <a:blip r:embed="rId3"/>
          <a:stretch>
            <a:fillRect/>
          </a:stretch>
        </p:blipFill>
        <p:spPr>
          <a:xfrm>
            <a:off x="6096000" y="1730808"/>
            <a:ext cx="5320343" cy="3396381"/>
          </a:xfrm>
          <a:prstGeom prst="rect">
            <a:avLst/>
          </a:prstGeom>
        </p:spPr>
      </p:pic>
      <p:sp>
        <p:nvSpPr>
          <p:cNvPr id="9" name="TextBox 8">
            <a:extLst>
              <a:ext uri="{FF2B5EF4-FFF2-40B4-BE49-F238E27FC236}">
                <a16:creationId xmlns:a16="http://schemas.microsoft.com/office/drawing/2014/main" id="{D449C405-7B60-9EA2-B2BE-BDF7533A8CA3}"/>
              </a:ext>
            </a:extLst>
          </p:cNvPr>
          <p:cNvSpPr txBox="1"/>
          <p:nvPr/>
        </p:nvSpPr>
        <p:spPr>
          <a:xfrm>
            <a:off x="7619549" y="5354397"/>
            <a:ext cx="2273243" cy="646331"/>
          </a:xfrm>
          <a:prstGeom prst="rect">
            <a:avLst/>
          </a:prstGeom>
          <a:noFill/>
        </p:spPr>
        <p:txBody>
          <a:bodyPr wrap="square">
            <a:spAutoFit/>
          </a:bodyPr>
          <a:lstStyle/>
          <a:p>
            <a:pPr algn="ctr"/>
            <a:r>
              <a:rPr lang="en-US" dirty="0"/>
              <a:t>2. Reporters</a:t>
            </a:r>
          </a:p>
          <a:p>
            <a:pPr algn="ctr"/>
            <a:r>
              <a:rPr lang="en-US" dirty="0"/>
              <a:t>Sobol reporter</a:t>
            </a:r>
          </a:p>
        </p:txBody>
      </p:sp>
      <p:sp>
        <p:nvSpPr>
          <p:cNvPr id="10" name="TextBox 9">
            <a:extLst>
              <a:ext uri="{FF2B5EF4-FFF2-40B4-BE49-F238E27FC236}">
                <a16:creationId xmlns:a16="http://schemas.microsoft.com/office/drawing/2014/main" id="{AE6158B0-A246-D70B-DA51-EA124CDFA4DC}"/>
              </a:ext>
            </a:extLst>
          </p:cNvPr>
          <p:cNvSpPr txBox="1"/>
          <p:nvPr/>
        </p:nvSpPr>
        <p:spPr>
          <a:xfrm>
            <a:off x="1617227" y="5653067"/>
            <a:ext cx="2273243" cy="646331"/>
          </a:xfrm>
          <a:prstGeom prst="rect">
            <a:avLst/>
          </a:prstGeom>
          <a:noFill/>
        </p:spPr>
        <p:txBody>
          <a:bodyPr wrap="square">
            <a:spAutoFit/>
          </a:bodyPr>
          <a:lstStyle/>
          <a:p>
            <a:pPr marL="342900" indent="-342900" algn="ctr">
              <a:buAutoNum type="arabicPeriod"/>
            </a:pPr>
            <a:r>
              <a:rPr lang="en-US" dirty="0"/>
              <a:t>Samplers</a:t>
            </a:r>
          </a:p>
          <a:p>
            <a:pPr algn="ctr"/>
            <a:r>
              <a:rPr lang="en-US" dirty="0"/>
              <a:t>Sobol sampler</a:t>
            </a:r>
          </a:p>
        </p:txBody>
      </p:sp>
    </p:spTree>
    <p:extLst>
      <p:ext uri="{BB962C8B-B14F-4D97-AF65-F5344CB8AC3E}">
        <p14:creationId xmlns:p14="http://schemas.microsoft.com/office/powerpoint/2010/main" val="18169645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7B2B4-3938-E1D0-A1B9-E8E35BFD4E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562DEF-9031-71BA-3BD9-5BB1DCADDE56}"/>
              </a:ext>
            </a:extLst>
          </p:cNvPr>
          <p:cNvSpPr>
            <a:spLocks noGrp="1"/>
          </p:cNvSpPr>
          <p:nvPr>
            <p:ph type="title"/>
          </p:nvPr>
        </p:nvSpPr>
        <p:spPr>
          <a:xfrm>
            <a:off x="938151" y="558602"/>
            <a:ext cx="10415648" cy="413463"/>
          </a:xfrm>
        </p:spPr>
        <p:txBody>
          <a:bodyPr/>
          <a:lstStyle/>
          <a:p>
            <a:r>
              <a:rPr lang="en-US" dirty="0"/>
              <a:t>Rare events analysis: parallel subset simulation</a:t>
            </a:r>
          </a:p>
        </p:txBody>
      </p:sp>
      <p:sp>
        <p:nvSpPr>
          <p:cNvPr id="4" name="Slide Number Placeholder 3">
            <a:extLst>
              <a:ext uri="{FF2B5EF4-FFF2-40B4-BE49-F238E27FC236}">
                <a16:creationId xmlns:a16="http://schemas.microsoft.com/office/drawing/2014/main" id="{9A6FF0AF-D7B0-9092-F94B-2F7354C761BE}"/>
              </a:ext>
            </a:extLst>
          </p:cNvPr>
          <p:cNvSpPr>
            <a:spLocks noGrp="1"/>
          </p:cNvSpPr>
          <p:nvPr>
            <p:ph type="sldNum" sz="quarter" idx="12"/>
          </p:nvPr>
        </p:nvSpPr>
        <p:spPr/>
        <p:txBody>
          <a:bodyPr/>
          <a:lstStyle/>
          <a:p>
            <a:fld id="{82B577FA-F7D9-2C48-919F-F962E3BF952F}" type="slidenum">
              <a:rPr lang="en-US" smtClean="0"/>
              <a:t>10</a:t>
            </a:fld>
            <a:endParaRPr lang="en-US"/>
          </a:p>
        </p:txBody>
      </p:sp>
      <p:sp>
        <p:nvSpPr>
          <p:cNvPr id="5" name="TextBox 4">
            <a:extLst>
              <a:ext uri="{FF2B5EF4-FFF2-40B4-BE49-F238E27FC236}">
                <a16:creationId xmlns:a16="http://schemas.microsoft.com/office/drawing/2014/main" id="{D7D623D9-AB83-F438-EF25-09B2EB61D7DD}"/>
              </a:ext>
            </a:extLst>
          </p:cNvPr>
          <p:cNvSpPr txBox="1"/>
          <p:nvPr/>
        </p:nvSpPr>
        <p:spPr>
          <a:xfrm>
            <a:off x="5236912" y="6550223"/>
            <a:ext cx="1818126" cy="307777"/>
          </a:xfrm>
          <a:prstGeom prst="rect">
            <a:avLst/>
          </a:prstGeom>
          <a:noFill/>
        </p:spPr>
        <p:txBody>
          <a:bodyPr wrap="none" rtlCol="0">
            <a:spAutoFit/>
          </a:bodyPr>
          <a:lstStyle/>
          <a:p>
            <a:r>
              <a:rPr lang="en-US" sz="1400" b="1" i="0" dirty="0">
                <a:solidFill>
                  <a:srgbClr val="07519E"/>
                </a:solidFill>
                <a:effectLst/>
                <a:latin typeface="Arial" panose="020B0604020202020204" pitchFamily="34" charset="0"/>
              </a:rPr>
              <a:t>Part 1: Forward UQ</a:t>
            </a:r>
            <a:endParaRPr lang="en-US" sz="1400" b="1" dirty="0">
              <a:solidFill>
                <a:srgbClr val="07519E"/>
              </a:solidFill>
            </a:endParaRPr>
          </a:p>
        </p:txBody>
      </p:sp>
      <p:sp>
        <p:nvSpPr>
          <p:cNvPr id="3" name="Rounded Rectangle 2">
            <a:extLst>
              <a:ext uri="{FF2B5EF4-FFF2-40B4-BE49-F238E27FC236}">
                <a16:creationId xmlns:a16="http://schemas.microsoft.com/office/drawing/2014/main" id="{03E0DF54-779A-2E96-E919-6C5340950724}"/>
              </a:ext>
            </a:extLst>
          </p:cNvPr>
          <p:cNvSpPr/>
          <p:nvPr/>
        </p:nvSpPr>
        <p:spPr>
          <a:xfrm>
            <a:off x="1726572" y="3092142"/>
            <a:ext cx="1862172" cy="959453"/>
          </a:xfrm>
          <a:prstGeom prst="roundRect">
            <a:avLst/>
          </a:prstGeom>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MOOSE computational model</a:t>
            </a:r>
          </a:p>
        </p:txBody>
      </p:sp>
      <p:sp>
        <p:nvSpPr>
          <p:cNvPr id="6" name="TextBox 5">
            <a:extLst>
              <a:ext uri="{FF2B5EF4-FFF2-40B4-BE49-F238E27FC236}">
                <a16:creationId xmlns:a16="http://schemas.microsoft.com/office/drawing/2014/main" id="{E49A5617-68AD-A14A-0EFA-306027CC8042}"/>
              </a:ext>
            </a:extLst>
          </p:cNvPr>
          <p:cNvSpPr txBox="1"/>
          <p:nvPr/>
        </p:nvSpPr>
        <p:spPr>
          <a:xfrm>
            <a:off x="1805831" y="1346637"/>
            <a:ext cx="1703654" cy="923330"/>
          </a:xfrm>
          <a:prstGeom prst="rect">
            <a:avLst/>
          </a:prstGeom>
          <a:noFill/>
        </p:spPr>
        <p:txBody>
          <a:bodyPr wrap="square">
            <a:spAutoFit/>
          </a:bodyPr>
          <a:lstStyle/>
          <a:p>
            <a:pPr algn="ctr"/>
            <a:r>
              <a:rPr lang="en-US" b="1" dirty="0"/>
              <a:t>Uncertain input parameters</a:t>
            </a:r>
            <a:endParaRPr lang="en-US" dirty="0"/>
          </a:p>
        </p:txBody>
      </p:sp>
      <p:sp>
        <p:nvSpPr>
          <p:cNvPr id="7" name="TextBox 6">
            <a:extLst>
              <a:ext uri="{FF2B5EF4-FFF2-40B4-BE49-F238E27FC236}">
                <a16:creationId xmlns:a16="http://schemas.microsoft.com/office/drawing/2014/main" id="{F667E0F9-95E2-F23E-2CF1-09AF1650C202}"/>
              </a:ext>
            </a:extLst>
          </p:cNvPr>
          <p:cNvSpPr txBox="1"/>
          <p:nvPr/>
        </p:nvSpPr>
        <p:spPr>
          <a:xfrm>
            <a:off x="1184468" y="4873770"/>
            <a:ext cx="2946380" cy="923330"/>
          </a:xfrm>
          <a:prstGeom prst="rect">
            <a:avLst/>
          </a:prstGeom>
          <a:noFill/>
        </p:spPr>
        <p:txBody>
          <a:bodyPr wrap="square">
            <a:spAutoFit/>
          </a:bodyPr>
          <a:lstStyle/>
          <a:p>
            <a:pPr algn="ctr"/>
            <a:r>
              <a:rPr lang="en-US" b="1" dirty="0"/>
              <a:t>Failure probability; input parameter distribution causing model failures</a:t>
            </a:r>
            <a:endParaRPr lang="en-US" dirty="0"/>
          </a:p>
        </p:txBody>
      </p:sp>
      <p:cxnSp>
        <p:nvCxnSpPr>
          <p:cNvPr id="8" name="Straight Arrow Connector 7">
            <a:extLst>
              <a:ext uri="{FF2B5EF4-FFF2-40B4-BE49-F238E27FC236}">
                <a16:creationId xmlns:a16="http://schemas.microsoft.com/office/drawing/2014/main" id="{26390142-B28B-98A8-02C1-847AE397A95F}"/>
              </a:ext>
            </a:extLst>
          </p:cNvPr>
          <p:cNvCxnSpPr>
            <a:cxnSpLocks/>
            <a:endCxn id="3" idx="0"/>
          </p:cNvCxnSpPr>
          <p:nvPr/>
        </p:nvCxnSpPr>
        <p:spPr>
          <a:xfrm>
            <a:off x="2657658" y="2286113"/>
            <a:ext cx="0" cy="80602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480573DA-433E-F902-ED7A-0EFEC9190771}"/>
              </a:ext>
            </a:extLst>
          </p:cNvPr>
          <p:cNvCxnSpPr>
            <a:cxnSpLocks/>
            <a:stCxn id="3" idx="2"/>
          </p:cNvCxnSpPr>
          <p:nvPr/>
        </p:nvCxnSpPr>
        <p:spPr>
          <a:xfrm>
            <a:off x="2657658" y="4051595"/>
            <a:ext cx="0" cy="75078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1" name="Picture 10" descr="Diagram&#10;&#10;AI-generated content may be incorrect.">
            <a:extLst>
              <a:ext uri="{FF2B5EF4-FFF2-40B4-BE49-F238E27FC236}">
                <a16:creationId xmlns:a16="http://schemas.microsoft.com/office/drawing/2014/main" id="{B7AE2145-6B02-352C-2DF2-C1BB4BB9803B}"/>
              </a:ext>
            </a:extLst>
          </p:cNvPr>
          <p:cNvPicPr>
            <a:picLocks noChangeAspect="1"/>
          </p:cNvPicPr>
          <p:nvPr/>
        </p:nvPicPr>
        <p:blipFill>
          <a:blip r:embed="rId2"/>
          <a:stretch>
            <a:fillRect/>
          </a:stretch>
        </p:blipFill>
        <p:spPr>
          <a:xfrm>
            <a:off x="5920698" y="1129116"/>
            <a:ext cx="4411692" cy="3744654"/>
          </a:xfrm>
          <a:prstGeom prst="rect">
            <a:avLst/>
          </a:prstGeom>
        </p:spPr>
      </p:pic>
      <p:sp>
        <p:nvSpPr>
          <p:cNvPr id="12" name="TextBox 11">
            <a:extLst>
              <a:ext uri="{FF2B5EF4-FFF2-40B4-BE49-F238E27FC236}">
                <a16:creationId xmlns:a16="http://schemas.microsoft.com/office/drawing/2014/main" id="{5DC984C1-0144-57D0-16AB-1053FC3A2F36}"/>
              </a:ext>
            </a:extLst>
          </p:cNvPr>
          <p:cNvSpPr txBox="1"/>
          <p:nvPr/>
        </p:nvSpPr>
        <p:spPr>
          <a:xfrm>
            <a:off x="6128534" y="5012269"/>
            <a:ext cx="3996020" cy="646331"/>
          </a:xfrm>
          <a:prstGeom prst="rect">
            <a:avLst/>
          </a:prstGeom>
          <a:noFill/>
        </p:spPr>
        <p:txBody>
          <a:bodyPr wrap="square">
            <a:spAutoFit/>
          </a:bodyPr>
          <a:lstStyle/>
          <a:p>
            <a:pPr algn="ctr"/>
            <a:r>
              <a:rPr lang="en-US" dirty="0"/>
              <a:t>Quantify rare events with failure probabilities ranging 1E-2 to 1E-8</a:t>
            </a:r>
          </a:p>
        </p:txBody>
      </p:sp>
    </p:spTree>
    <p:extLst>
      <p:ext uri="{BB962C8B-B14F-4D97-AF65-F5344CB8AC3E}">
        <p14:creationId xmlns:p14="http://schemas.microsoft.com/office/powerpoint/2010/main" val="23785616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75143-915A-08CC-D7D6-6DB2324D92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618E92-77CC-E156-3831-23272366D290}"/>
              </a:ext>
            </a:extLst>
          </p:cNvPr>
          <p:cNvSpPr>
            <a:spLocks noGrp="1"/>
          </p:cNvSpPr>
          <p:nvPr>
            <p:ph type="title"/>
          </p:nvPr>
        </p:nvSpPr>
        <p:spPr>
          <a:xfrm>
            <a:off x="938151" y="558602"/>
            <a:ext cx="10415648" cy="413463"/>
          </a:xfrm>
        </p:spPr>
        <p:txBody>
          <a:bodyPr/>
          <a:lstStyle/>
          <a:p>
            <a:r>
              <a:rPr lang="en-US" dirty="0"/>
              <a:t>Rare events analysis: parallel subset simulation</a:t>
            </a:r>
          </a:p>
        </p:txBody>
      </p:sp>
      <p:sp>
        <p:nvSpPr>
          <p:cNvPr id="4" name="Slide Number Placeholder 3">
            <a:extLst>
              <a:ext uri="{FF2B5EF4-FFF2-40B4-BE49-F238E27FC236}">
                <a16:creationId xmlns:a16="http://schemas.microsoft.com/office/drawing/2014/main" id="{52B8158E-1F77-C42D-6F23-6AD3224DF854}"/>
              </a:ext>
            </a:extLst>
          </p:cNvPr>
          <p:cNvSpPr>
            <a:spLocks noGrp="1"/>
          </p:cNvSpPr>
          <p:nvPr>
            <p:ph type="sldNum" sz="quarter" idx="12"/>
          </p:nvPr>
        </p:nvSpPr>
        <p:spPr/>
        <p:txBody>
          <a:bodyPr/>
          <a:lstStyle/>
          <a:p>
            <a:fld id="{82B577FA-F7D9-2C48-919F-F962E3BF952F}" type="slidenum">
              <a:rPr lang="en-US" smtClean="0"/>
              <a:t>11</a:t>
            </a:fld>
            <a:endParaRPr lang="en-US"/>
          </a:p>
        </p:txBody>
      </p:sp>
      <p:sp>
        <p:nvSpPr>
          <p:cNvPr id="5" name="TextBox 4">
            <a:extLst>
              <a:ext uri="{FF2B5EF4-FFF2-40B4-BE49-F238E27FC236}">
                <a16:creationId xmlns:a16="http://schemas.microsoft.com/office/drawing/2014/main" id="{D77D3246-A4D1-9618-60FD-A5948AB05E4A}"/>
              </a:ext>
            </a:extLst>
          </p:cNvPr>
          <p:cNvSpPr txBox="1"/>
          <p:nvPr/>
        </p:nvSpPr>
        <p:spPr>
          <a:xfrm>
            <a:off x="5236912" y="6550223"/>
            <a:ext cx="1818126" cy="307777"/>
          </a:xfrm>
          <a:prstGeom prst="rect">
            <a:avLst/>
          </a:prstGeom>
          <a:noFill/>
        </p:spPr>
        <p:txBody>
          <a:bodyPr wrap="none" rtlCol="0">
            <a:spAutoFit/>
          </a:bodyPr>
          <a:lstStyle/>
          <a:p>
            <a:r>
              <a:rPr lang="en-US" sz="1400" b="1" i="0" dirty="0">
                <a:solidFill>
                  <a:srgbClr val="07519E"/>
                </a:solidFill>
                <a:effectLst/>
                <a:latin typeface="Arial" panose="020B0604020202020204" pitchFamily="34" charset="0"/>
              </a:rPr>
              <a:t>Part 1: Forward UQ</a:t>
            </a:r>
            <a:endParaRPr lang="en-US" sz="1400" b="1" dirty="0">
              <a:solidFill>
                <a:srgbClr val="07519E"/>
              </a:solidFill>
            </a:endParaRPr>
          </a:p>
        </p:txBody>
      </p:sp>
      <p:pic>
        <p:nvPicPr>
          <p:cNvPr id="6" name="Picture 5" descr="Text&#10;&#10;AI-generated content may be incorrect.">
            <a:extLst>
              <a:ext uri="{FF2B5EF4-FFF2-40B4-BE49-F238E27FC236}">
                <a16:creationId xmlns:a16="http://schemas.microsoft.com/office/drawing/2014/main" id="{7C402F78-0AF4-7FA0-4A37-7BDEB743CF15}"/>
              </a:ext>
            </a:extLst>
          </p:cNvPr>
          <p:cNvPicPr>
            <a:picLocks noChangeAspect="1"/>
          </p:cNvPicPr>
          <p:nvPr/>
        </p:nvPicPr>
        <p:blipFill>
          <a:blip r:embed="rId2"/>
          <a:stretch>
            <a:fillRect/>
          </a:stretch>
        </p:blipFill>
        <p:spPr>
          <a:xfrm>
            <a:off x="637133" y="1986947"/>
            <a:ext cx="4661262" cy="2177911"/>
          </a:xfrm>
          <a:prstGeom prst="rect">
            <a:avLst/>
          </a:prstGeom>
        </p:spPr>
      </p:pic>
      <p:pic>
        <p:nvPicPr>
          <p:cNvPr id="8" name="Picture 7" descr="Text&#10;&#10;AI-generated content may be incorrect.">
            <a:extLst>
              <a:ext uri="{FF2B5EF4-FFF2-40B4-BE49-F238E27FC236}">
                <a16:creationId xmlns:a16="http://schemas.microsoft.com/office/drawing/2014/main" id="{BF5CB7AE-BB56-2F3D-7842-3BDA34BA3B51}"/>
              </a:ext>
            </a:extLst>
          </p:cNvPr>
          <p:cNvPicPr>
            <a:picLocks noChangeAspect="1"/>
          </p:cNvPicPr>
          <p:nvPr/>
        </p:nvPicPr>
        <p:blipFill>
          <a:blip r:embed="rId3"/>
          <a:stretch>
            <a:fillRect/>
          </a:stretch>
        </p:blipFill>
        <p:spPr>
          <a:xfrm>
            <a:off x="6893605" y="1892603"/>
            <a:ext cx="4661262" cy="2366597"/>
          </a:xfrm>
          <a:prstGeom prst="rect">
            <a:avLst/>
          </a:prstGeom>
        </p:spPr>
      </p:pic>
      <p:sp>
        <p:nvSpPr>
          <p:cNvPr id="9" name="TextBox 8">
            <a:extLst>
              <a:ext uri="{FF2B5EF4-FFF2-40B4-BE49-F238E27FC236}">
                <a16:creationId xmlns:a16="http://schemas.microsoft.com/office/drawing/2014/main" id="{C3CC338C-C1E0-0742-4B9A-142CBB251802}"/>
              </a:ext>
            </a:extLst>
          </p:cNvPr>
          <p:cNvSpPr txBox="1"/>
          <p:nvPr/>
        </p:nvSpPr>
        <p:spPr>
          <a:xfrm>
            <a:off x="1831142" y="4259200"/>
            <a:ext cx="2273243" cy="923330"/>
          </a:xfrm>
          <a:prstGeom prst="rect">
            <a:avLst/>
          </a:prstGeom>
          <a:noFill/>
        </p:spPr>
        <p:txBody>
          <a:bodyPr wrap="square">
            <a:spAutoFit/>
          </a:bodyPr>
          <a:lstStyle/>
          <a:p>
            <a:pPr marL="342900" indent="-342900" algn="ctr">
              <a:buAutoNum type="arabicPeriod"/>
            </a:pPr>
            <a:r>
              <a:rPr lang="en-US" dirty="0"/>
              <a:t>Samplers</a:t>
            </a:r>
          </a:p>
          <a:p>
            <a:pPr algn="ctr"/>
            <a:r>
              <a:rPr lang="en-US" dirty="0"/>
              <a:t>Parallel subset simulation sampler</a:t>
            </a:r>
          </a:p>
        </p:txBody>
      </p:sp>
      <p:sp>
        <p:nvSpPr>
          <p:cNvPr id="10" name="TextBox 9">
            <a:extLst>
              <a:ext uri="{FF2B5EF4-FFF2-40B4-BE49-F238E27FC236}">
                <a16:creationId xmlns:a16="http://schemas.microsoft.com/office/drawing/2014/main" id="{17E756B5-DE54-079E-CD72-D937AC022954}"/>
              </a:ext>
            </a:extLst>
          </p:cNvPr>
          <p:cNvSpPr txBox="1"/>
          <p:nvPr/>
        </p:nvSpPr>
        <p:spPr>
          <a:xfrm>
            <a:off x="8087614" y="4324832"/>
            <a:ext cx="2273243" cy="923330"/>
          </a:xfrm>
          <a:prstGeom prst="rect">
            <a:avLst/>
          </a:prstGeom>
          <a:noFill/>
        </p:spPr>
        <p:txBody>
          <a:bodyPr wrap="square">
            <a:spAutoFit/>
          </a:bodyPr>
          <a:lstStyle/>
          <a:p>
            <a:pPr algn="ctr"/>
            <a:r>
              <a:rPr lang="en-US" dirty="0"/>
              <a:t>2. Reporters</a:t>
            </a:r>
          </a:p>
          <a:p>
            <a:pPr algn="ctr"/>
            <a:r>
              <a:rPr lang="en-US" dirty="0"/>
              <a:t>Adaptive Monte Carlo decision</a:t>
            </a:r>
          </a:p>
        </p:txBody>
      </p:sp>
    </p:spTree>
    <p:extLst>
      <p:ext uri="{BB962C8B-B14F-4D97-AF65-F5344CB8AC3E}">
        <p14:creationId xmlns:p14="http://schemas.microsoft.com/office/powerpoint/2010/main" val="5379764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98F6D-434B-E015-C9D4-25F892A3D0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D59D69-28C2-C39A-4147-CD938B21B45D}"/>
              </a:ext>
            </a:extLst>
          </p:cNvPr>
          <p:cNvSpPr>
            <a:spLocks noGrp="1"/>
          </p:cNvSpPr>
          <p:nvPr>
            <p:ph type="title"/>
          </p:nvPr>
        </p:nvSpPr>
        <p:spPr>
          <a:xfrm>
            <a:off x="888176" y="2359153"/>
            <a:ext cx="10415648" cy="1008797"/>
          </a:xfrm>
        </p:spPr>
        <p:txBody>
          <a:bodyPr/>
          <a:lstStyle/>
          <a:p>
            <a:pPr algn="ctr"/>
            <a:r>
              <a:rPr lang="en-US" dirty="0"/>
              <a:t>Part 2: Bayesian (inverse) uncertainty quantification</a:t>
            </a:r>
          </a:p>
        </p:txBody>
      </p:sp>
      <p:sp>
        <p:nvSpPr>
          <p:cNvPr id="3" name="Slide Number Placeholder 2">
            <a:extLst>
              <a:ext uri="{FF2B5EF4-FFF2-40B4-BE49-F238E27FC236}">
                <a16:creationId xmlns:a16="http://schemas.microsoft.com/office/drawing/2014/main" id="{1CE62CBE-3A99-0157-1819-7AB2E894EBF6}"/>
              </a:ext>
            </a:extLst>
          </p:cNvPr>
          <p:cNvSpPr>
            <a:spLocks noGrp="1"/>
          </p:cNvSpPr>
          <p:nvPr>
            <p:ph type="sldNum" sz="quarter" idx="12"/>
          </p:nvPr>
        </p:nvSpPr>
        <p:spPr/>
        <p:txBody>
          <a:bodyPr/>
          <a:lstStyle/>
          <a:p>
            <a:fld id="{82B577FA-F7D9-2C48-919F-F962E3BF952F}" type="slidenum">
              <a:rPr lang="en-US" smtClean="0"/>
              <a:t>12</a:t>
            </a:fld>
            <a:endParaRPr lang="en-US"/>
          </a:p>
        </p:txBody>
      </p:sp>
      <p:sp>
        <p:nvSpPr>
          <p:cNvPr id="5" name="TextBox 4">
            <a:extLst>
              <a:ext uri="{FF2B5EF4-FFF2-40B4-BE49-F238E27FC236}">
                <a16:creationId xmlns:a16="http://schemas.microsoft.com/office/drawing/2014/main" id="{570F6ECB-3776-AAC6-1985-63B2304896B6}"/>
              </a:ext>
            </a:extLst>
          </p:cNvPr>
          <p:cNvSpPr txBox="1"/>
          <p:nvPr/>
        </p:nvSpPr>
        <p:spPr>
          <a:xfrm>
            <a:off x="2420691" y="2967335"/>
            <a:ext cx="7350617" cy="923330"/>
          </a:xfrm>
          <a:prstGeom prst="rect">
            <a:avLst/>
          </a:prstGeom>
          <a:noFill/>
        </p:spPr>
        <p:txBody>
          <a:bodyPr wrap="square">
            <a:spAutoFit/>
          </a:bodyPr>
          <a:lstStyle/>
          <a:p>
            <a:pPr marL="742950" lvl="1" indent="-285750">
              <a:buFont typeface="Arial" panose="020B0604020202020204" pitchFamily="34" charset="0"/>
              <a:buChar char="•"/>
            </a:pPr>
            <a:r>
              <a:rPr lang="en-US" sz="1800" dirty="0">
                <a:solidFill>
                  <a:schemeClr val="tx1"/>
                </a:solidFill>
              </a:rPr>
              <a:t>Model parameter uncertainties</a:t>
            </a:r>
          </a:p>
          <a:p>
            <a:pPr marL="742950" lvl="1" indent="-285750">
              <a:buFont typeface="Arial" panose="020B0604020202020204" pitchFamily="34" charset="0"/>
              <a:buChar char="•"/>
            </a:pPr>
            <a:r>
              <a:rPr lang="en-US" sz="1800" dirty="0">
                <a:solidFill>
                  <a:schemeClr val="tx1"/>
                </a:solidFill>
              </a:rPr>
              <a:t>Model parameter + noise uncertainties</a:t>
            </a:r>
          </a:p>
          <a:p>
            <a:pPr marL="742950" lvl="1" indent="-285750">
              <a:buFont typeface="Arial" panose="020B0604020202020204" pitchFamily="34" charset="0"/>
              <a:buChar char="•"/>
            </a:pPr>
            <a:r>
              <a:rPr lang="en-US" sz="1800" dirty="0">
                <a:solidFill>
                  <a:schemeClr val="tx1"/>
                </a:solidFill>
              </a:rPr>
              <a:t>Model parameter + noise + model inadequacy uncertainties</a:t>
            </a:r>
          </a:p>
        </p:txBody>
      </p:sp>
    </p:spTree>
    <p:extLst>
      <p:ext uri="{BB962C8B-B14F-4D97-AF65-F5344CB8AC3E}">
        <p14:creationId xmlns:p14="http://schemas.microsoft.com/office/powerpoint/2010/main" val="19433115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783F1-816E-A7C4-074D-88B4F76E34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96A273-6A93-95A7-8AA1-5674C335CC7D}"/>
              </a:ext>
            </a:extLst>
          </p:cNvPr>
          <p:cNvSpPr>
            <a:spLocks noGrp="1"/>
          </p:cNvSpPr>
          <p:nvPr>
            <p:ph type="title"/>
          </p:nvPr>
        </p:nvSpPr>
        <p:spPr>
          <a:xfrm>
            <a:off x="938151" y="558602"/>
            <a:ext cx="10415648" cy="413463"/>
          </a:xfrm>
        </p:spPr>
        <p:txBody>
          <a:bodyPr/>
          <a:lstStyle/>
          <a:p>
            <a:r>
              <a:rPr lang="en-US" dirty="0"/>
              <a:t>Quantify model parameter uncertainties</a:t>
            </a:r>
          </a:p>
        </p:txBody>
      </p:sp>
      <p:sp>
        <p:nvSpPr>
          <p:cNvPr id="4" name="Slide Number Placeholder 3">
            <a:extLst>
              <a:ext uri="{FF2B5EF4-FFF2-40B4-BE49-F238E27FC236}">
                <a16:creationId xmlns:a16="http://schemas.microsoft.com/office/drawing/2014/main" id="{5EA13D1B-CA0C-D1F5-6674-F709641BAF2A}"/>
              </a:ext>
            </a:extLst>
          </p:cNvPr>
          <p:cNvSpPr>
            <a:spLocks noGrp="1"/>
          </p:cNvSpPr>
          <p:nvPr>
            <p:ph type="sldNum" sz="quarter" idx="12"/>
          </p:nvPr>
        </p:nvSpPr>
        <p:spPr/>
        <p:txBody>
          <a:bodyPr/>
          <a:lstStyle/>
          <a:p>
            <a:fld id="{82B577FA-F7D9-2C48-919F-F962E3BF952F}" type="slidenum">
              <a:rPr lang="en-US" smtClean="0"/>
              <a:t>13</a:t>
            </a:fld>
            <a:endParaRPr lang="en-US"/>
          </a:p>
        </p:txBody>
      </p:sp>
      <p:sp>
        <p:nvSpPr>
          <p:cNvPr id="5" name="TextBox 4">
            <a:extLst>
              <a:ext uri="{FF2B5EF4-FFF2-40B4-BE49-F238E27FC236}">
                <a16:creationId xmlns:a16="http://schemas.microsoft.com/office/drawing/2014/main" id="{8A09E36D-E051-A413-25AF-8F34C3AA43F0}"/>
              </a:ext>
            </a:extLst>
          </p:cNvPr>
          <p:cNvSpPr txBox="1"/>
          <p:nvPr/>
        </p:nvSpPr>
        <p:spPr>
          <a:xfrm>
            <a:off x="4725272" y="6550223"/>
            <a:ext cx="2741456" cy="307777"/>
          </a:xfrm>
          <a:prstGeom prst="rect">
            <a:avLst/>
          </a:prstGeom>
          <a:noFill/>
        </p:spPr>
        <p:txBody>
          <a:bodyPr wrap="none" rtlCol="0">
            <a:spAutoFit/>
          </a:bodyPr>
          <a:lstStyle/>
          <a:p>
            <a:r>
              <a:rPr lang="en-US" sz="1400" b="1" i="0" dirty="0">
                <a:solidFill>
                  <a:srgbClr val="07519E"/>
                </a:solidFill>
                <a:effectLst/>
                <a:latin typeface="Arial" panose="020B0604020202020204" pitchFamily="34" charset="0"/>
              </a:rPr>
              <a:t>Part 2: Bayesian (inverse) UQ</a:t>
            </a:r>
            <a:endParaRPr lang="en-US" sz="1400" b="1" dirty="0">
              <a:solidFill>
                <a:srgbClr val="07519E"/>
              </a:solidFill>
            </a:endParaRPr>
          </a:p>
        </p:txBody>
      </p:sp>
      <p:sp>
        <p:nvSpPr>
          <p:cNvPr id="10" name="Rounded Rectangle 9">
            <a:extLst>
              <a:ext uri="{FF2B5EF4-FFF2-40B4-BE49-F238E27FC236}">
                <a16:creationId xmlns:a16="http://schemas.microsoft.com/office/drawing/2014/main" id="{DA2D4E5B-5D5E-0973-DB06-9176B4ABB9FF}"/>
              </a:ext>
            </a:extLst>
          </p:cNvPr>
          <p:cNvSpPr/>
          <p:nvPr/>
        </p:nvSpPr>
        <p:spPr>
          <a:xfrm>
            <a:off x="542104" y="3040442"/>
            <a:ext cx="1862172" cy="959453"/>
          </a:xfrm>
          <a:prstGeom prst="roundRect">
            <a:avLst/>
          </a:prstGeom>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MOOSE computational model</a:t>
            </a:r>
          </a:p>
        </p:txBody>
      </p:sp>
      <p:sp>
        <p:nvSpPr>
          <p:cNvPr id="11" name="TextBox 10">
            <a:extLst>
              <a:ext uri="{FF2B5EF4-FFF2-40B4-BE49-F238E27FC236}">
                <a16:creationId xmlns:a16="http://schemas.microsoft.com/office/drawing/2014/main" id="{D733FB19-F9B8-C730-3FA2-836F2C5DD878}"/>
              </a:ext>
            </a:extLst>
          </p:cNvPr>
          <p:cNvSpPr txBox="1"/>
          <p:nvPr/>
        </p:nvSpPr>
        <p:spPr>
          <a:xfrm>
            <a:off x="621363" y="1294937"/>
            <a:ext cx="1703654" cy="923330"/>
          </a:xfrm>
          <a:prstGeom prst="rect">
            <a:avLst/>
          </a:prstGeom>
          <a:noFill/>
        </p:spPr>
        <p:txBody>
          <a:bodyPr wrap="square">
            <a:spAutoFit/>
          </a:bodyPr>
          <a:lstStyle/>
          <a:p>
            <a:pPr algn="ctr"/>
            <a:r>
              <a:rPr lang="en-US" b="1" dirty="0"/>
              <a:t>Unknown input parameters</a:t>
            </a:r>
            <a:endParaRPr lang="en-US" dirty="0"/>
          </a:p>
        </p:txBody>
      </p:sp>
      <p:sp>
        <p:nvSpPr>
          <p:cNvPr id="12" name="TextBox 11">
            <a:extLst>
              <a:ext uri="{FF2B5EF4-FFF2-40B4-BE49-F238E27FC236}">
                <a16:creationId xmlns:a16="http://schemas.microsoft.com/office/drawing/2014/main" id="{8B494DE8-646F-8EDB-A488-FF498C6C266D}"/>
              </a:ext>
            </a:extLst>
          </p:cNvPr>
          <p:cNvSpPr txBox="1"/>
          <p:nvPr/>
        </p:nvSpPr>
        <p:spPr>
          <a:xfrm>
            <a:off x="0" y="4822070"/>
            <a:ext cx="2946380" cy="1477328"/>
          </a:xfrm>
          <a:prstGeom prst="rect">
            <a:avLst/>
          </a:prstGeom>
          <a:noFill/>
        </p:spPr>
        <p:txBody>
          <a:bodyPr wrap="square">
            <a:spAutoFit/>
          </a:bodyPr>
          <a:lstStyle/>
          <a:p>
            <a:pPr algn="ctr"/>
            <a:r>
              <a:rPr lang="en-US" b="1" dirty="0"/>
              <a:t>Probability distributions of best input parameters such that the model predictions match experiments</a:t>
            </a:r>
            <a:endParaRPr lang="en-US" dirty="0"/>
          </a:p>
        </p:txBody>
      </p:sp>
      <p:cxnSp>
        <p:nvCxnSpPr>
          <p:cNvPr id="13" name="Straight Arrow Connector 12">
            <a:extLst>
              <a:ext uri="{FF2B5EF4-FFF2-40B4-BE49-F238E27FC236}">
                <a16:creationId xmlns:a16="http://schemas.microsoft.com/office/drawing/2014/main" id="{AFEFBA32-167D-F6C5-B30C-391FBB018F4B}"/>
              </a:ext>
            </a:extLst>
          </p:cNvPr>
          <p:cNvCxnSpPr>
            <a:cxnSpLocks/>
            <a:endCxn id="10" idx="0"/>
          </p:cNvCxnSpPr>
          <p:nvPr/>
        </p:nvCxnSpPr>
        <p:spPr>
          <a:xfrm>
            <a:off x="1473190" y="2234413"/>
            <a:ext cx="0" cy="80602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AA9D397-7B63-9645-3C2B-7582B0821B04}"/>
              </a:ext>
            </a:extLst>
          </p:cNvPr>
          <p:cNvCxnSpPr>
            <a:cxnSpLocks/>
            <a:stCxn id="10" idx="2"/>
          </p:cNvCxnSpPr>
          <p:nvPr/>
        </p:nvCxnSpPr>
        <p:spPr>
          <a:xfrm>
            <a:off x="1473190" y="3999895"/>
            <a:ext cx="0" cy="75078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124D9CD3-CEDD-146A-FB7B-51D4A6DF231E}"/>
              </a:ext>
            </a:extLst>
          </p:cNvPr>
          <p:cNvSpPr txBox="1"/>
          <p:nvPr/>
        </p:nvSpPr>
        <p:spPr>
          <a:xfrm>
            <a:off x="2853335" y="3200788"/>
            <a:ext cx="1703654" cy="646331"/>
          </a:xfrm>
          <a:prstGeom prst="rect">
            <a:avLst/>
          </a:prstGeom>
          <a:noFill/>
        </p:spPr>
        <p:txBody>
          <a:bodyPr wrap="square">
            <a:spAutoFit/>
          </a:bodyPr>
          <a:lstStyle/>
          <a:p>
            <a:pPr algn="ctr"/>
            <a:r>
              <a:rPr lang="en-US" b="1" dirty="0"/>
              <a:t>Experimental data</a:t>
            </a:r>
            <a:endParaRPr lang="en-US" dirty="0"/>
          </a:p>
        </p:txBody>
      </p:sp>
      <p:cxnSp>
        <p:nvCxnSpPr>
          <p:cNvPr id="20" name="Straight Arrow Connector 19">
            <a:extLst>
              <a:ext uri="{FF2B5EF4-FFF2-40B4-BE49-F238E27FC236}">
                <a16:creationId xmlns:a16="http://schemas.microsoft.com/office/drawing/2014/main" id="{DC542F52-24FB-EB7D-A358-41488DABF3C9}"/>
              </a:ext>
            </a:extLst>
          </p:cNvPr>
          <p:cNvCxnSpPr>
            <a:cxnSpLocks/>
          </p:cNvCxnSpPr>
          <p:nvPr/>
        </p:nvCxnSpPr>
        <p:spPr>
          <a:xfrm flipH="1">
            <a:off x="2404276" y="3518497"/>
            <a:ext cx="45597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B51A82F7-BF38-421C-5ED7-96D7069FB333}"/>
                  </a:ext>
                </a:extLst>
              </p:cNvPr>
              <p:cNvSpPr txBox="1"/>
              <p:nvPr/>
            </p:nvSpPr>
            <p:spPr>
              <a:xfrm>
                <a:off x="5698838" y="1964157"/>
                <a:ext cx="4502702" cy="39931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panose="02040503050406030204" pitchFamily="18" charset="0"/>
                        </a:rPr>
                        <m:t>𝑓</m:t>
                      </m:r>
                      <m:d>
                        <m:dPr>
                          <m:ctrlPr>
                            <a:rPr lang="en-US" sz="2400" b="0" i="1" smtClean="0">
                              <a:solidFill>
                                <a:schemeClr val="tx2"/>
                              </a:solidFill>
                              <a:latin typeface="Cambria Math" panose="02040503050406030204" pitchFamily="18" charset="0"/>
                            </a:rPr>
                          </m:ctrlPr>
                        </m:dPr>
                        <m:e>
                          <m:r>
                            <a:rPr lang="en-US" sz="2400" b="1" i="1" smtClean="0">
                              <a:solidFill>
                                <a:schemeClr val="tx2"/>
                              </a:solidFill>
                              <a:latin typeface="Cambria Math" panose="02040503050406030204" pitchFamily="18" charset="0"/>
                              <a:ea typeface="Cambria Math" panose="02040503050406030204" pitchFamily="18" charset="0"/>
                            </a:rPr>
                            <m:t>𝜽</m:t>
                          </m:r>
                        </m:e>
                        <m:e>
                          <m:r>
                            <a:rPr lang="en-US" sz="2400" b="1" i="1" smtClean="0">
                              <a:solidFill>
                                <a:schemeClr val="tx2"/>
                              </a:solidFill>
                              <a:latin typeface="Cambria Math" panose="02040503050406030204" pitchFamily="18" charset="0"/>
                              <a:ea typeface="Cambria Math" panose="02040503050406030204" pitchFamily="18" charset="0"/>
                            </a:rPr>
                            <m:t>𝒙</m:t>
                          </m:r>
                          <m:r>
                            <a:rPr lang="en-US" sz="2400" b="1" i="1" smtClean="0">
                              <a:solidFill>
                                <a:schemeClr val="tx2"/>
                              </a:solidFill>
                              <a:latin typeface="Cambria Math" panose="02040503050406030204" pitchFamily="18" charset="0"/>
                              <a:ea typeface="Cambria Math" panose="02040503050406030204" pitchFamily="18" charset="0"/>
                            </a:rPr>
                            <m:t>, </m:t>
                          </m:r>
                          <m:r>
                            <a:rPr lang="en-US" sz="2400" b="1" i="1" smtClean="0">
                              <a:solidFill>
                                <a:schemeClr val="tx2"/>
                              </a:solidFill>
                              <a:latin typeface="Cambria Math" panose="02040503050406030204" pitchFamily="18" charset="0"/>
                              <a:ea typeface="Cambria Math" panose="02040503050406030204" pitchFamily="18" charset="0"/>
                            </a:rPr>
                            <m:t>𝑴</m:t>
                          </m:r>
                          <m:r>
                            <a:rPr lang="en-US" sz="2400" b="1" i="1" smtClean="0">
                              <a:solidFill>
                                <a:schemeClr val="tx2"/>
                              </a:solidFill>
                              <a:latin typeface="Cambria Math" panose="02040503050406030204" pitchFamily="18" charset="0"/>
                              <a:ea typeface="Cambria Math" panose="02040503050406030204" pitchFamily="18" charset="0"/>
                            </a:rPr>
                            <m:t>, </m:t>
                          </m:r>
                          <m:r>
                            <a:rPr lang="en-US" sz="2400" b="1" i="1" smtClean="0">
                              <a:solidFill>
                                <a:schemeClr val="tx2"/>
                              </a:solidFill>
                              <a:latin typeface="Cambria Math" panose="02040503050406030204" pitchFamily="18" charset="0"/>
                              <a:ea typeface="Cambria Math" panose="02040503050406030204" pitchFamily="18" charset="0"/>
                            </a:rPr>
                            <m:t>𝒚</m:t>
                          </m:r>
                        </m:e>
                      </m:d>
                      <m:r>
                        <a:rPr lang="en-US" sz="2400" b="0" i="1" smtClean="0">
                          <a:latin typeface="Cambria Math" panose="02040503050406030204" pitchFamily="18" charset="0"/>
                          <a:ea typeface="Cambria Math" panose="02040503050406030204" pitchFamily="18" charset="0"/>
                        </a:rPr>
                        <m:t> ∝</m:t>
                      </m:r>
                    </m:oMath>
                  </m:oMathPara>
                </a14:m>
                <a:endParaRPr lang="en-US" sz="24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f>
                        <m:fPr>
                          <m:ctrlPr>
                            <a:rPr lang="en-US" sz="2400" i="1" smtClean="0">
                              <a:solidFill>
                                <a:schemeClr val="tx1"/>
                              </a:solidFill>
                              <a:latin typeface="Cambria Math" panose="02040503050406030204" pitchFamily="18" charset="0"/>
                              <a:ea typeface="Cambria Math" panose="02040503050406030204" pitchFamily="18" charset="0"/>
                            </a:rPr>
                          </m:ctrlPr>
                        </m:fPr>
                        <m:num>
                          <m:r>
                            <a:rPr lang="en-US" sz="2400" i="1">
                              <a:solidFill>
                                <a:schemeClr val="tx1"/>
                              </a:solidFill>
                              <a:latin typeface="Cambria Math" panose="02040503050406030204" pitchFamily="18" charset="0"/>
                              <a:ea typeface="Cambria Math" panose="02040503050406030204" pitchFamily="18" charset="0"/>
                            </a:rPr>
                            <m:t>1</m:t>
                          </m:r>
                        </m:num>
                        <m:den>
                          <m:rad>
                            <m:radPr>
                              <m:degHide m:val="on"/>
                              <m:ctrlPr>
                                <a:rPr lang="en-US" sz="2400" i="1">
                                  <a:solidFill>
                                    <a:schemeClr val="tx1"/>
                                  </a:solidFill>
                                  <a:latin typeface="Cambria Math" panose="02040503050406030204" pitchFamily="18" charset="0"/>
                                  <a:ea typeface="Cambria Math" panose="02040503050406030204" pitchFamily="18" charset="0"/>
                                </a:rPr>
                              </m:ctrlPr>
                            </m:radPr>
                            <m:deg/>
                            <m:e>
                              <m:r>
                                <a:rPr lang="en-US" sz="2400" i="1">
                                  <a:solidFill>
                                    <a:schemeClr val="tx1"/>
                                  </a:solidFill>
                                  <a:latin typeface="Cambria Math" panose="02040503050406030204" pitchFamily="18" charset="0"/>
                                  <a:ea typeface="Cambria Math" panose="02040503050406030204" pitchFamily="18" charset="0"/>
                                </a:rPr>
                                <m:t>𝜎</m:t>
                              </m:r>
                            </m:e>
                          </m:rad>
                        </m:den>
                      </m:f>
                      <m:nary>
                        <m:naryPr>
                          <m:chr m:val="∏"/>
                          <m:ctrlPr>
                            <a:rPr lang="en-US" sz="2400" i="1">
                              <a:solidFill>
                                <a:schemeClr val="tx1"/>
                              </a:solidFill>
                              <a:latin typeface="Cambria Math" panose="02040503050406030204" pitchFamily="18" charset="0"/>
                              <a:ea typeface="Cambria Math" panose="02040503050406030204" pitchFamily="18" charset="0"/>
                            </a:rPr>
                          </m:ctrlPr>
                        </m:naryPr>
                        <m:sub>
                          <m:r>
                            <m:rPr>
                              <m:brk m:alnAt="23"/>
                            </m:rPr>
                            <a:rPr lang="en-US" sz="2400" i="1">
                              <a:solidFill>
                                <a:schemeClr val="tx1"/>
                              </a:solidFill>
                              <a:latin typeface="Cambria Math" panose="02040503050406030204" pitchFamily="18" charset="0"/>
                              <a:ea typeface="Cambria Math" panose="02040503050406030204" pitchFamily="18" charset="0"/>
                            </a:rPr>
                            <m:t>𝑘</m:t>
                          </m:r>
                          <m:r>
                            <a:rPr lang="en-US" sz="2400" i="1">
                              <a:solidFill>
                                <a:schemeClr val="tx1"/>
                              </a:solidFill>
                              <a:latin typeface="Cambria Math" panose="02040503050406030204" pitchFamily="18" charset="0"/>
                              <a:ea typeface="Cambria Math" panose="02040503050406030204" pitchFamily="18" charset="0"/>
                            </a:rPr>
                            <m:t>=1</m:t>
                          </m:r>
                        </m:sub>
                        <m:sup>
                          <m:r>
                            <a:rPr lang="en-US" sz="2400" i="1">
                              <a:solidFill>
                                <a:schemeClr val="tx1"/>
                              </a:solidFill>
                              <a:latin typeface="Cambria Math" panose="02040503050406030204" pitchFamily="18" charset="0"/>
                              <a:ea typeface="Cambria Math" panose="02040503050406030204" pitchFamily="18" charset="0"/>
                            </a:rPr>
                            <m:t>𝐾</m:t>
                          </m:r>
                        </m:sup>
                        <m:e>
                          <m:func>
                            <m:funcPr>
                              <m:ctrlPr>
                                <a:rPr lang="en-US" sz="2400" i="1">
                                  <a:solidFill>
                                    <a:schemeClr val="tx1"/>
                                  </a:solidFill>
                                  <a:latin typeface="Cambria Math" panose="02040503050406030204" pitchFamily="18" charset="0"/>
                                  <a:ea typeface="Cambria Math" panose="02040503050406030204" pitchFamily="18" charset="0"/>
                                </a:rPr>
                              </m:ctrlPr>
                            </m:funcPr>
                            <m:fName>
                              <m:r>
                                <m:rPr>
                                  <m:sty m:val="p"/>
                                </m:rPr>
                                <a:rPr lang="en-US" sz="2400">
                                  <a:solidFill>
                                    <a:schemeClr val="tx1"/>
                                  </a:solidFill>
                                  <a:latin typeface="Cambria Math" panose="02040503050406030204" pitchFamily="18" charset="0"/>
                                  <a:ea typeface="Cambria Math" panose="02040503050406030204" pitchFamily="18" charset="0"/>
                                </a:rPr>
                                <m:t>exp</m:t>
                              </m:r>
                            </m:fName>
                            <m:e>
                              <m:d>
                                <m:dPr>
                                  <m:ctrlPr>
                                    <a:rPr lang="en-US" sz="2400" i="1">
                                      <a:solidFill>
                                        <a:schemeClr val="tx1"/>
                                      </a:solidFill>
                                      <a:latin typeface="Cambria Math" panose="02040503050406030204" pitchFamily="18" charset="0"/>
                                      <a:ea typeface="Cambria Math" panose="02040503050406030204" pitchFamily="18" charset="0"/>
                                    </a:rPr>
                                  </m:ctrlPr>
                                </m:dPr>
                                <m:e>
                                  <m:f>
                                    <m:fPr>
                                      <m:ctrlPr>
                                        <a:rPr lang="en-US" sz="2400" i="1">
                                          <a:solidFill>
                                            <a:schemeClr val="tx1"/>
                                          </a:solidFill>
                                          <a:latin typeface="Cambria Math" panose="02040503050406030204" pitchFamily="18" charset="0"/>
                                          <a:ea typeface="Cambria Math" panose="02040503050406030204" pitchFamily="18" charset="0"/>
                                        </a:rPr>
                                      </m:ctrlPr>
                                    </m:fPr>
                                    <m:num>
                                      <m:sSup>
                                        <m:sSupPr>
                                          <m:ctrlPr>
                                            <a:rPr lang="en-US" sz="2400" i="1">
                                              <a:solidFill>
                                                <a:schemeClr val="tx1"/>
                                              </a:solidFill>
                                              <a:latin typeface="Cambria Math" panose="02040503050406030204" pitchFamily="18" charset="0"/>
                                              <a:ea typeface="Cambria Math" panose="02040503050406030204" pitchFamily="18" charset="0"/>
                                            </a:rPr>
                                          </m:ctrlPr>
                                        </m:sSupPr>
                                        <m:e>
                                          <m:d>
                                            <m:dPr>
                                              <m:ctrlPr>
                                                <a:rPr lang="en-US" sz="2400" i="1">
                                                  <a:solidFill>
                                                    <a:schemeClr val="tx1"/>
                                                  </a:solidFill>
                                                  <a:latin typeface="Cambria Math" panose="02040503050406030204" pitchFamily="18" charset="0"/>
                                                  <a:ea typeface="Cambria Math" panose="02040503050406030204" pitchFamily="18" charset="0"/>
                                                </a:rPr>
                                              </m:ctrlPr>
                                            </m:dPr>
                                            <m:e>
                                              <m:sSub>
                                                <m:sSubPr>
                                                  <m:ctrlPr>
                                                    <a:rPr lang="en-US" sz="2400" i="1">
                                                      <a:solidFill>
                                                        <a:schemeClr val="tx1"/>
                                                      </a:solidFill>
                                                      <a:latin typeface="Cambria Math" panose="02040503050406030204" pitchFamily="18" charset="0"/>
                                                      <a:ea typeface="Cambria Math" panose="02040503050406030204" pitchFamily="18" charset="0"/>
                                                    </a:rPr>
                                                  </m:ctrlPr>
                                                </m:sSubPr>
                                                <m:e>
                                                  <m:r>
                                                    <a:rPr lang="en-US" sz="2400" i="1">
                                                      <a:solidFill>
                                                        <a:schemeClr val="tx1"/>
                                                      </a:solidFill>
                                                      <a:latin typeface="Cambria Math" panose="02040503050406030204" pitchFamily="18" charset="0"/>
                                                      <a:ea typeface="Cambria Math" panose="02040503050406030204" pitchFamily="18" charset="0"/>
                                                    </a:rPr>
                                                    <m:t>𝑦</m:t>
                                                  </m:r>
                                                </m:e>
                                                <m:sub>
                                                  <m:r>
                                                    <a:rPr lang="en-US" sz="2400" i="1">
                                                      <a:solidFill>
                                                        <a:schemeClr val="tx1"/>
                                                      </a:solidFill>
                                                      <a:latin typeface="Cambria Math" panose="02040503050406030204" pitchFamily="18" charset="0"/>
                                                      <a:ea typeface="Cambria Math" panose="02040503050406030204" pitchFamily="18" charset="0"/>
                                                    </a:rPr>
                                                    <m:t>𝑘</m:t>
                                                  </m:r>
                                                </m:sub>
                                              </m:sSub>
                                              <m:d>
                                                <m:dPr>
                                                  <m:ctrlPr>
                                                    <a:rPr lang="en-US" sz="2400" i="1">
                                                      <a:solidFill>
                                                        <a:schemeClr val="tx1"/>
                                                      </a:solidFill>
                                                      <a:latin typeface="Cambria Math" panose="02040503050406030204" pitchFamily="18" charset="0"/>
                                                      <a:ea typeface="Cambria Math" panose="02040503050406030204" pitchFamily="18" charset="0"/>
                                                    </a:rPr>
                                                  </m:ctrlPr>
                                                </m:dPr>
                                                <m:e>
                                                  <m:r>
                                                    <a:rPr lang="en-US" sz="2400" b="0" i="1">
                                                      <a:solidFill>
                                                        <a:schemeClr val="tx1"/>
                                                      </a:solidFill>
                                                      <a:latin typeface="Cambria Math" panose="02040503050406030204" pitchFamily="18" charset="0"/>
                                                      <a:ea typeface="Cambria Math" panose="02040503050406030204" pitchFamily="18" charset="0"/>
                                                    </a:rPr>
                                                    <m:t>𝑥</m:t>
                                                  </m:r>
                                                </m:e>
                                              </m:d>
                                              <m:r>
                                                <a:rPr lang="en-US" sz="2400" i="1">
                                                  <a:solidFill>
                                                    <a:schemeClr val="tx1"/>
                                                  </a:solidFill>
                                                  <a:latin typeface="Cambria Math" panose="02040503050406030204" pitchFamily="18" charset="0"/>
                                                  <a:ea typeface="Cambria Math" panose="02040503050406030204" pitchFamily="18" charset="0"/>
                                                </a:rPr>
                                                <m:t>−</m:t>
                                              </m:r>
                                              <m:sSub>
                                                <m:sSubPr>
                                                  <m:ctrlPr>
                                                    <a:rPr lang="en-US" sz="2400" i="1" smtClean="0">
                                                      <a:solidFill>
                                                        <a:schemeClr val="tx1"/>
                                                      </a:solidFill>
                                                      <a:latin typeface="Cambria Math" panose="02040503050406030204" pitchFamily="18" charset="0"/>
                                                      <a:ea typeface="Cambria Math" panose="02040503050406030204" pitchFamily="18" charset="0"/>
                                                    </a:rPr>
                                                  </m:ctrlPr>
                                                </m:sSubPr>
                                                <m:e>
                                                  <m:r>
                                                    <a:rPr lang="en-US" sz="2400" b="0" i="1" smtClean="0">
                                                      <a:solidFill>
                                                        <a:schemeClr val="tx1"/>
                                                      </a:solidFill>
                                                      <a:latin typeface="Cambria Math" panose="02040503050406030204" pitchFamily="18" charset="0"/>
                                                      <a:ea typeface="Cambria Math" panose="02040503050406030204" pitchFamily="18" charset="0"/>
                                                    </a:rPr>
                                                    <m:t>𝑀</m:t>
                                                  </m:r>
                                                </m:e>
                                                <m:sub>
                                                  <m:r>
                                                    <a:rPr lang="en-US" sz="2400" b="0" i="1" smtClean="0">
                                                      <a:solidFill>
                                                        <a:schemeClr val="tx1"/>
                                                      </a:solidFill>
                                                      <a:latin typeface="Cambria Math" panose="02040503050406030204" pitchFamily="18" charset="0"/>
                                                      <a:ea typeface="Cambria Math" panose="02040503050406030204" pitchFamily="18" charset="0"/>
                                                    </a:rPr>
                                                    <m:t>𝑘</m:t>
                                                  </m:r>
                                                </m:sub>
                                              </m:sSub>
                                              <m:d>
                                                <m:dPr>
                                                  <m:ctrlPr>
                                                    <a:rPr lang="en-US" sz="2400" i="1">
                                                      <a:solidFill>
                                                        <a:schemeClr val="tx1"/>
                                                      </a:solidFill>
                                                      <a:latin typeface="Cambria Math" panose="02040503050406030204" pitchFamily="18" charset="0"/>
                                                      <a:ea typeface="Cambria Math" panose="02040503050406030204" pitchFamily="18" charset="0"/>
                                                    </a:rPr>
                                                  </m:ctrlPr>
                                                </m:dPr>
                                                <m:e>
                                                  <m:r>
                                                    <a:rPr lang="en-US" sz="2400" b="0" i="1">
                                                      <a:solidFill>
                                                        <a:schemeClr val="tx1"/>
                                                      </a:solidFill>
                                                      <a:latin typeface="Cambria Math" panose="02040503050406030204" pitchFamily="18" charset="0"/>
                                                      <a:ea typeface="Cambria Math" panose="02040503050406030204" pitchFamily="18" charset="0"/>
                                                    </a:rPr>
                                                    <m:t>𝑥</m:t>
                                                  </m:r>
                                                  <m:r>
                                                    <a:rPr lang="en-US" sz="2400" i="1">
                                                      <a:solidFill>
                                                        <a:schemeClr val="tx1"/>
                                                      </a:solidFill>
                                                      <a:latin typeface="Cambria Math" panose="02040503050406030204" pitchFamily="18" charset="0"/>
                                                      <a:ea typeface="Cambria Math" panose="02040503050406030204" pitchFamily="18" charset="0"/>
                                                    </a:rPr>
                                                    <m:t>, </m:t>
                                                  </m:r>
                                                  <m:r>
                                                    <a:rPr lang="en-US" sz="2400" b="1" i="1">
                                                      <a:solidFill>
                                                        <a:schemeClr val="tx1"/>
                                                      </a:solidFill>
                                                      <a:latin typeface="Cambria Math" panose="02040503050406030204" pitchFamily="18" charset="0"/>
                                                      <a:ea typeface="Cambria Math" panose="02040503050406030204" pitchFamily="18" charset="0"/>
                                                    </a:rPr>
                                                    <m:t>𝜽</m:t>
                                                  </m:r>
                                                </m:e>
                                              </m:d>
                                            </m:e>
                                          </m:d>
                                        </m:e>
                                        <m:sup>
                                          <m:r>
                                            <a:rPr lang="en-US" sz="2400" i="1">
                                              <a:solidFill>
                                                <a:schemeClr val="tx1"/>
                                              </a:solidFill>
                                              <a:latin typeface="Cambria Math" panose="02040503050406030204" pitchFamily="18" charset="0"/>
                                              <a:ea typeface="Cambria Math" panose="02040503050406030204" pitchFamily="18" charset="0"/>
                                            </a:rPr>
                                            <m:t>2</m:t>
                                          </m:r>
                                        </m:sup>
                                      </m:sSup>
                                    </m:num>
                                    <m:den>
                                      <m:r>
                                        <a:rPr lang="en-US" sz="2400" i="1">
                                          <a:solidFill>
                                            <a:schemeClr val="tx1"/>
                                          </a:solidFill>
                                          <a:latin typeface="Cambria Math" panose="02040503050406030204" pitchFamily="18" charset="0"/>
                                          <a:ea typeface="Cambria Math" panose="02040503050406030204" pitchFamily="18" charset="0"/>
                                        </a:rPr>
                                        <m:t>2</m:t>
                                      </m:r>
                                      <m:sSup>
                                        <m:sSupPr>
                                          <m:ctrlPr>
                                            <a:rPr lang="en-US" sz="2400" i="1">
                                              <a:solidFill>
                                                <a:schemeClr val="tx1"/>
                                              </a:solidFill>
                                              <a:latin typeface="Cambria Math" panose="02040503050406030204" pitchFamily="18" charset="0"/>
                                              <a:ea typeface="Cambria Math" panose="02040503050406030204" pitchFamily="18" charset="0"/>
                                            </a:rPr>
                                          </m:ctrlPr>
                                        </m:sSupPr>
                                        <m:e>
                                          <m:r>
                                            <a:rPr lang="en-US" sz="2400" i="1">
                                              <a:solidFill>
                                                <a:schemeClr val="tx1"/>
                                              </a:solidFill>
                                              <a:latin typeface="Cambria Math" panose="02040503050406030204" pitchFamily="18" charset="0"/>
                                              <a:ea typeface="Cambria Math" panose="02040503050406030204" pitchFamily="18" charset="0"/>
                                            </a:rPr>
                                            <m:t>𝜎</m:t>
                                          </m:r>
                                        </m:e>
                                        <m:sup>
                                          <m:r>
                                            <a:rPr lang="en-US" sz="2400" i="1">
                                              <a:solidFill>
                                                <a:schemeClr val="tx1"/>
                                              </a:solidFill>
                                              <a:latin typeface="Cambria Math" panose="02040503050406030204" pitchFamily="18" charset="0"/>
                                              <a:ea typeface="Cambria Math" panose="02040503050406030204" pitchFamily="18" charset="0"/>
                                            </a:rPr>
                                            <m:t>2</m:t>
                                          </m:r>
                                        </m:sup>
                                      </m:sSup>
                                    </m:den>
                                  </m:f>
                                </m:e>
                              </m:d>
                            </m:e>
                          </m:func>
                        </m:e>
                      </m:nary>
                    </m:oMath>
                  </m:oMathPara>
                </a14:m>
                <a:endParaRPr lang="en-US" sz="2400" i="1" dirty="0">
                  <a:solidFill>
                    <a:schemeClr val="tx1"/>
                  </a:solidFill>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𝑓</m:t>
                      </m:r>
                      <m:r>
                        <a:rPr lang="en-US" sz="2400" b="0" i="1" smtClean="0">
                          <a:latin typeface="Cambria Math" panose="02040503050406030204" pitchFamily="18" charset="0"/>
                          <a:ea typeface="Cambria Math" panose="02040503050406030204" pitchFamily="18" charset="0"/>
                        </a:rPr>
                        <m:t>(</m:t>
                      </m:r>
                      <m:r>
                        <a:rPr lang="en-US" sz="2400" b="1" i="1" smtClean="0">
                          <a:latin typeface="Cambria Math" panose="02040503050406030204" pitchFamily="18" charset="0"/>
                          <a:ea typeface="Cambria Math" panose="02040503050406030204" pitchFamily="18" charset="0"/>
                        </a:rPr>
                        <m:t>𝜽</m:t>
                      </m:r>
                      <m:r>
                        <a:rPr lang="en-US" sz="2400" b="0" i="1" smtClean="0">
                          <a:latin typeface="Cambria Math" panose="02040503050406030204" pitchFamily="18" charset="0"/>
                          <a:ea typeface="Cambria Math" panose="02040503050406030204" pitchFamily="18" charset="0"/>
                        </a:rPr>
                        <m:t>)</m:t>
                      </m:r>
                    </m:oMath>
                  </m:oMathPara>
                </a14:m>
                <a:endParaRPr lang="en-US" sz="2400" dirty="0"/>
              </a:p>
              <a:p>
                <a:endParaRPr lang="en-US" sz="2400" dirty="0"/>
              </a:p>
              <a:p>
                <a14:m>
                  <m:oMath xmlns:m="http://schemas.openxmlformats.org/officeDocument/2006/math">
                    <m:r>
                      <a:rPr lang="en-US" sz="2400" b="1" i="1" smtClean="0">
                        <a:latin typeface="Cambria Math" panose="02040503050406030204" pitchFamily="18" charset="0"/>
                        <a:ea typeface="Cambria Math" panose="02040503050406030204" pitchFamily="18" charset="0"/>
                      </a:rPr>
                      <m:t>𝜽</m:t>
                    </m:r>
                    <m:r>
                      <a:rPr lang="en-US" sz="2400" b="0" i="1" smtClean="0">
                        <a:latin typeface="Cambria Math" panose="02040503050406030204" pitchFamily="18" charset="0"/>
                        <a:ea typeface="Cambria Math" panose="02040503050406030204" pitchFamily="18" charset="0"/>
                      </a:rPr>
                      <m:t>:</m:t>
                    </m:r>
                  </m:oMath>
                </a14:m>
                <a:r>
                  <a:rPr lang="en-US" sz="2400" b="0" dirty="0">
                    <a:ea typeface="Cambria Math" panose="02040503050406030204" pitchFamily="18" charset="0"/>
                  </a:rPr>
                  <a:t> Model params</a:t>
                </a:r>
              </a:p>
              <a:p>
                <a14:m>
                  <m:oMath xmlns:m="http://schemas.openxmlformats.org/officeDocument/2006/math">
                    <m:r>
                      <a:rPr lang="en-US" sz="2400" b="0" i="1" smtClean="0">
                        <a:latin typeface="Cambria Math" panose="02040503050406030204" pitchFamily="18" charset="0"/>
                        <a:ea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m:t>
                    </m:r>
                  </m:oMath>
                </a14:m>
                <a:r>
                  <a:rPr lang="en-US" sz="2400" b="0" dirty="0">
                    <a:ea typeface="Cambria Math" panose="02040503050406030204" pitchFamily="18" charset="0"/>
                  </a:rPr>
                  <a:t> Experimental configuration</a:t>
                </a:r>
              </a:p>
              <a:p>
                <a14:m>
                  <m:oMath xmlns:m="http://schemas.openxmlformats.org/officeDocument/2006/math">
                    <m:r>
                      <a:rPr lang="en-US" sz="2400" b="0" i="1" smtClean="0">
                        <a:latin typeface="Cambria Math" panose="02040503050406030204" pitchFamily="18" charset="0"/>
                        <a:ea typeface="Cambria Math" panose="02040503050406030204" pitchFamily="18" charset="0"/>
                      </a:rPr>
                      <m:t>𝑦</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m:t>
                    </m:r>
                  </m:oMath>
                </a14:m>
                <a:r>
                  <a:rPr lang="en-US" sz="2400" b="0" dirty="0">
                    <a:ea typeface="Cambria Math" panose="02040503050406030204" pitchFamily="18" charset="0"/>
                  </a:rPr>
                  <a:t> Experimental value</a:t>
                </a:r>
              </a:p>
              <a:p>
                <a14:m>
                  <m:oMath xmlns:m="http://schemas.openxmlformats.org/officeDocument/2006/math">
                    <m:r>
                      <a:rPr lang="en-US" sz="2400" b="0" i="1" smtClean="0">
                        <a:latin typeface="Cambria Math" panose="02040503050406030204" pitchFamily="18" charset="0"/>
                        <a:ea typeface="Cambria Math" panose="02040503050406030204" pitchFamily="18" charset="0"/>
                      </a:rPr>
                      <m:t>𝑀</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m:t>
                    </m:r>
                    <m:r>
                      <a:rPr lang="en-US" sz="2400" b="1" i="1">
                        <a:latin typeface="Cambria Math" panose="02040503050406030204" pitchFamily="18" charset="0"/>
                        <a:ea typeface="Cambria Math" panose="02040503050406030204" pitchFamily="18" charset="0"/>
                      </a:rPr>
                      <m:t>𝜽</m:t>
                    </m:r>
                    <m:r>
                      <a:rPr lang="en-US" sz="2400" b="0" i="1" smtClean="0">
                        <a:latin typeface="Cambria Math" panose="02040503050406030204" pitchFamily="18" charset="0"/>
                        <a:ea typeface="Cambria Math" panose="02040503050406030204" pitchFamily="18" charset="0"/>
                      </a:rPr>
                      <m:t>):</m:t>
                    </m:r>
                  </m:oMath>
                </a14:m>
                <a:r>
                  <a:rPr lang="en-US" sz="2400" b="0" dirty="0">
                    <a:ea typeface="Cambria Math" panose="02040503050406030204" pitchFamily="18" charset="0"/>
                  </a:rPr>
                  <a:t> Model prediction</a:t>
                </a:r>
              </a:p>
              <a:p>
                <a:endParaRPr lang="en-US" sz="2400" dirty="0"/>
              </a:p>
            </p:txBody>
          </p:sp>
        </mc:Choice>
        <mc:Fallback xmlns="">
          <p:sp>
            <p:nvSpPr>
              <p:cNvPr id="22" name="TextBox 21">
                <a:extLst>
                  <a:ext uri="{FF2B5EF4-FFF2-40B4-BE49-F238E27FC236}">
                    <a16:creationId xmlns:a16="http://schemas.microsoft.com/office/drawing/2014/main" id="{B51A82F7-BF38-421C-5ED7-96D7069FB333}"/>
                  </a:ext>
                </a:extLst>
              </p:cNvPr>
              <p:cNvSpPr txBox="1">
                <a:spLocks noRot="1" noChangeAspect="1" noMove="1" noResize="1" noEditPoints="1" noAdjustHandles="1" noChangeArrowheads="1" noChangeShapeType="1" noTextEdit="1"/>
              </p:cNvSpPr>
              <p:nvPr/>
            </p:nvSpPr>
            <p:spPr>
              <a:xfrm>
                <a:off x="5698838" y="1964157"/>
                <a:ext cx="4502702" cy="3993144"/>
              </a:xfrm>
              <a:prstGeom prst="rect">
                <a:avLst/>
              </a:prstGeom>
              <a:blipFill>
                <a:blip r:embed="rId2"/>
                <a:stretch>
                  <a:fillRect l="-15449" t="-20952"/>
                </a:stretch>
              </a:blipFill>
            </p:spPr>
            <p:txBody>
              <a:bodyPr/>
              <a:lstStyle/>
              <a:p>
                <a:r>
                  <a:rPr lang="en-US">
                    <a:noFill/>
                  </a:rPr>
                  <a:t> </a:t>
                </a:r>
              </a:p>
            </p:txBody>
          </p:sp>
        </mc:Fallback>
      </mc:AlternateContent>
      <p:sp>
        <p:nvSpPr>
          <p:cNvPr id="24" name="TextBox 23">
            <a:extLst>
              <a:ext uri="{FF2B5EF4-FFF2-40B4-BE49-F238E27FC236}">
                <a16:creationId xmlns:a16="http://schemas.microsoft.com/office/drawing/2014/main" id="{83CFF1EB-763E-1CD6-80ED-0D2734958741}"/>
              </a:ext>
            </a:extLst>
          </p:cNvPr>
          <p:cNvSpPr txBox="1"/>
          <p:nvPr/>
        </p:nvSpPr>
        <p:spPr>
          <a:xfrm>
            <a:off x="6946992" y="1294937"/>
            <a:ext cx="1703654" cy="646331"/>
          </a:xfrm>
          <a:prstGeom prst="rect">
            <a:avLst/>
          </a:prstGeom>
          <a:noFill/>
        </p:spPr>
        <p:txBody>
          <a:bodyPr wrap="square">
            <a:spAutoFit/>
          </a:bodyPr>
          <a:lstStyle/>
          <a:p>
            <a:pPr algn="ctr"/>
            <a:r>
              <a:rPr lang="en-US" dirty="0">
                <a:solidFill>
                  <a:schemeClr val="tx2"/>
                </a:solidFill>
              </a:rPr>
              <a:t>Required distribution</a:t>
            </a:r>
          </a:p>
        </p:txBody>
      </p:sp>
      <p:sp>
        <p:nvSpPr>
          <p:cNvPr id="25" name="TextBox 24">
            <a:extLst>
              <a:ext uri="{FF2B5EF4-FFF2-40B4-BE49-F238E27FC236}">
                <a16:creationId xmlns:a16="http://schemas.microsoft.com/office/drawing/2014/main" id="{38356931-1041-BCD4-FC65-18608A3893E6}"/>
              </a:ext>
            </a:extLst>
          </p:cNvPr>
          <p:cNvSpPr txBox="1"/>
          <p:nvPr/>
        </p:nvSpPr>
        <p:spPr>
          <a:xfrm>
            <a:off x="10077746" y="2486927"/>
            <a:ext cx="1703654" cy="646331"/>
          </a:xfrm>
          <a:prstGeom prst="rect">
            <a:avLst/>
          </a:prstGeom>
          <a:noFill/>
        </p:spPr>
        <p:txBody>
          <a:bodyPr wrap="square">
            <a:spAutoFit/>
          </a:bodyPr>
          <a:lstStyle/>
          <a:p>
            <a:pPr algn="ctr"/>
            <a:r>
              <a:rPr lang="en-US" dirty="0"/>
              <a:t>Likelihood function</a:t>
            </a:r>
          </a:p>
        </p:txBody>
      </p:sp>
      <p:sp>
        <p:nvSpPr>
          <p:cNvPr id="26" name="TextBox 25">
            <a:extLst>
              <a:ext uri="{FF2B5EF4-FFF2-40B4-BE49-F238E27FC236}">
                <a16:creationId xmlns:a16="http://schemas.microsoft.com/office/drawing/2014/main" id="{9DC0A8AF-360C-2A38-A3B8-C6877250BA4A}"/>
              </a:ext>
            </a:extLst>
          </p:cNvPr>
          <p:cNvSpPr txBox="1"/>
          <p:nvPr/>
        </p:nvSpPr>
        <p:spPr>
          <a:xfrm>
            <a:off x="7798819" y="3391812"/>
            <a:ext cx="1703654" cy="369332"/>
          </a:xfrm>
          <a:prstGeom prst="rect">
            <a:avLst/>
          </a:prstGeom>
          <a:noFill/>
        </p:spPr>
        <p:txBody>
          <a:bodyPr wrap="square">
            <a:spAutoFit/>
          </a:bodyPr>
          <a:lstStyle/>
          <a:p>
            <a:pPr algn="ctr"/>
            <a:r>
              <a:rPr lang="en-US" dirty="0"/>
              <a:t>Prior</a:t>
            </a:r>
          </a:p>
        </p:txBody>
      </p:sp>
    </p:spTree>
    <p:extLst>
      <p:ext uri="{BB962C8B-B14F-4D97-AF65-F5344CB8AC3E}">
        <p14:creationId xmlns:p14="http://schemas.microsoft.com/office/powerpoint/2010/main" val="10223944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7F8CF-3A9A-7B61-E953-5F48D900C0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5C1925-B883-E59B-9F1E-F62A7F96E435}"/>
              </a:ext>
            </a:extLst>
          </p:cNvPr>
          <p:cNvSpPr>
            <a:spLocks noGrp="1"/>
          </p:cNvSpPr>
          <p:nvPr>
            <p:ph type="title"/>
          </p:nvPr>
        </p:nvSpPr>
        <p:spPr>
          <a:xfrm>
            <a:off x="938151" y="558602"/>
            <a:ext cx="10415648" cy="413463"/>
          </a:xfrm>
        </p:spPr>
        <p:txBody>
          <a:bodyPr/>
          <a:lstStyle/>
          <a:p>
            <a:r>
              <a:rPr lang="en-US" dirty="0"/>
              <a:t>Quantify model parameter uncertainties</a:t>
            </a:r>
          </a:p>
        </p:txBody>
      </p:sp>
      <p:sp>
        <p:nvSpPr>
          <p:cNvPr id="4" name="Slide Number Placeholder 3">
            <a:extLst>
              <a:ext uri="{FF2B5EF4-FFF2-40B4-BE49-F238E27FC236}">
                <a16:creationId xmlns:a16="http://schemas.microsoft.com/office/drawing/2014/main" id="{E1FFA47E-48FA-8AF3-157E-E8737B14580C}"/>
              </a:ext>
            </a:extLst>
          </p:cNvPr>
          <p:cNvSpPr>
            <a:spLocks noGrp="1"/>
          </p:cNvSpPr>
          <p:nvPr>
            <p:ph type="sldNum" sz="quarter" idx="12"/>
          </p:nvPr>
        </p:nvSpPr>
        <p:spPr/>
        <p:txBody>
          <a:bodyPr/>
          <a:lstStyle/>
          <a:p>
            <a:fld id="{82B577FA-F7D9-2C48-919F-F962E3BF952F}" type="slidenum">
              <a:rPr lang="en-US" smtClean="0"/>
              <a:t>14</a:t>
            </a:fld>
            <a:endParaRPr lang="en-US"/>
          </a:p>
        </p:txBody>
      </p:sp>
      <p:sp>
        <p:nvSpPr>
          <p:cNvPr id="5" name="TextBox 4">
            <a:extLst>
              <a:ext uri="{FF2B5EF4-FFF2-40B4-BE49-F238E27FC236}">
                <a16:creationId xmlns:a16="http://schemas.microsoft.com/office/drawing/2014/main" id="{996A71B3-7E45-0C73-51BC-86AE58EEB672}"/>
              </a:ext>
            </a:extLst>
          </p:cNvPr>
          <p:cNvSpPr txBox="1"/>
          <p:nvPr/>
        </p:nvSpPr>
        <p:spPr>
          <a:xfrm>
            <a:off x="4725272" y="6550223"/>
            <a:ext cx="2741456" cy="307777"/>
          </a:xfrm>
          <a:prstGeom prst="rect">
            <a:avLst/>
          </a:prstGeom>
          <a:noFill/>
        </p:spPr>
        <p:txBody>
          <a:bodyPr wrap="none" rtlCol="0">
            <a:spAutoFit/>
          </a:bodyPr>
          <a:lstStyle/>
          <a:p>
            <a:r>
              <a:rPr lang="en-US" sz="1400" b="1" i="0" dirty="0">
                <a:solidFill>
                  <a:srgbClr val="07519E"/>
                </a:solidFill>
                <a:effectLst/>
                <a:latin typeface="Arial" panose="020B0604020202020204" pitchFamily="34" charset="0"/>
              </a:rPr>
              <a:t>Part 2: Bayesian (inverse) UQ</a:t>
            </a:r>
            <a:endParaRPr lang="en-US" sz="1400" b="1" dirty="0">
              <a:solidFill>
                <a:srgbClr val="07519E"/>
              </a:solidFill>
            </a:endParaRPr>
          </a:p>
        </p:txBody>
      </p:sp>
      <p:sp>
        <p:nvSpPr>
          <p:cNvPr id="3" name="Rectangle 2">
            <a:extLst>
              <a:ext uri="{FF2B5EF4-FFF2-40B4-BE49-F238E27FC236}">
                <a16:creationId xmlns:a16="http://schemas.microsoft.com/office/drawing/2014/main" id="{0ED3B727-B7CC-9FA9-3D5B-9B28A4EBC32B}"/>
              </a:ext>
            </a:extLst>
          </p:cNvPr>
          <p:cNvSpPr/>
          <p:nvPr/>
        </p:nvSpPr>
        <p:spPr>
          <a:xfrm>
            <a:off x="1486582" y="2181955"/>
            <a:ext cx="2197774" cy="210082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060ECDC3-798A-B5A4-06BE-63320D564913}"/>
              </a:ext>
            </a:extLst>
          </p:cNvPr>
          <p:cNvCxnSpPr>
            <a:cxnSpLocks/>
          </p:cNvCxnSpPr>
          <p:nvPr/>
        </p:nvCxnSpPr>
        <p:spPr>
          <a:xfrm>
            <a:off x="1486581" y="2036747"/>
            <a:ext cx="219777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58156DA5-D80F-7B3B-5B4D-D635D717E3E1}"/>
              </a:ext>
            </a:extLst>
          </p:cNvPr>
          <p:cNvCxnSpPr>
            <a:cxnSpLocks/>
          </p:cNvCxnSpPr>
          <p:nvPr/>
        </p:nvCxnSpPr>
        <p:spPr>
          <a:xfrm flipV="1">
            <a:off x="3837920" y="2180433"/>
            <a:ext cx="1" cy="210234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5AE45E8-22C1-D1B0-B2CC-8743E531D808}"/>
                  </a:ext>
                </a:extLst>
              </p:cNvPr>
              <p:cNvSpPr txBox="1"/>
              <p:nvPr/>
            </p:nvSpPr>
            <p:spPr>
              <a:xfrm>
                <a:off x="1746605" y="1628405"/>
                <a:ext cx="167772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𝑥</m:t>
                          </m:r>
                          <m:r>
                            <a:rPr lang="en-US" b="0" i="1" smtClean="0">
                              <a:latin typeface="Cambria Math" panose="02040503050406030204" pitchFamily="18" charset="0"/>
                            </a:rPr>
                            <m:t>1</m:t>
                          </m:r>
                        </m:sub>
                      </m:sSub>
                    </m:oMath>
                  </m:oMathPara>
                </a14:m>
                <a:endParaRPr lang="en-US" dirty="0"/>
              </a:p>
            </p:txBody>
          </p:sp>
        </mc:Choice>
        <mc:Fallback xmlns="">
          <p:sp>
            <p:nvSpPr>
              <p:cNvPr id="10" name="TextBox 9">
                <a:extLst>
                  <a:ext uri="{FF2B5EF4-FFF2-40B4-BE49-F238E27FC236}">
                    <a16:creationId xmlns:a16="http://schemas.microsoft.com/office/drawing/2014/main" id="{75AE45E8-22C1-D1B0-B2CC-8743E531D808}"/>
                  </a:ext>
                </a:extLst>
              </p:cNvPr>
              <p:cNvSpPr txBox="1">
                <a:spLocks noRot="1" noChangeAspect="1" noMove="1" noResize="1" noEditPoints="1" noAdjustHandles="1" noChangeArrowheads="1" noChangeShapeType="1" noTextEdit="1"/>
              </p:cNvSpPr>
              <p:nvPr/>
            </p:nvSpPr>
            <p:spPr>
              <a:xfrm>
                <a:off x="1746605" y="1628405"/>
                <a:ext cx="1677725"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7E7E933-BCCA-1FD1-0ED2-6D0614FF94EE}"/>
                  </a:ext>
                </a:extLst>
              </p:cNvPr>
              <p:cNvSpPr txBox="1"/>
              <p:nvPr/>
            </p:nvSpPr>
            <p:spPr>
              <a:xfrm>
                <a:off x="3779488" y="3034212"/>
                <a:ext cx="778359" cy="39478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𝑦</m:t>
                          </m:r>
                          <m:r>
                            <a:rPr lang="en-US" b="0" i="1" smtClean="0">
                              <a:latin typeface="Cambria Math" panose="02040503050406030204" pitchFamily="18" charset="0"/>
                            </a:rPr>
                            <m:t>1</m:t>
                          </m:r>
                        </m:sub>
                      </m:sSub>
                    </m:oMath>
                  </m:oMathPara>
                </a14:m>
                <a:endParaRPr lang="en-US" dirty="0"/>
              </a:p>
            </p:txBody>
          </p:sp>
        </mc:Choice>
        <mc:Fallback xmlns="">
          <p:sp>
            <p:nvSpPr>
              <p:cNvPr id="13" name="TextBox 12">
                <a:extLst>
                  <a:ext uri="{FF2B5EF4-FFF2-40B4-BE49-F238E27FC236}">
                    <a16:creationId xmlns:a16="http://schemas.microsoft.com/office/drawing/2014/main" id="{57E7E933-BCCA-1FD1-0ED2-6D0614FF94EE}"/>
                  </a:ext>
                </a:extLst>
              </p:cNvPr>
              <p:cNvSpPr txBox="1">
                <a:spLocks noRot="1" noChangeAspect="1" noMove="1" noResize="1" noEditPoints="1" noAdjustHandles="1" noChangeArrowheads="1" noChangeShapeType="1" noTextEdit="1"/>
              </p:cNvSpPr>
              <p:nvPr/>
            </p:nvSpPr>
            <p:spPr>
              <a:xfrm>
                <a:off x="3779488" y="3034212"/>
                <a:ext cx="778359" cy="394788"/>
              </a:xfrm>
              <a:prstGeom prst="rect">
                <a:avLst/>
              </a:prstGeom>
              <a:blipFill>
                <a:blip r:embed="rId3"/>
                <a:stretch>
                  <a:fillRect b="-6250"/>
                </a:stretch>
              </a:blipFill>
            </p:spPr>
            <p:txBody>
              <a:bodyPr/>
              <a:lstStyle/>
              <a:p>
                <a:r>
                  <a:rPr lang="en-US">
                    <a:noFill/>
                  </a:rPr>
                  <a:t> </a:t>
                </a:r>
              </a:p>
            </p:txBody>
          </p:sp>
        </mc:Fallback>
      </mc:AlternateContent>
      <p:sp>
        <p:nvSpPr>
          <p:cNvPr id="14" name="Oval 13">
            <a:extLst>
              <a:ext uri="{FF2B5EF4-FFF2-40B4-BE49-F238E27FC236}">
                <a16:creationId xmlns:a16="http://schemas.microsoft.com/office/drawing/2014/main" id="{C047B78C-2B93-051F-D5D6-2A69CB66905A}"/>
              </a:ext>
            </a:extLst>
          </p:cNvPr>
          <p:cNvSpPr/>
          <p:nvPr/>
        </p:nvSpPr>
        <p:spPr>
          <a:xfrm>
            <a:off x="1452085" y="4226373"/>
            <a:ext cx="87465" cy="954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63F66DF-3B83-92D6-C581-20B565EB4B2A}"/>
                  </a:ext>
                </a:extLst>
              </p:cNvPr>
              <p:cNvSpPr txBox="1"/>
              <p:nvPr/>
            </p:nvSpPr>
            <p:spPr>
              <a:xfrm>
                <a:off x="1023856" y="4320647"/>
                <a:ext cx="9254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𝒑</m:t>
                      </m:r>
                      <m:r>
                        <a:rPr lang="en-US" b="1" i="1" smtClean="0">
                          <a:latin typeface="Cambria Math" panose="02040503050406030204" pitchFamily="18" charset="0"/>
                        </a:rPr>
                        <m:t>=</m:t>
                      </m:r>
                      <m:r>
                        <a:rPr lang="en-US" b="1" i="1" smtClean="0">
                          <a:latin typeface="Cambria Math" panose="02040503050406030204" pitchFamily="18" charset="0"/>
                        </a:rPr>
                        <m:t>𝟎</m:t>
                      </m:r>
                    </m:oMath>
                  </m:oMathPara>
                </a14:m>
                <a:endParaRPr lang="en-US" b="1" dirty="0"/>
              </a:p>
            </p:txBody>
          </p:sp>
        </mc:Choice>
        <mc:Fallback xmlns="">
          <p:sp>
            <p:nvSpPr>
              <p:cNvPr id="15" name="TextBox 14">
                <a:extLst>
                  <a:ext uri="{FF2B5EF4-FFF2-40B4-BE49-F238E27FC236}">
                    <a16:creationId xmlns:a16="http://schemas.microsoft.com/office/drawing/2014/main" id="{C63F66DF-3B83-92D6-C581-20B565EB4B2A}"/>
                  </a:ext>
                </a:extLst>
              </p:cNvPr>
              <p:cNvSpPr txBox="1">
                <a:spLocks noRot="1" noChangeAspect="1" noMove="1" noResize="1" noEditPoints="1" noAdjustHandles="1" noChangeArrowheads="1" noChangeShapeType="1" noTextEdit="1"/>
              </p:cNvSpPr>
              <p:nvPr/>
            </p:nvSpPr>
            <p:spPr>
              <a:xfrm>
                <a:off x="1023856" y="4320647"/>
                <a:ext cx="925450" cy="369332"/>
              </a:xfrm>
              <a:prstGeom prst="rect">
                <a:avLst/>
              </a:prstGeom>
              <a:blipFill>
                <a:blip r:embed="rId4"/>
                <a:stretch>
                  <a:fillRect b="-10000"/>
                </a:stretch>
              </a:blipFill>
            </p:spPr>
            <p:txBody>
              <a:bodyPr/>
              <a:lstStyle/>
              <a:p>
                <a:r>
                  <a:rPr lang="en-US">
                    <a:noFill/>
                  </a:rPr>
                  <a:t> </a:t>
                </a:r>
              </a:p>
            </p:txBody>
          </p:sp>
        </mc:Fallback>
      </mc:AlternateContent>
      <p:sp>
        <p:nvSpPr>
          <p:cNvPr id="16" name="Oval 15">
            <a:extLst>
              <a:ext uri="{FF2B5EF4-FFF2-40B4-BE49-F238E27FC236}">
                <a16:creationId xmlns:a16="http://schemas.microsoft.com/office/drawing/2014/main" id="{17755B5D-A8FB-FD5F-F0B3-8C4ECB68CFFB}"/>
              </a:ext>
            </a:extLst>
          </p:cNvPr>
          <p:cNvSpPr/>
          <p:nvPr/>
        </p:nvSpPr>
        <p:spPr>
          <a:xfrm>
            <a:off x="2529882" y="3180058"/>
            <a:ext cx="87465" cy="954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34F9884-6DC2-6408-E9DE-E0C799F46ACE}"/>
                  </a:ext>
                </a:extLst>
              </p:cNvPr>
              <p:cNvSpPr txBox="1"/>
              <p:nvPr/>
            </p:nvSpPr>
            <p:spPr>
              <a:xfrm>
                <a:off x="1691019" y="4968086"/>
                <a:ext cx="1677725" cy="6560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ad>
                        <m:radPr>
                          <m:degHide m:val="on"/>
                          <m:ctrlPr>
                            <a:rPr lang="en-US" b="1" i="1" smtClean="0">
                              <a:latin typeface="Cambria Math" panose="02040503050406030204" pitchFamily="18" charset="0"/>
                            </a:rPr>
                          </m:ctrlPr>
                        </m:radPr>
                        <m:deg/>
                        <m:e>
                          <m:sSup>
                            <m:sSupPr>
                              <m:ctrlPr>
                                <a:rPr lang="en-US" b="1" i="1" smtClean="0">
                                  <a:latin typeface="Cambria Math" panose="02040503050406030204" pitchFamily="18" charset="0"/>
                                </a:rPr>
                              </m:ctrlPr>
                            </m:sSupPr>
                            <m:e>
                              <m:sSub>
                                <m:sSubPr>
                                  <m:ctrlPr>
                                    <a:rPr lang="en-US" b="1"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𝑥</m:t>
                                  </m:r>
                                </m:sub>
                              </m:sSub>
                            </m:e>
                            <m:sup>
                              <m:r>
                                <a:rPr lang="en-US" b="1" i="1" smtClean="0">
                                  <a:latin typeface="Cambria Math" panose="02040503050406030204" pitchFamily="18" charset="0"/>
                                </a:rPr>
                                <m:t>𝟐</m:t>
                              </m:r>
                            </m:sup>
                          </m:sSup>
                          <m:r>
                            <a:rPr lang="en-US" b="1" i="1" smtClean="0">
                              <a:latin typeface="Cambria Math" panose="02040503050406030204" pitchFamily="18" charset="0"/>
                            </a:rPr>
                            <m:t>+</m:t>
                          </m:r>
                          <m:sSup>
                            <m:sSupPr>
                              <m:ctrlPr>
                                <a:rPr lang="en-US" b="1" i="1" smtClean="0">
                                  <a:latin typeface="Cambria Math" panose="02040503050406030204" pitchFamily="18" charset="0"/>
                                </a:rPr>
                              </m:ctrlPr>
                            </m:sSupPr>
                            <m:e>
                              <m:sSub>
                                <m:sSubPr>
                                  <m:ctrlPr>
                                    <a:rPr lang="en-US"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𝑦</m:t>
                                  </m:r>
                                </m:sub>
                              </m:sSub>
                            </m:e>
                            <m:sup>
                              <m:r>
                                <a:rPr lang="en-US" b="1" i="1" smtClean="0">
                                  <a:latin typeface="Cambria Math" panose="02040503050406030204" pitchFamily="18" charset="0"/>
                                </a:rPr>
                                <m:t>𝟐</m:t>
                              </m:r>
                            </m:sup>
                          </m:sSup>
                        </m:e>
                      </m:rad>
                    </m:oMath>
                  </m:oMathPara>
                </a14:m>
                <a:endParaRPr lang="en-US" b="1" dirty="0"/>
              </a:p>
            </p:txBody>
          </p:sp>
        </mc:Choice>
        <mc:Fallback xmlns="">
          <p:sp>
            <p:nvSpPr>
              <p:cNvPr id="18" name="TextBox 17">
                <a:extLst>
                  <a:ext uri="{FF2B5EF4-FFF2-40B4-BE49-F238E27FC236}">
                    <a16:creationId xmlns:a16="http://schemas.microsoft.com/office/drawing/2014/main" id="{434F9884-6DC2-6408-E9DE-E0C799F46ACE}"/>
                  </a:ext>
                </a:extLst>
              </p:cNvPr>
              <p:cNvSpPr txBox="1">
                <a:spLocks noRot="1" noChangeAspect="1" noMove="1" noResize="1" noEditPoints="1" noAdjustHandles="1" noChangeArrowheads="1" noChangeShapeType="1" noTextEdit="1"/>
              </p:cNvSpPr>
              <p:nvPr/>
            </p:nvSpPr>
            <p:spPr>
              <a:xfrm>
                <a:off x="1691019" y="4968086"/>
                <a:ext cx="1677725" cy="656013"/>
              </a:xfrm>
              <a:prstGeom prst="rect">
                <a:avLst/>
              </a:prstGeom>
              <a:blipFill>
                <a:blip r:embed="rId5"/>
                <a:stretch>
                  <a:fillRect/>
                </a:stretch>
              </a:blipFill>
            </p:spPr>
            <p:txBody>
              <a:bodyPr/>
              <a:lstStyle/>
              <a:p>
                <a:r>
                  <a:rPr lang="en-US">
                    <a:noFill/>
                  </a:rPr>
                  <a:t> </a:t>
                </a:r>
              </a:p>
            </p:txBody>
          </p:sp>
        </mc:Fallback>
      </mc:AlternateContent>
      <p:sp>
        <p:nvSpPr>
          <p:cNvPr id="22" name="Oval 21">
            <a:extLst>
              <a:ext uri="{FF2B5EF4-FFF2-40B4-BE49-F238E27FC236}">
                <a16:creationId xmlns:a16="http://schemas.microsoft.com/office/drawing/2014/main" id="{33C9390F-E348-63C3-BDA6-9E8694B4734C}"/>
              </a:ext>
            </a:extLst>
          </p:cNvPr>
          <p:cNvSpPr/>
          <p:nvPr/>
        </p:nvSpPr>
        <p:spPr>
          <a:xfrm>
            <a:off x="3235291" y="3180058"/>
            <a:ext cx="87465" cy="954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5C8FBBA1-F1B8-ED6F-1DFD-C80A1A129643}"/>
              </a:ext>
            </a:extLst>
          </p:cNvPr>
          <p:cNvSpPr/>
          <p:nvPr/>
        </p:nvSpPr>
        <p:spPr>
          <a:xfrm>
            <a:off x="1780741" y="3180058"/>
            <a:ext cx="87465" cy="954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AF7C6059-D58A-7C7E-4CE8-8BBC7F25F90F}"/>
              </a:ext>
            </a:extLst>
          </p:cNvPr>
          <p:cNvSpPr/>
          <p:nvPr/>
        </p:nvSpPr>
        <p:spPr>
          <a:xfrm>
            <a:off x="2529882" y="2492692"/>
            <a:ext cx="87465" cy="954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166AC1A6-2F5E-4734-7AFE-639D1564C907}"/>
              </a:ext>
            </a:extLst>
          </p:cNvPr>
          <p:cNvSpPr/>
          <p:nvPr/>
        </p:nvSpPr>
        <p:spPr>
          <a:xfrm>
            <a:off x="3235291" y="2492692"/>
            <a:ext cx="87465" cy="954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038DEF35-189F-2D5C-3968-9B05DCDF27E3}"/>
              </a:ext>
            </a:extLst>
          </p:cNvPr>
          <p:cNvSpPr/>
          <p:nvPr/>
        </p:nvSpPr>
        <p:spPr>
          <a:xfrm>
            <a:off x="1780741" y="2492692"/>
            <a:ext cx="87465" cy="954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67761718-848A-553A-B873-7C0656F0FE98}"/>
              </a:ext>
            </a:extLst>
          </p:cNvPr>
          <p:cNvSpPr/>
          <p:nvPr/>
        </p:nvSpPr>
        <p:spPr>
          <a:xfrm>
            <a:off x="2529882" y="3819716"/>
            <a:ext cx="87465" cy="954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EADFFD79-2B8A-0230-A77C-633C5B00CFEE}"/>
              </a:ext>
            </a:extLst>
          </p:cNvPr>
          <p:cNvSpPr/>
          <p:nvPr/>
        </p:nvSpPr>
        <p:spPr>
          <a:xfrm>
            <a:off x="3235291" y="3819716"/>
            <a:ext cx="87465" cy="954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6FD32B01-5100-1DDE-3B23-DB79508AD7CB}"/>
              </a:ext>
            </a:extLst>
          </p:cNvPr>
          <p:cNvSpPr/>
          <p:nvPr/>
        </p:nvSpPr>
        <p:spPr>
          <a:xfrm>
            <a:off x="1780741" y="3819716"/>
            <a:ext cx="87465" cy="954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F1F9976A-BE09-484E-E61F-B75034E6C6E1}"/>
              </a:ext>
            </a:extLst>
          </p:cNvPr>
          <p:cNvSpPr txBox="1"/>
          <p:nvPr/>
        </p:nvSpPr>
        <p:spPr>
          <a:xfrm>
            <a:off x="4897884" y="1603051"/>
            <a:ext cx="2946380" cy="2862322"/>
          </a:xfrm>
          <a:prstGeom prst="rect">
            <a:avLst/>
          </a:prstGeom>
          <a:noFill/>
        </p:spPr>
        <p:txBody>
          <a:bodyPr wrap="square">
            <a:spAutoFit/>
          </a:bodyPr>
          <a:lstStyle/>
          <a:p>
            <a:pPr algn="ctr"/>
            <a:r>
              <a:rPr lang="en-US" b="1" dirty="0"/>
              <a:t>“Experimental data”</a:t>
            </a:r>
          </a:p>
          <a:p>
            <a:pPr marL="285750" indent="-285750">
              <a:buFontTx/>
              <a:buChar char="-"/>
            </a:pPr>
            <a:r>
              <a:rPr lang="en-US" dirty="0"/>
              <a:t>Resultant velocities at 9 locations in the domain</a:t>
            </a:r>
          </a:p>
          <a:p>
            <a:pPr marL="285750" indent="-285750">
              <a:buFontTx/>
              <a:buChar char="-"/>
            </a:pPr>
            <a:r>
              <a:rPr lang="en-US" dirty="0"/>
              <a:t>Resultant velocities: experimental data</a:t>
            </a:r>
          </a:p>
          <a:p>
            <a:pPr marL="285750" indent="-285750">
              <a:buFontTx/>
              <a:buChar char="-"/>
            </a:pPr>
            <a:r>
              <a:rPr lang="en-US" dirty="0"/>
              <a:t>Locations: experimental configurations</a:t>
            </a:r>
          </a:p>
          <a:p>
            <a:pPr marL="285750" indent="-285750">
              <a:buFontTx/>
              <a:buChar char="-"/>
            </a:pPr>
            <a:endParaRPr lang="en-US" dirty="0"/>
          </a:p>
          <a:p>
            <a:pPr marL="285750" indent="-285750">
              <a:buFontTx/>
              <a:buChar char="-"/>
            </a:pPr>
            <a:r>
              <a:rPr lang="en-US" dirty="0"/>
              <a:t>Ux1 = 1.0, Uy1 = 2.5</a:t>
            </a:r>
          </a:p>
          <a:p>
            <a:pPr algn="ctr"/>
            <a:r>
              <a:rPr lang="en-US" dirty="0"/>
              <a:t>(treated as unknown)</a:t>
            </a:r>
          </a:p>
        </p:txBody>
      </p:sp>
      <p:sp>
        <p:nvSpPr>
          <p:cNvPr id="31" name="TextBox 30">
            <a:extLst>
              <a:ext uri="{FF2B5EF4-FFF2-40B4-BE49-F238E27FC236}">
                <a16:creationId xmlns:a16="http://schemas.microsoft.com/office/drawing/2014/main" id="{54878936-E195-9993-9348-6BEF39A9CFAF}"/>
              </a:ext>
            </a:extLst>
          </p:cNvPr>
          <p:cNvSpPr txBox="1"/>
          <p:nvPr/>
        </p:nvSpPr>
        <p:spPr>
          <a:xfrm>
            <a:off x="8729381" y="1603051"/>
            <a:ext cx="2946380" cy="2585323"/>
          </a:xfrm>
          <a:prstGeom prst="rect">
            <a:avLst/>
          </a:prstGeom>
          <a:noFill/>
        </p:spPr>
        <p:txBody>
          <a:bodyPr wrap="square">
            <a:spAutoFit/>
          </a:bodyPr>
          <a:lstStyle/>
          <a:p>
            <a:pPr algn="ctr"/>
            <a:r>
              <a:rPr lang="en-US" b="1" dirty="0"/>
              <a:t>Predictive model</a:t>
            </a:r>
          </a:p>
          <a:p>
            <a:pPr marL="285750" indent="-285750">
              <a:buFontTx/>
              <a:buChar char="-"/>
            </a:pPr>
            <a:r>
              <a:rPr lang="en-US" dirty="0"/>
              <a:t>Predict resultant velocities at 9 locations in the domain</a:t>
            </a:r>
          </a:p>
          <a:p>
            <a:endParaRPr lang="en-US" dirty="0"/>
          </a:p>
          <a:p>
            <a:pPr marL="285750" indent="-285750">
              <a:buFontTx/>
              <a:buChar char="-"/>
            </a:pPr>
            <a:r>
              <a:rPr lang="en-US" dirty="0"/>
              <a:t>Infer the unknown Ux1, Uy1 such that predictions match experiments</a:t>
            </a:r>
          </a:p>
        </p:txBody>
      </p:sp>
      <p:pic>
        <p:nvPicPr>
          <p:cNvPr id="33" name="Picture 32" descr="Text&#10;&#10;AI-generated content may be incorrect.">
            <a:extLst>
              <a:ext uri="{FF2B5EF4-FFF2-40B4-BE49-F238E27FC236}">
                <a16:creationId xmlns:a16="http://schemas.microsoft.com/office/drawing/2014/main" id="{3CE57702-127F-039A-DF1C-50927FF671A0}"/>
              </a:ext>
            </a:extLst>
          </p:cNvPr>
          <p:cNvPicPr>
            <a:picLocks noChangeAspect="1"/>
          </p:cNvPicPr>
          <p:nvPr/>
        </p:nvPicPr>
        <p:blipFill>
          <a:blip r:embed="rId6"/>
          <a:stretch>
            <a:fillRect/>
          </a:stretch>
        </p:blipFill>
        <p:spPr>
          <a:xfrm>
            <a:off x="4988686" y="4630290"/>
            <a:ext cx="2937583" cy="1249317"/>
          </a:xfrm>
          <a:prstGeom prst="rect">
            <a:avLst/>
          </a:prstGeom>
        </p:spPr>
      </p:pic>
      <p:pic>
        <p:nvPicPr>
          <p:cNvPr id="34" name="Picture 33" descr="Text&#10;&#10;AI-generated content may be incorrect.">
            <a:extLst>
              <a:ext uri="{FF2B5EF4-FFF2-40B4-BE49-F238E27FC236}">
                <a16:creationId xmlns:a16="http://schemas.microsoft.com/office/drawing/2014/main" id="{C5A17A7F-DAC2-09E7-6C31-B71487871E0F}"/>
              </a:ext>
            </a:extLst>
          </p:cNvPr>
          <p:cNvPicPr>
            <a:picLocks noChangeAspect="1"/>
          </p:cNvPicPr>
          <p:nvPr/>
        </p:nvPicPr>
        <p:blipFill>
          <a:blip r:embed="rId6"/>
          <a:stretch>
            <a:fillRect/>
          </a:stretch>
        </p:blipFill>
        <p:spPr>
          <a:xfrm>
            <a:off x="8738178" y="4630290"/>
            <a:ext cx="2937583" cy="1249317"/>
          </a:xfrm>
          <a:prstGeom prst="rect">
            <a:avLst/>
          </a:prstGeom>
        </p:spPr>
      </p:pic>
    </p:spTree>
    <p:extLst>
      <p:ext uri="{BB962C8B-B14F-4D97-AF65-F5344CB8AC3E}">
        <p14:creationId xmlns:p14="http://schemas.microsoft.com/office/powerpoint/2010/main" val="28291025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29CEB-921F-02C8-B0A8-4CEEF99AA0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428B62-6237-77EB-332E-8794BF516724}"/>
              </a:ext>
            </a:extLst>
          </p:cNvPr>
          <p:cNvSpPr>
            <a:spLocks noGrp="1"/>
          </p:cNvSpPr>
          <p:nvPr>
            <p:ph type="title"/>
          </p:nvPr>
        </p:nvSpPr>
        <p:spPr>
          <a:xfrm>
            <a:off x="938151" y="558602"/>
            <a:ext cx="10415648" cy="413463"/>
          </a:xfrm>
        </p:spPr>
        <p:txBody>
          <a:bodyPr/>
          <a:lstStyle/>
          <a:p>
            <a:r>
              <a:rPr lang="en-US" dirty="0"/>
              <a:t>Quantify model parameter uncertainties</a:t>
            </a:r>
          </a:p>
        </p:txBody>
      </p:sp>
      <p:sp>
        <p:nvSpPr>
          <p:cNvPr id="4" name="Slide Number Placeholder 3">
            <a:extLst>
              <a:ext uri="{FF2B5EF4-FFF2-40B4-BE49-F238E27FC236}">
                <a16:creationId xmlns:a16="http://schemas.microsoft.com/office/drawing/2014/main" id="{D56435DC-E0A0-5F0D-8263-D20DD22C26BC}"/>
              </a:ext>
            </a:extLst>
          </p:cNvPr>
          <p:cNvSpPr>
            <a:spLocks noGrp="1"/>
          </p:cNvSpPr>
          <p:nvPr>
            <p:ph type="sldNum" sz="quarter" idx="12"/>
          </p:nvPr>
        </p:nvSpPr>
        <p:spPr/>
        <p:txBody>
          <a:bodyPr/>
          <a:lstStyle/>
          <a:p>
            <a:fld id="{82B577FA-F7D9-2C48-919F-F962E3BF952F}" type="slidenum">
              <a:rPr lang="en-US" smtClean="0"/>
              <a:t>15</a:t>
            </a:fld>
            <a:endParaRPr lang="en-US"/>
          </a:p>
        </p:txBody>
      </p:sp>
      <p:sp>
        <p:nvSpPr>
          <p:cNvPr id="5" name="TextBox 4">
            <a:extLst>
              <a:ext uri="{FF2B5EF4-FFF2-40B4-BE49-F238E27FC236}">
                <a16:creationId xmlns:a16="http://schemas.microsoft.com/office/drawing/2014/main" id="{94FA40AB-8C9A-CDAB-7219-66A185D336C1}"/>
              </a:ext>
            </a:extLst>
          </p:cNvPr>
          <p:cNvSpPr txBox="1"/>
          <p:nvPr/>
        </p:nvSpPr>
        <p:spPr>
          <a:xfrm>
            <a:off x="4725272" y="6550223"/>
            <a:ext cx="2741456" cy="307777"/>
          </a:xfrm>
          <a:prstGeom prst="rect">
            <a:avLst/>
          </a:prstGeom>
          <a:noFill/>
        </p:spPr>
        <p:txBody>
          <a:bodyPr wrap="none" rtlCol="0">
            <a:spAutoFit/>
          </a:bodyPr>
          <a:lstStyle/>
          <a:p>
            <a:r>
              <a:rPr lang="en-US" sz="1400" b="1" i="0" dirty="0">
                <a:solidFill>
                  <a:srgbClr val="07519E"/>
                </a:solidFill>
                <a:effectLst/>
                <a:latin typeface="Arial" panose="020B0604020202020204" pitchFamily="34" charset="0"/>
              </a:rPr>
              <a:t>Part 2: Bayesian (inverse) UQ</a:t>
            </a:r>
            <a:endParaRPr lang="en-US" sz="1400" b="1" dirty="0">
              <a:solidFill>
                <a:srgbClr val="07519E"/>
              </a:solidFill>
            </a:endParaRPr>
          </a:p>
        </p:txBody>
      </p:sp>
      <p:pic>
        <p:nvPicPr>
          <p:cNvPr id="7" name="Picture 6" descr="Text&#10;&#10;AI-generated content may be incorrect.">
            <a:extLst>
              <a:ext uri="{FF2B5EF4-FFF2-40B4-BE49-F238E27FC236}">
                <a16:creationId xmlns:a16="http://schemas.microsoft.com/office/drawing/2014/main" id="{D3358263-128C-7913-0114-893143461B08}"/>
              </a:ext>
            </a:extLst>
          </p:cNvPr>
          <p:cNvPicPr>
            <a:picLocks noChangeAspect="1"/>
          </p:cNvPicPr>
          <p:nvPr/>
        </p:nvPicPr>
        <p:blipFill>
          <a:blip r:embed="rId2"/>
          <a:stretch>
            <a:fillRect/>
          </a:stretch>
        </p:blipFill>
        <p:spPr>
          <a:xfrm>
            <a:off x="324047" y="2003144"/>
            <a:ext cx="2180721" cy="2851712"/>
          </a:xfrm>
          <a:prstGeom prst="rect">
            <a:avLst/>
          </a:prstGeom>
        </p:spPr>
      </p:pic>
      <p:pic>
        <p:nvPicPr>
          <p:cNvPr id="9" name="Picture 8" descr="Graphical user interface, text&#10;&#10;AI-generated content may be incorrect.">
            <a:extLst>
              <a:ext uri="{FF2B5EF4-FFF2-40B4-BE49-F238E27FC236}">
                <a16:creationId xmlns:a16="http://schemas.microsoft.com/office/drawing/2014/main" id="{23A008E7-1C6A-ACBE-1BC6-F806951E1A11}"/>
              </a:ext>
            </a:extLst>
          </p:cNvPr>
          <p:cNvPicPr>
            <a:picLocks noChangeAspect="1"/>
          </p:cNvPicPr>
          <p:nvPr/>
        </p:nvPicPr>
        <p:blipFill>
          <a:blip r:embed="rId3"/>
          <a:stretch>
            <a:fillRect/>
          </a:stretch>
        </p:blipFill>
        <p:spPr>
          <a:xfrm>
            <a:off x="3077292" y="2591145"/>
            <a:ext cx="3800815" cy="1675710"/>
          </a:xfrm>
          <a:prstGeom prst="rect">
            <a:avLst/>
          </a:prstGeom>
        </p:spPr>
      </p:pic>
      <p:pic>
        <p:nvPicPr>
          <p:cNvPr id="11" name="Picture 10" descr="Text&#10;&#10;AI-generated content may be incorrect.">
            <a:extLst>
              <a:ext uri="{FF2B5EF4-FFF2-40B4-BE49-F238E27FC236}">
                <a16:creationId xmlns:a16="http://schemas.microsoft.com/office/drawing/2014/main" id="{7EAEC958-E463-B697-3233-33600DD334D5}"/>
              </a:ext>
            </a:extLst>
          </p:cNvPr>
          <p:cNvPicPr>
            <a:picLocks noChangeAspect="1"/>
          </p:cNvPicPr>
          <p:nvPr/>
        </p:nvPicPr>
        <p:blipFill>
          <a:blip r:embed="rId4"/>
          <a:stretch>
            <a:fillRect/>
          </a:stretch>
        </p:blipFill>
        <p:spPr>
          <a:xfrm>
            <a:off x="7558028" y="1356972"/>
            <a:ext cx="4309925" cy="3693077"/>
          </a:xfrm>
          <a:prstGeom prst="rect">
            <a:avLst/>
          </a:prstGeom>
        </p:spPr>
      </p:pic>
      <p:sp>
        <p:nvSpPr>
          <p:cNvPr id="18" name="TextBox 17">
            <a:extLst>
              <a:ext uri="{FF2B5EF4-FFF2-40B4-BE49-F238E27FC236}">
                <a16:creationId xmlns:a16="http://schemas.microsoft.com/office/drawing/2014/main" id="{EA019B13-5B0C-DCEA-8F73-8DDC8E581FE9}"/>
              </a:ext>
            </a:extLst>
          </p:cNvPr>
          <p:cNvSpPr txBox="1"/>
          <p:nvPr/>
        </p:nvSpPr>
        <p:spPr>
          <a:xfrm>
            <a:off x="324047" y="5119867"/>
            <a:ext cx="1916682" cy="646331"/>
          </a:xfrm>
          <a:prstGeom prst="rect">
            <a:avLst/>
          </a:prstGeom>
          <a:noFill/>
        </p:spPr>
        <p:txBody>
          <a:bodyPr wrap="square">
            <a:spAutoFit/>
          </a:bodyPr>
          <a:lstStyle/>
          <a:p>
            <a:pPr marL="342900" indent="-342900" algn="ctr">
              <a:buAutoNum type="arabicPeriod"/>
            </a:pPr>
            <a:r>
              <a:rPr lang="en-US" dirty="0"/>
              <a:t>Distributions</a:t>
            </a:r>
          </a:p>
          <a:p>
            <a:pPr algn="ctr"/>
            <a:r>
              <a:rPr lang="en-US" dirty="0"/>
              <a:t>Priors</a:t>
            </a:r>
          </a:p>
        </p:txBody>
      </p:sp>
      <p:sp>
        <p:nvSpPr>
          <p:cNvPr id="19" name="TextBox 18">
            <a:extLst>
              <a:ext uri="{FF2B5EF4-FFF2-40B4-BE49-F238E27FC236}">
                <a16:creationId xmlns:a16="http://schemas.microsoft.com/office/drawing/2014/main" id="{2BC3CD7B-6652-3222-7B42-748C2404C297}"/>
              </a:ext>
            </a:extLst>
          </p:cNvPr>
          <p:cNvSpPr txBox="1"/>
          <p:nvPr/>
        </p:nvSpPr>
        <p:spPr>
          <a:xfrm>
            <a:off x="3973061" y="5258366"/>
            <a:ext cx="1916682" cy="369332"/>
          </a:xfrm>
          <a:prstGeom prst="rect">
            <a:avLst/>
          </a:prstGeom>
          <a:noFill/>
        </p:spPr>
        <p:txBody>
          <a:bodyPr wrap="square">
            <a:spAutoFit/>
          </a:bodyPr>
          <a:lstStyle/>
          <a:p>
            <a:pPr algn="ctr"/>
            <a:r>
              <a:rPr lang="en-US" dirty="0"/>
              <a:t>2. Likelihood</a:t>
            </a:r>
          </a:p>
        </p:txBody>
      </p:sp>
      <p:sp>
        <p:nvSpPr>
          <p:cNvPr id="20" name="TextBox 19">
            <a:extLst>
              <a:ext uri="{FF2B5EF4-FFF2-40B4-BE49-F238E27FC236}">
                <a16:creationId xmlns:a16="http://schemas.microsoft.com/office/drawing/2014/main" id="{37AA7D8C-A911-CAA1-165B-35B86E5D6A88}"/>
              </a:ext>
            </a:extLst>
          </p:cNvPr>
          <p:cNvSpPr txBox="1"/>
          <p:nvPr/>
        </p:nvSpPr>
        <p:spPr>
          <a:xfrm>
            <a:off x="8143878" y="5120485"/>
            <a:ext cx="3138224" cy="646331"/>
          </a:xfrm>
          <a:prstGeom prst="rect">
            <a:avLst/>
          </a:prstGeom>
          <a:noFill/>
        </p:spPr>
        <p:txBody>
          <a:bodyPr wrap="square">
            <a:spAutoFit/>
          </a:bodyPr>
          <a:lstStyle/>
          <a:p>
            <a:pPr algn="ctr"/>
            <a:r>
              <a:rPr lang="en-US" dirty="0"/>
              <a:t>3. Samplers</a:t>
            </a:r>
          </a:p>
          <a:p>
            <a:pPr algn="ctr"/>
            <a:r>
              <a:rPr lang="en-US" dirty="0"/>
              <a:t>Differential evolution MCMC</a:t>
            </a:r>
          </a:p>
        </p:txBody>
      </p:sp>
    </p:spTree>
    <p:extLst>
      <p:ext uri="{BB962C8B-B14F-4D97-AF65-F5344CB8AC3E}">
        <p14:creationId xmlns:p14="http://schemas.microsoft.com/office/powerpoint/2010/main" val="26501373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46490-239F-7BC0-7008-4C028DCFCD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FB41E8-37AF-6379-3B7F-AA7A6194B9BC}"/>
              </a:ext>
            </a:extLst>
          </p:cNvPr>
          <p:cNvSpPr>
            <a:spLocks noGrp="1"/>
          </p:cNvSpPr>
          <p:nvPr>
            <p:ph type="title"/>
          </p:nvPr>
        </p:nvSpPr>
        <p:spPr>
          <a:xfrm>
            <a:off x="938151" y="558602"/>
            <a:ext cx="10415648" cy="413463"/>
          </a:xfrm>
        </p:spPr>
        <p:txBody>
          <a:bodyPr/>
          <a:lstStyle/>
          <a:p>
            <a:r>
              <a:rPr lang="en-US" dirty="0"/>
              <a:t>Quantify model parameter uncertainties</a:t>
            </a:r>
          </a:p>
        </p:txBody>
      </p:sp>
      <p:sp>
        <p:nvSpPr>
          <p:cNvPr id="4" name="Slide Number Placeholder 3">
            <a:extLst>
              <a:ext uri="{FF2B5EF4-FFF2-40B4-BE49-F238E27FC236}">
                <a16:creationId xmlns:a16="http://schemas.microsoft.com/office/drawing/2014/main" id="{486020CD-7460-4A3C-1D5B-DE861DC4F27C}"/>
              </a:ext>
            </a:extLst>
          </p:cNvPr>
          <p:cNvSpPr>
            <a:spLocks noGrp="1"/>
          </p:cNvSpPr>
          <p:nvPr>
            <p:ph type="sldNum" sz="quarter" idx="12"/>
          </p:nvPr>
        </p:nvSpPr>
        <p:spPr/>
        <p:txBody>
          <a:bodyPr/>
          <a:lstStyle/>
          <a:p>
            <a:fld id="{82B577FA-F7D9-2C48-919F-F962E3BF952F}" type="slidenum">
              <a:rPr lang="en-US" smtClean="0"/>
              <a:t>16</a:t>
            </a:fld>
            <a:endParaRPr lang="en-US"/>
          </a:p>
        </p:txBody>
      </p:sp>
      <p:sp>
        <p:nvSpPr>
          <p:cNvPr id="5" name="TextBox 4">
            <a:extLst>
              <a:ext uri="{FF2B5EF4-FFF2-40B4-BE49-F238E27FC236}">
                <a16:creationId xmlns:a16="http://schemas.microsoft.com/office/drawing/2014/main" id="{D90502AF-B25B-9BC4-C97B-4CF9DE40D9FD}"/>
              </a:ext>
            </a:extLst>
          </p:cNvPr>
          <p:cNvSpPr txBox="1"/>
          <p:nvPr/>
        </p:nvSpPr>
        <p:spPr>
          <a:xfrm>
            <a:off x="4725272" y="6550223"/>
            <a:ext cx="2741456" cy="307777"/>
          </a:xfrm>
          <a:prstGeom prst="rect">
            <a:avLst/>
          </a:prstGeom>
          <a:noFill/>
        </p:spPr>
        <p:txBody>
          <a:bodyPr wrap="none" rtlCol="0">
            <a:spAutoFit/>
          </a:bodyPr>
          <a:lstStyle/>
          <a:p>
            <a:r>
              <a:rPr lang="en-US" sz="1400" b="1" i="0" dirty="0">
                <a:solidFill>
                  <a:srgbClr val="07519E"/>
                </a:solidFill>
                <a:effectLst/>
                <a:latin typeface="Arial" panose="020B0604020202020204" pitchFamily="34" charset="0"/>
              </a:rPr>
              <a:t>Part 2: Bayesian (inverse) UQ</a:t>
            </a:r>
            <a:endParaRPr lang="en-US" sz="1400" b="1" dirty="0">
              <a:solidFill>
                <a:srgbClr val="07519E"/>
              </a:solidFill>
            </a:endParaRPr>
          </a:p>
        </p:txBody>
      </p:sp>
      <p:pic>
        <p:nvPicPr>
          <p:cNvPr id="13" name="Picture 12" descr="Text&#10;&#10;AI-generated content may be incorrect.">
            <a:extLst>
              <a:ext uri="{FF2B5EF4-FFF2-40B4-BE49-F238E27FC236}">
                <a16:creationId xmlns:a16="http://schemas.microsoft.com/office/drawing/2014/main" id="{74B5553F-072E-DD1B-F261-D709ECCB00B5}"/>
              </a:ext>
            </a:extLst>
          </p:cNvPr>
          <p:cNvPicPr>
            <a:picLocks noChangeAspect="1"/>
          </p:cNvPicPr>
          <p:nvPr/>
        </p:nvPicPr>
        <p:blipFill>
          <a:blip r:embed="rId2"/>
          <a:stretch>
            <a:fillRect/>
          </a:stretch>
        </p:blipFill>
        <p:spPr>
          <a:xfrm>
            <a:off x="589448" y="1493658"/>
            <a:ext cx="3999087" cy="3368407"/>
          </a:xfrm>
          <a:prstGeom prst="rect">
            <a:avLst/>
          </a:prstGeom>
        </p:spPr>
      </p:pic>
      <p:pic>
        <p:nvPicPr>
          <p:cNvPr id="15" name="Picture 14" descr="Graphical user interface, text&#10;&#10;AI-generated content may be incorrect.">
            <a:extLst>
              <a:ext uri="{FF2B5EF4-FFF2-40B4-BE49-F238E27FC236}">
                <a16:creationId xmlns:a16="http://schemas.microsoft.com/office/drawing/2014/main" id="{A4407D89-C05D-26C9-7F94-37B1560AA539}"/>
              </a:ext>
            </a:extLst>
          </p:cNvPr>
          <p:cNvPicPr>
            <a:picLocks noChangeAspect="1"/>
          </p:cNvPicPr>
          <p:nvPr/>
        </p:nvPicPr>
        <p:blipFill>
          <a:blip r:embed="rId3"/>
          <a:stretch>
            <a:fillRect/>
          </a:stretch>
        </p:blipFill>
        <p:spPr>
          <a:xfrm>
            <a:off x="6686441" y="1106272"/>
            <a:ext cx="3359449" cy="1549431"/>
          </a:xfrm>
          <a:prstGeom prst="rect">
            <a:avLst/>
          </a:prstGeom>
        </p:spPr>
      </p:pic>
      <p:pic>
        <p:nvPicPr>
          <p:cNvPr id="17" name="Picture 16" descr="Text&#10;&#10;AI-generated content may be incorrect.">
            <a:extLst>
              <a:ext uri="{FF2B5EF4-FFF2-40B4-BE49-F238E27FC236}">
                <a16:creationId xmlns:a16="http://schemas.microsoft.com/office/drawing/2014/main" id="{C1A979ED-C7A0-D10A-ECDF-31C57FDBC9F7}"/>
              </a:ext>
            </a:extLst>
          </p:cNvPr>
          <p:cNvPicPr>
            <a:picLocks noChangeAspect="1"/>
          </p:cNvPicPr>
          <p:nvPr/>
        </p:nvPicPr>
        <p:blipFill>
          <a:blip r:embed="rId4"/>
          <a:stretch>
            <a:fillRect/>
          </a:stretch>
        </p:blipFill>
        <p:spPr>
          <a:xfrm>
            <a:off x="5937952" y="3611170"/>
            <a:ext cx="4856426" cy="2598039"/>
          </a:xfrm>
          <a:prstGeom prst="rect">
            <a:avLst/>
          </a:prstGeom>
        </p:spPr>
      </p:pic>
      <p:sp>
        <p:nvSpPr>
          <p:cNvPr id="3" name="TextBox 2">
            <a:extLst>
              <a:ext uri="{FF2B5EF4-FFF2-40B4-BE49-F238E27FC236}">
                <a16:creationId xmlns:a16="http://schemas.microsoft.com/office/drawing/2014/main" id="{12F60EFA-DA82-1ED5-9646-2215A8758FE5}"/>
              </a:ext>
            </a:extLst>
          </p:cNvPr>
          <p:cNvSpPr txBox="1"/>
          <p:nvPr/>
        </p:nvSpPr>
        <p:spPr>
          <a:xfrm>
            <a:off x="1630650" y="5126307"/>
            <a:ext cx="1916682" cy="646331"/>
          </a:xfrm>
          <a:prstGeom prst="rect">
            <a:avLst/>
          </a:prstGeom>
          <a:noFill/>
        </p:spPr>
        <p:txBody>
          <a:bodyPr wrap="square">
            <a:spAutoFit/>
          </a:bodyPr>
          <a:lstStyle/>
          <a:p>
            <a:pPr algn="ctr"/>
            <a:r>
              <a:rPr lang="en-US" dirty="0"/>
              <a:t>4. </a:t>
            </a:r>
            <a:r>
              <a:rPr lang="en-US" dirty="0" err="1"/>
              <a:t>MultiApps</a:t>
            </a:r>
            <a:r>
              <a:rPr lang="en-US" dirty="0"/>
              <a:t> and Transfers</a:t>
            </a:r>
          </a:p>
        </p:txBody>
      </p:sp>
      <p:sp>
        <p:nvSpPr>
          <p:cNvPr id="6" name="TextBox 5">
            <a:extLst>
              <a:ext uri="{FF2B5EF4-FFF2-40B4-BE49-F238E27FC236}">
                <a16:creationId xmlns:a16="http://schemas.microsoft.com/office/drawing/2014/main" id="{5BE64F5A-7351-CA2F-E969-47ACD928467C}"/>
              </a:ext>
            </a:extLst>
          </p:cNvPr>
          <p:cNvSpPr txBox="1"/>
          <p:nvPr/>
        </p:nvSpPr>
        <p:spPr>
          <a:xfrm>
            <a:off x="7407824" y="2722251"/>
            <a:ext cx="1916682" cy="369332"/>
          </a:xfrm>
          <a:prstGeom prst="rect">
            <a:avLst/>
          </a:prstGeom>
          <a:noFill/>
        </p:spPr>
        <p:txBody>
          <a:bodyPr wrap="square">
            <a:spAutoFit/>
          </a:bodyPr>
          <a:lstStyle/>
          <a:p>
            <a:pPr algn="ctr"/>
            <a:r>
              <a:rPr lang="en-US" dirty="0"/>
              <a:t>5. Controls</a:t>
            </a:r>
          </a:p>
        </p:txBody>
      </p:sp>
      <p:sp>
        <p:nvSpPr>
          <p:cNvPr id="8" name="TextBox 7">
            <a:extLst>
              <a:ext uri="{FF2B5EF4-FFF2-40B4-BE49-F238E27FC236}">
                <a16:creationId xmlns:a16="http://schemas.microsoft.com/office/drawing/2014/main" id="{82967F59-A571-840A-E4A4-EEA6E19BB6AA}"/>
              </a:ext>
            </a:extLst>
          </p:cNvPr>
          <p:cNvSpPr txBox="1"/>
          <p:nvPr/>
        </p:nvSpPr>
        <p:spPr>
          <a:xfrm>
            <a:off x="10625744" y="4664642"/>
            <a:ext cx="1744413" cy="923330"/>
          </a:xfrm>
          <a:prstGeom prst="rect">
            <a:avLst/>
          </a:prstGeom>
          <a:noFill/>
        </p:spPr>
        <p:txBody>
          <a:bodyPr wrap="square">
            <a:spAutoFit/>
          </a:bodyPr>
          <a:lstStyle/>
          <a:p>
            <a:pPr algn="ctr"/>
            <a:r>
              <a:rPr lang="en-US" dirty="0"/>
              <a:t>6. Reporters</a:t>
            </a:r>
          </a:p>
          <a:p>
            <a:pPr algn="ctr"/>
            <a:r>
              <a:rPr lang="en-US" dirty="0"/>
              <a:t>Decision-making</a:t>
            </a:r>
          </a:p>
        </p:txBody>
      </p:sp>
    </p:spTree>
    <p:extLst>
      <p:ext uri="{BB962C8B-B14F-4D97-AF65-F5344CB8AC3E}">
        <p14:creationId xmlns:p14="http://schemas.microsoft.com/office/powerpoint/2010/main" val="11134034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B13CC-EA32-AECA-D02A-9A08588D65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4A206A-FE85-1A7E-5F6F-F16B19E8AD76}"/>
              </a:ext>
            </a:extLst>
          </p:cNvPr>
          <p:cNvSpPr>
            <a:spLocks noGrp="1"/>
          </p:cNvSpPr>
          <p:nvPr>
            <p:ph type="title"/>
          </p:nvPr>
        </p:nvSpPr>
        <p:spPr>
          <a:xfrm>
            <a:off x="938151" y="558602"/>
            <a:ext cx="10415648" cy="413463"/>
          </a:xfrm>
        </p:spPr>
        <p:txBody>
          <a:bodyPr/>
          <a:lstStyle/>
          <a:p>
            <a:r>
              <a:rPr lang="en-US" dirty="0"/>
              <a:t>Computational engine</a:t>
            </a:r>
          </a:p>
        </p:txBody>
      </p:sp>
      <p:sp>
        <p:nvSpPr>
          <p:cNvPr id="4" name="Slide Number Placeholder 3">
            <a:extLst>
              <a:ext uri="{FF2B5EF4-FFF2-40B4-BE49-F238E27FC236}">
                <a16:creationId xmlns:a16="http://schemas.microsoft.com/office/drawing/2014/main" id="{BD997A4B-0AAC-9E57-C915-70083FE97679}"/>
              </a:ext>
            </a:extLst>
          </p:cNvPr>
          <p:cNvSpPr>
            <a:spLocks noGrp="1"/>
          </p:cNvSpPr>
          <p:nvPr>
            <p:ph type="sldNum" sz="quarter" idx="12"/>
          </p:nvPr>
        </p:nvSpPr>
        <p:spPr/>
        <p:txBody>
          <a:bodyPr/>
          <a:lstStyle/>
          <a:p>
            <a:fld id="{82B577FA-F7D9-2C48-919F-F962E3BF952F}" type="slidenum">
              <a:rPr lang="en-US" smtClean="0"/>
              <a:t>17</a:t>
            </a:fld>
            <a:endParaRPr lang="en-US"/>
          </a:p>
        </p:txBody>
      </p:sp>
      <p:sp>
        <p:nvSpPr>
          <p:cNvPr id="5" name="TextBox 4">
            <a:extLst>
              <a:ext uri="{FF2B5EF4-FFF2-40B4-BE49-F238E27FC236}">
                <a16:creationId xmlns:a16="http://schemas.microsoft.com/office/drawing/2014/main" id="{237BCD90-333B-95D0-66A7-C213E351E8CA}"/>
              </a:ext>
            </a:extLst>
          </p:cNvPr>
          <p:cNvSpPr txBox="1"/>
          <p:nvPr/>
        </p:nvSpPr>
        <p:spPr>
          <a:xfrm>
            <a:off x="4725272" y="6550223"/>
            <a:ext cx="2741456" cy="307777"/>
          </a:xfrm>
          <a:prstGeom prst="rect">
            <a:avLst/>
          </a:prstGeom>
          <a:noFill/>
        </p:spPr>
        <p:txBody>
          <a:bodyPr wrap="none" rtlCol="0">
            <a:spAutoFit/>
          </a:bodyPr>
          <a:lstStyle/>
          <a:p>
            <a:r>
              <a:rPr lang="en-US" sz="1400" b="1" i="0" dirty="0">
                <a:solidFill>
                  <a:srgbClr val="07519E"/>
                </a:solidFill>
                <a:effectLst/>
                <a:latin typeface="Arial" panose="020B0604020202020204" pitchFamily="34" charset="0"/>
              </a:rPr>
              <a:t>Part 2: Bayesian (inverse) UQ</a:t>
            </a:r>
            <a:endParaRPr lang="en-US" sz="1400" b="1" dirty="0">
              <a:solidFill>
                <a:srgbClr val="07519E"/>
              </a:solidFill>
            </a:endParaRPr>
          </a:p>
        </p:txBody>
      </p:sp>
      <p:pic>
        <p:nvPicPr>
          <p:cNvPr id="3" name="Picture 2" descr="Chart&#10;&#10;AI-generated content may be incorrect.">
            <a:extLst>
              <a:ext uri="{FF2B5EF4-FFF2-40B4-BE49-F238E27FC236}">
                <a16:creationId xmlns:a16="http://schemas.microsoft.com/office/drawing/2014/main" id="{A762C0F8-8D97-8675-6E91-D20978E87051}"/>
              </a:ext>
            </a:extLst>
          </p:cNvPr>
          <p:cNvPicPr>
            <a:picLocks noChangeAspect="1"/>
          </p:cNvPicPr>
          <p:nvPr/>
        </p:nvPicPr>
        <p:blipFill>
          <a:blip r:embed="rId2"/>
          <a:stretch>
            <a:fillRect/>
          </a:stretch>
        </p:blipFill>
        <p:spPr>
          <a:xfrm>
            <a:off x="6724025" y="1110801"/>
            <a:ext cx="4944233" cy="3982385"/>
          </a:xfrm>
          <a:prstGeom prst="rect">
            <a:avLst/>
          </a:prstGeom>
        </p:spPr>
      </p:pic>
      <p:pic>
        <p:nvPicPr>
          <p:cNvPr id="7" name="Picture 6" descr="Diagram&#10;&#10;AI-generated content may be incorrect.">
            <a:extLst>
              <a:ext uri="{FF2B5EF4-FFF2-40B4-BE49-F238E27FC236}">
                <a16:creationId xmlns:a16="http://schemas.microsoft.com/office/drawing/2014/main" id="{CEA26C06-0908-FF14-8FD6-6D57A04EE364}"/>
              </a:ext>
            </a:extLst>
          </p:cNvPr>
          <p:cNvPicPr>
            <a:picLocks noChangeAspect="1"/>
          </p:cNvPicPr>
          <p:nvPr/>
        </p:nvPicPr>
        <p:blipFill>
          <a:blip r:embed="rId3"/>
          <a:stretch>
            <a:fillRect/>
          </a:stretch>
        </p:blipFill>
        <p:spPr>
          <a:xfrm>
            <a:off x="636342" y="1447622"/>
            <a:ext cx="3925071" cy="3517185"/>
          </a:xfrm>
          <a:prstGeom prst="rect">
            <a:avLst/>
          </a:prstGeom>
        </p:spPr>
      </p:pic>
      <p:sp>
        <p:nvSpPr>
          <p:cNvPr id="8" name="TextBox 7">
            <a:extLst>
              <a:ext uri="{FF2B5EF4-FFF2-40B4-BE49-F238E27FC236}">
                <a16:creationId xmlns:a16="http://schemas.microsoft.com/office/drawing/2014/main" id="{CC3D1D12-9ED4-0680-8C84-F2F0A6B3B539}"/>
              </a:ext>
            </a:extLst>
          </p:cNvPr>
          <p:cNvSpPr txBox="1"/>
          <p:nvPr/>
        </p:nvSpPr>
        <p:spPr>
          <a:xfrm>
            <a:off x="1462255" y="5155519"/>
            <a:ext cx="2273243" cy="923330"/>
          </a:xfrm>
          <a:prstGeom prst="rect">
            <a:avLst/>
          </a:prstGeom>
          <a:noFill/>
        </p:spPr>
        <p:txBody>
          <a:bodyPr wrap="square">
            <a:spAutoFit/>
          </a:bodyPr>
          <a:lstStyle/>
          <a:p>
            <a:pPr algn="ctr"/>
            <a:r>
              <a:rPr lang="en-US" dirty="0"/>
              <a:t>Serial Markov chain Monte Carlo (MCMC)</a:t>
            </a:r>
          </a:p>
        </p:txBody>
      </p:sp>
      <p:sp>
        <p:nvSpPr>
          <p:cNvPr id="9" name="TextBox 8">
            <a:extLst>
              <a:ext uri="{FF2B5EF4-FFF2-40B4-BE49-F238E27FC236}">
                <a16:creationId xmlns:a16="http://schemas.microsoft.com/office/drawing/2014/main" id="{0F0FC753-FBAB-C842-D365-4426CA8CFC16}"/>
              </a:ext>
            </a:extLst>
          </p:cNvPr>
          <p:cNvSpPr txBox="1"/>
          <p:nvPr/>
        </p:nvSpPr>
        <p:spPr>
          <a:xfrm>
            <a:off x="8059519" y="5294018"/>
            <a:ext cx="2273243" cy="646331"/>
          </a:xfrm>
          <a:prstGeom prst="rect">
            <a:avLst/>
          </a:prstGeom>
          <a:noFill/>
        </p:spPr>
        <p:txBody>
          <a:bodyPr wrap="square">
            <a:spAutoFit/>
          </a:bodyPr>
          <a:lstStyle/>
          <a:p>
            <a:pPr algn="ctr"/>
            <a:r>
              <a:rPr lang="en-US" dirty="0"/>
              <a:t>Parallel multiple chain MCMC</a:t>
            </a:r>
          </a:p>
        </p:txBody>
      </p:sp>
    </p:spTree>
    <p:extLst>
      <p:ext uri="{BB962C8B-B14F-4D97-AF65-F5344CB8AC3E}">
        <p14:creationId xmlns:p14="http://schemas.microsoft.com/office/powerpoint/2010/main" val="21587399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12EC5-B9B4-2D8E-215E-F6607D7688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CDB6DB-0F14-C0BC-F7BD-19969F88DFC9}"/>
              </a:ext>
            </a:extLst>
          </p:cNvPr>
          <p:cNvSpPr>
            <a:spLocks noGrp="1"/>
          </p:cNvSpPr>
          <p:nvPr>
            <p:ph type="title"/>
          </p:nvPr>
        </p:nvSpPr>
        <p:spPr>
          <a:xfrm>
            <a:off x="938151" y="558602"/>
            <a:ext cx="10415648" cy="413463"/>
          </a:xfrm>
        </p:spPr>
        <p:txBody>
          <a:bodyPr/>
          <a:lstStyle/>
          <a:p>
            <a:r>
              <a:rPr lang="en-US" dirty="0"/>
              <a:t>Quantify model parameter + noise uncertainties</a:t>
            </a:r>
          </a:p>
        </p:txBody>
      </p:sp>
      <p:sp>
        <p:nvSpPr>
          <p:cNvPr id="4" name="Slide Number Placeholder 3">
            <a:extLst>
              <a:ext uri="{FF2B5EF4-FFF2-40B4-BE49-F238E27FC236}">
                <a16:creationId xmlns:a16="http://schemas.microsoft.com/office/drawing/2014/main" id="{78FA90DD-FB2A-B3F9-C2F2-D824CE07868A}"/>
              </a:ext>
            </a:extLst>
          </p:cNvPr>
          <p:cNvSpPr>
            <a:spLocks noGrp="1"/>
          </p:cNvSpPr>
          <p:nvPr>
            <p:ph type="sldNum" sz="quarter" idx="12"/>
          </p:nvPr>
        </p:nvSpPr>
        <p:spPr/>
        <p:txBody>
          <a:bodyPr/>
          <a:lstStyle/>
          <a:p>
            <a:fld id="{82B577FA-F7D9-2C48-919F-F962E3BF952F}" type="slidenum">
              <a:rPr lang="en-US" smtClean="0"/>
              <a:t>18</a:t>
            </a:fld>
            <a:endParaRPr lang="en-US"/>
          </a:p>
        </p:txBody>
      </p:sp>
      <p:sp>
        <p:nvSpPr>
          <p:cNvPr id="5" name="TextBox 4">
            <a:extLst>
              <a:ext uri="{FF2B5EF4-FFF2-40B4-BE49-F238E27FC236}">
                <a16:creationId xmlns:a16="http://schemas.microsoft.com/office/drawing/2014/main" id="{C2683532-77A2-D9BC-ED96-54BCCB7EDF41}"/>
              </a:ext>
            </a:extLst>
          </p:cNvPr>
          <p:cNvSpPr txBox="1"/>
          <p:nvPr/>
        </p:nvSpPr>
        <p:spPr>
          <a:xfrm>
            <a:off x="4725272" y="6550223"/>
            <a:ext cx="2741456" cy="307777"/>
          </a:xfrm>
          <a:prstGeom prst="rect">
            <a:avLst/>
          </a:prstGeom>
          <a:noFill/>
        </p:spPr>
        <p:txBody>
          <a:bodyPr wrap="none" rtlCol="0">
            <a:spAutoFit/>
          </a:bodyPr>
          <a:lstStyle/>
          <a:p>
            <a:r>
              <a:rPr lang="en-US" sz="1400" b="1" i="0" dirty="0">
                <a:solidFill>
                  <a:srgbClr val="07519E"/>
                </a:solidFill>
                <a:effectLst/>
                <a:latin typeface="Arial" panose="020B0604020202020204" pitchFamily="34" charset="0"/>
              </a:rPr>
              <a:t>Part 2: Bayesian (inverse) UQ</a:t>
            </a:r>
            <a:endParaRPr lang="en-US" sz="1400" b="1" dirty="0">
              <a:solidFill>
                <a:srgbClr val="07519E"/>
              </a:solidFill>
            </a:endParaRPr>
          </a:p>
        </p:txBody>
      </p:sp>
      <p:sp>
        <p:nvSpPr>
          <p:cNvPr id="6" name="Rounded Rectangle 5">
            <a:extLst>
              <a:ext uri="{FF2B5EF4-FFF2-40B4-BE49-F238E27FC236}">
                <a16:creationId xmlns:a16="http://schemas.microsoft.com/office/drawing/2014/main" id="{8517DF62-C654-AD16-68B7-FF6D659434A8}"/>
              </a:ext>
            </a:extLst>
          </p:cNvPr>
          <p:cNvSpPr/>
          <p:nvPr/>
        </p:nvSpPr>
        <p:spPr>
          <a:xfrm>
            <a:off x="542104" y="3162792"/>
            <a:ext cx="1862172" cy="959453"/>
          </a:xfrm>
          <a:prstGeom prst="roundRect">
            <a:avLst/>
          </a:prstGeom>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MOOSE computational model</a:t>
            </a:r>
          </a:p>
        </p:txBody>
      </p:sp>
      <p:sp>
        <p:nvSpPr>
          <p:cNvPr id="7" name="TextBox 6">
            <a:extLst>
              <a:ext uri="{FF2B5EF4-FFF2-40B4-BE49-F238E27FC236}">
                <a16:creationId xmlns:a16="http://schemas.microsoft.com/office/drawing/2014/main" id="{F08CF3EE-A66D-D6D0-D7D3-A92DF035DD25}"/>
              </a:ext>
            </a:extLst>
          </p:cNvPr>
          <p:cNvSpPr txBox="1"/>
          <p:nvPr/>
        </p:nvSpPr>
        <p:spPr>
          <a:xfrm>
            <a:off x="621363" y="1417287"/>
            <a:ext cx="1703654" cy="923330"/>
          </a:xfrm>
          <a:prstGeom prst="rect">
            <a:avLst/>
          </a:prstGeom>
          <a:noFill/>
        </p:spPr>
        <p:txBody>
          <a:bodyPr wrap="square">
            <a:spAutoFit/>
          </a:bodyPr>
          <a:lstStyle/>
          <a:p>
            <a:pPr algn="ctr"/>
            <a:r>
              <a:rPr lang="en-US" b="1" dirty="0"/>
              <a:t>Unknown input parameters</a:t>
            </a:r>
            <a:endParaRPr lang="en-US" dirty="0"/>
          </a:p>
        </p:txBody>
      </p:sp>
      <p:sp>
        <p:nvSpPr>
          <p:cNvPr id="8" name="TextBox 7">
            <a:extLst>
              <a:ext uri="{FF2B5EF4-FFF2-40B4-BE49-F238E27FC236}">
                <a16:creationId xmlns:a16="http://schemas.microsoft.com/office/drawing/2014/main" id="{AA963297-F300-2ADA-ECDC-93FEF33F2898}"/>
              </a:ext>
            </a:extLst>
          </p:cNvPr>
          <p:cNvSpPr txBox="1"/>
          <p:nvPr/>
        </p:nvSpPr>
        <p:spPr>
          <a:xfrm>
            <a:off x="0" y="4944420"/>
            <a:ext cx="2946380" cy="1477328"/>
          </a:xfrm>
          <a:prstGeom prst="rect">
            <a:avLst/>
          </a:prstGeom>
          <a:noFill/>
        </p:spPr>
        <p:txBody>
          <a:bodyPr wrap="square">
            <a:spAutoFit/>
          </a:bodyPr>
          <a:lstStyle/>
          <a:p>
            <a:pPr algn="ctr"/>
            <a:r>
              <a:rPr lang="en-US" b="1" dirty="0"/>
              <a:t>Probability distributions of best input parameters and </a:t>
            </a:r>
            <a:r>
              <a:rPr lang="en-US" b="1" dirty="0">
                <a:solidFill>
                  <a:schemeClr val="tx2"/>
                </a:solidFill>
              </a:rPr>
              <a:t>noise</a:t>
            </a:r>
            <a:r>
              <a:rPr lang="en-US" b="1" dirty="0"/>
              <a:t> such that the model predictions match experiments</a:t>
            </a:r>
            <a:endParaRPr lang="en-US" dirty="0"/>
          </a:p>
        </p:txBody>
      </p:sp>
      <p:cxnSp>
        <p:nvCxnSpPr>
          <p:cNvPr id="9" name="Straight Arrow Connector 8">
            <a:extLst>
              <a:ext uri="{FF2B5EF4-FFF2-40B4-BE49-F238E27FC236}">
                <a16:creationId xmlns:a16="http://schemas.microsoft.com/office/drawing/2014/main" id="{472603F1-D712-CCA1-9CAD-90D746AA99DB}"/>
              </a:ext>
            </a:extLst>
          </p:cNvPr>
          <p:cNvCxnSpPr>
            <a:cxnSpLocks/>
            <a:endCxn id="6" idx="0"/>
          </p:cNvCxnSpPr>
          <p:nvPr/>
        </p:nvCxnSpPr>
        <p:spPr>
          <a:xfrm>
            <a:off x="1473190" y="2356763"/>
            <a:ext cx="0" cy="80602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B63B8E1-C2CB-9145-4C2D-9AB4BD3DA4C1}"/>
              </a:ext>
            </a:extLst>
          </p:cNvPr>
          <p:cNvCxnSpPr>
            <a:cxnSpLocks/>
            <a:stCxn id="6" idx="2"/>
          </p:cNvCxnSpPr>
          <p:nvPr/>
        </p:nvCxnSpPr>
        <p:spPr>
          <a:xfrm>
            <a:off x="1473190" y="4122245"/>
            <a:ext cx="0" cy="75078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C9D6340-C834-761B-3EF8-DEDD5E1BC940}"/>
              </a:ext>
            </a:extLst>
          </p:cNvPr>
          <p:cNvSpPr txBox="1"/>
          <p:nvPr/>
        </p:nvSpPr>
        <p:spPr>
          <a:xfrm>
            <a:off x="2853335" y="3323138"/>
            <a:ext cx="1703654" cy="646331"/>
          </a:xfrm>
          <a:prstGeom prst="rect">
            <a:avLst/>
          </a:prstGeom>
          <a:noFill/>
        </p:spPr>
        <p:txBody>
          <a:bodyPr wrap="square">
            <a:spAutoFit/>
          </a:bodyPr>
          <a:lstStyle/>
          <a:p>
            <a:pPr algn="ctr"/>
            <a:r>
              <a:rPr lang="en-US" b="1" dirty="0"/>
              <a:t>Experimental data</a:t>
            </a:r>
            <a:endParaRPr lang="en-US" dirty="0"/>
          </a:p>
        </p:txBody>
      </p:sp>
      <p:cxnSp>
        <p:nvCxnSpPr>
          <p:cNvPr id="12" name="Straight Arrow Connector 11">
            <a:extLst>
              <a:ext uri="{FF2B5EF4-FFF2-40B4-BE49-F238E27FC236}">
                <a16:creationId xmlns:a16="http://schemas.microsoft.com/office/drawing/2014/main" id="{330ECE82-A474-B5DC-F9FF-9273A2DFF970}"/>
              </a:ext>
            </a:extLst>
          </p:cNvPr>
          <p:cNvCxnSpPr>
            <a:cxnSpLocks/>
          </p:cNvCxnSpPr>
          <p:nvPr/>
        </p:nvCxnSpPr>
        <p:spPr>
          <a:xfrm flipH="1">
            <a:off x="2404276" y="3640847"/>
            <a:ext cx="45597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16900D6-6043-C1C8-F7D6-017042D8CF12}"/>
                  </a:ext>
                </a:extLst>
              </p:cNvPr>
              <p:cNvSpPr txBox="1"/>
              <p:nvPr/>
            </p:nvSpPr>
            <p:spPr>
              <a:xfrm>
                <a:off x="5698838" y="2086507"/>
                <a:ext cx="4502702" cy="436247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𝑓</m:t>
                      </m:r>
                      <m:d>
                        <m:dPr>
                          <m:ctrlPr>
                            <a:rPr lang="en-US" sz="2400" b="0" i="1" smtClean="0">
                              <a:solidFill>
                                <a:schemeClr val="tx1"/>
                              </a:solidFill>
                              <a:latin typeface="Cambria Math" panose="02040503050406030204" pitchFamily="18" charset="0"/>
                            </a:rPr>
                          </m:ctrlPr>
                        </m:dPr>
                        <m:e>
                          <m:r>
                            <a:rPr lang="en-US" sz="2400" b="1" i="1" smtClean="0">
                              <a:solidFill>
                                <a:schemeClr val="tx1"/>
                              </a:solidFill>
                              <a:latin typeface="Cambria Math" panose="02040503050406030204" pitchFamily="18" charset="0"/>
                              <a:ea typeface="Cambria Math" panose="02040503050406030204" pitchFamily="18" charset="0"/>
                            </a:rPr>
                            <m:t>𝜽</m:t>
                          </m:r>
                          <m:r>
                            <a:rPr lang="en-US" sz="2400" b="0" i="1" smtClean="0">
                              <a:solidFill>
                                <a:schemeClr val="tx1"/>
                              </a:solidFill>
                              <a:latin typeface="Cambria Math" panose="02040503050406030204" pitchFamily="18" charset="0"/>
                              <a:ea typeface="Cambria Math" panose="02040503050406030204" pitchFamily="18" charset="0"/>
                            </a:rPr>
                            <m:t>,</m:t>
                          </m:r>
                          <m:r>
                            <a:rPr lang="en-US" sz="2400" i="1" smtClean="0">
                              <a:solidFill>
                                <a:schemeClr val="tx2"/>
                              </a:solidFill>
                              <a:latin typeface="Cambria Math" panose="02040503050406030204" pitchFamily="18" charset="0"/>
                              <a:ea typeface="Cambria Math" panose="02040503050406030204" pitchFamily="18" charset="0"/>
                            </a:rPr>
                            <m:t>𝜎</m:t>
                          </m:r>
                        </m:e>
                        <m:e>
                          <m:r>
                            <a:rPr lang="en-US" sz="2400" b="1" i="1" smtClean="0">
                              <a:solidFill>
                                <a:schemeClr val="tx1"/>
                              </a:solidFill>
                              <a:latin typeface="Cambria Math" panose="02040503050406030204" pitchFamily="18" charset="0"/>
                              <a:ea typeface="Cambria Math" panose="02040503050406030204" pitchFamily="18" charset="0"/>
                            </a:rPr>
                            <m:t>𝒙</m:t>
                          </m:r>
                          <m:r>
                            <a:rPr lang="en-US" sz="2400" b="1" i="1" smtClean="0">
                              <a:solidFill>
                                <a:schemeClr val="tx1"/>
                              </a:solidFill>
                              <a:latin typeface="Cambria Math" panose="02040503050406030204" pitchFamily="18" charset="0"/>
                              <a:ea typeface="Cambria Math" panose="02040503050406030204" pitchFamily="18" charset="0"/>
                            </a:rPr>
                            <m:t>, </m:t>
                          </m:r>
                          <m:r>
                            <a:rPr lang="en-US" sz="2400" b="1" i="1" smtClean="0">
                              <a:solidFill>
                                <a:schemeClr val="tx1"/>
                              </a:solidFill>
                              <a:latin typeface="Cambria Math" panose="02040503050406030204" pitchFamily="18" charset="0"/>
                              <a:ea typeface="Cambria Math" panose="02040503050406030204" pitchFamily="18" charset="0"/>
                            </a:rPr>
                            <m:t>𝑴</m:t>
                          </m:r>
                          <m:r>
                            <a:rPr lang="en-US" sz="2400" b="1" i="1" smtClean="0">
                              <a:solidFill>
                                <a:schemeClr val="tx1"/>
                              </a:solidFill>
                              <a:latin typeface="Cambria Math" panose="02040503050406030204" pitchFamily="18" charset="0"/>
                              <a:ea typeface="Cambria Math" panose="02040503050406030204" pitchFamily="18" charset="0"/>
                            </a:rPr>
                            <m:t>, </m:t>
                          </m:r>
                          <m:r>
                            <a:rPr lang="en-US" sz="2400" b="1" i="1" smtClean="0">
                              <a:solidFill>
                                <a:schemeClr val="tx1"/>
                              </a:solidFill>
                              <a:latin typeface="Cambria Math" panose="02040503050406030204" pitchFamily="18" charset="0"/>
                              <a:ea typeface="Cambria Math" panose="02040503050406030204" pitchFamily="18" charset="0"/>
                            </a:rPr>
                            <m:t>𝒚</m:t>
                          </m:r>
                        </m:e>
                      </m:d>
                      <m:r>
                        <a:rPr lang="en-US" sz="2400" b="0" i="1" smtClean="0">
                          <a:solidFill>
                            <a:schemeClr val="tx1"/>
                          </a:solidFill>
                          <a:latin typeface="Cambria Math" panose="02040503050406030204" pitchFamily="18" charset="0"/>
                          <a:ea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m:t>
                      </m:r>
                    </m:oMath>
                  </m:oMathPara>
                </a14:m>
                <a:endParaRPr lang="en-US" sz="24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f>
                        <m:fPr>
                          <m:ctrlPr>
                            <a:rPr lang="en-US" sz="2400" i="1" smtClean="0">
                              <a:solidFill>
                                <a:schemeClr val="tx1"/>
                              </a:solidFill>
                              <a:latin typeface="Cambria Math" panose="02040503050406030204" pitchFamily="18" charset="0"/>
                              <a:ea typeface="Cambria Math" panose="02040503050406030204" pitchFamily="18" charset="0"/>
                            </a:rPr>
                          </m:ctrlPr>
                        </m:fPr>
                        <m:num>
                          <m:r>
                            <a:rPr lang="en-US" sz="2400" i="1">
                              <a:solidFill>
                                <a:schemeClr val="tx1"/>
                              </a:solidFill>
                              <a:latin typeface="Cambria Math" panose="02040503050406030204" pitchFamily="18" charset="0"/>
                              <a:ea typeface="Cambria Math" panose="02040503050406030204" pitchFamily="18" charset="0"/>
                            </a:rPr>
                            <m:t>1</m:t>
                          </m:r>
                        </m:num>
                        <m:den>
                          <m:rad>
                            <m:radPr>
                              <m:degHide m:val="on"/>
                              <m:ctrlPr>
                                <a:rPr lang="en-US" sz="2400" i="1">
                                  <a:solidFill>
                                    <a:schemeClr val="tx1"/>
                                  </a:solidFill>
                                  <a:latin typeface="Cambria Math" panose="02040503050406030204" pitchFamily="18" charset="0"/>
                                  <a:ea typeface="Cambria Math" panose="02040503050406030204" pitchFamily="18" charset="0"/>
                                </a:rPr>
                              </m:ctrlPr>
                            </m:radPr>
                            <m:deg/>
                            <m:e>
                              <m:r>
                                <a:rPr lang="en-US" sz="2400" i="1" smtClean="0">
                                  <a:solidFill>
                                    <a:schemeClr val="tx2"/>
                                  </a:solidFill>
                                  <a:latin typeface="Cambria Math" panose="02040503050406030204" pitchFamily="18" charset="0"/>
                                  <a:ea typeface="Cambria Math" panose="02040503050406030204" pitchFamily="18" charset="0"/>
                                </a:rPr>
                                <m:t>𝜎</m:t>
                              </m:r>
                            </m:e>
                          </m:rad>
                        </m:den>
                      </m:f>
                      <m:nary>
                        <m:naryPr>
                          <m:chr m:val="∏"/>
                          <m:ctrlPr>
                            <a:rPr lang="en-US" sz="2400" i="1">
                              <a:solidFill>
                                <a:schemeClr val="tx1"/>
                              </a:solidFill>
                              <a:latin typeface="Cambria Math" panose="02040503050406030204" pitchFamily="18" charset="0"/>
                              <a:ea typeface="Cambria Math" panose="02040503050406030204" pitchFamily="18" charset="0"/>
                            </a:rPr>
                          </m:ctrlPr>
                        </m:naryPr>
                        <m:sub>
                          <m:r>
                            <m:rPr>
                              <m:brk m:alnAt="23"/>
                            </m:rPr>
                            <a:rPr lang="en-US" sz="2400" i="1">
                              <a:solidFill>
                                <a:schemeClr val="tx1"/>
                              </a:solidFill>
                              <a:latin typeface="Cambria Math" panose="02040503050406030204" pitchFamily="18" charset="0"/>
                              <a:ea typeface="Cambria Math" panose="02040503050406030204" pitchFamily="18" charset="0"/>
                            </a:rPr>
                            <m:t>𝑘</m:t>
                          </m:r>
                          <m:r>
                            <a:rPr lang="en-US" sz="2400" i="1">
                              <a:solidFill>
                                <a:schemeClr val="tx1"/>
                              </a:solidFill>
                              <a:latin typeface="Cambria Math" panose="02040503050406030204" pitchFamily="18" charset="0"/>
                              <a:ea typeface="Cambria Math" panose="02040503050406030204" pitchFamily="18" charset="0"/>
                            </a:rPr>
                            <m:t>=1</m:t>
                          </m:r>
                        </m:sub>
                        <m:sup>
                          <m:r>
                            <a:rPr lang="en-US" sz="2400" i="1">
                              <a:solidFill>
                                <a:schemeClr val="tx1"/>
                              </a:solidFill>
                              <a:latin typeface="Cambria Math" panose="02040503050406030204" pitchFamily="18" charset="0"/>
                              <a:ea typeface="Cambria Math" panose="02040503050406030204" pitchFamily="18" charset="0"/>
                            </a:rPr>
                            <m:t>𝐾</m:t>
                          </m:r>
                        </m:sup>
                        <m:e>
                          <m:func>
                            <m:funcPr>
                              <m:ctrlPr>
                                <a:rPr lang="en-US" sz="2400" i="1">
                                  <a:solidFill>
                                    <a:schemeClr val="tx1"/>
                                  </a:solidFill>
                                  <a:latin typeface="Cambria Math" panose="02040503050406030204" pitchFamily="18" charset="0"/>
                                  <a:ea typeface="Cambria Math" panose="02040503050406030204" pitchFamily="18" charset="0"/>
                                </a:rPr>
                              </m:ctrlPr>
                            </m:funcPr>
                            <m:fName>
                              <m:r>
                                <m:rPr>
                                  <m:sty m:val="p"/>
                                </m:rPr>
                                <a:rPr lang="en-US" sz="2400">
                                  <a:solidFill>
                                    <a:schemeClr val="tx1"/>
                                  </a:solidFill>
                                  <a:latin typeface="Cambria Math" panose="02040503050406030204" pitchFamily="18" charset="0"/>
                                  <a:ea typeface="Cambria Math" panose="02040503050406030204" pitchFamily="18" charset="0"/>
                                </a:rPr>
                                <m:t>exp</m:t>
                              </m:r>
                            </m:fName>
                            <m:e>
                              <m:d>
                                <m:dPr>
                                  <m:ctrlPr>
                                    <a:rPr lang="en-US" sz="2400" i="1">
                                      <a:solidFill>
                                        <a:schemeClr val="tx1"/>
                                      </a:solidFill>
                                      <a:latin typeface="Cambria Math" panose="02040503050406030204" pitchFamily="18" charset="0"/>
                                      <a:ea typeface="Cambria Math" panose="02040503050406030204" pitchFamily="18" charset="0"/>
                                    </a:rPr>
                                  </m:ctrlPr>
                                </m:dPr>
                                <m:e>
                                  <m:f>
                                    <m:fPr>
                                      <m:ctrlPr>
                                        <a:rPr lang="en-US" sz="2400" i="1">
                                          <a:solidFill>
                                            <a:schemeClr val="tx1"/>
                                          </a:solidFill>
                                          <a:latin typeface="Cambria Math" panose="02040503050406030204" pitchFamily="18" charset="0"/>
                                          <a:ea typeface="Cambria Math" panose="02040503050406030204" pitchFamily="18" charset="0"/>
                                        </a:rPr>
                                      </m:ctrlPr>
                                    </m:fPr>
                                    <m:num>
                                      <m:sSup>
                                        <m:sSupPr>
                                          <m:ctrlPr>
                                            <a:rPr lang="en-US" sz="2400" i="1">
                                              <a:solidFill>
                                                <a:schemeClr val="tx1"/>
                                              </a:solidFill>
                                              <a:latin typeface="Cambria Math" panose="02040503050406030204" pitchFamily="18" charset="0"/>
                                              <a:ea typeface="Cambria Math" panose="02040503050406030204" pitchFamily="18" charset="0"/>
                                            </a:rPr>
                                          </m:ctrlPr>
                                        </m:sSupPr>
                                        <m:e>
                                          <m:d>
                                            <m:dPr>
                                              <m:ctrlPr>
                                                <a:rPr lang="en-US" sz="2400" i="1">
                                                  <a:solidFill>
                                                    <a:schemeClr val="tx1"/>
                                                  </a:solidFill>
                                                  <a:latin typeface="Cambria Math" panose="02040503050406030204" pitchFamily="18" charset="0"/>
                                                  <a:ea typeface="Cambria Math" panose="02040503050406030204" pitchFamily="18" charset="0"/>
                                                </a:rPr>
                                              </m:ctrlPr>
                                            </m:dPr>
                                            <m:e>
                                              <m:sSub>
                                                <m:sSubPr>
                                                  <m:ctrlPr>
                                                    <a:rPr lang="en-US" sz="2400" i="1">
                                                      <a:solidFill>
                                                        <a:schemeClr val="tx1"/>
                                                      </a:solidFill>
                                                      <a:latin typeface="Cambria Math" panose="02040503050406030204" pitchFamily="18" charset="0"/>
                                                      <a:ea typeface="Cambria Math" panose="02040503050406030204" pitchFamily="18" charset="0"/>
                                                    </a:rPr>
                                                  </m:ctrlPr>
                                                </m:sSubPr>
                                                <m:e>
                                                  <m:r>
                                                    <a:rPr lang="en-US" sz="2400" i="1">
                                                      <a:solidFill>
                                                        <a:schemeClr val="tx1"/>
                                                      </a:solidFill>
                                                      <a:latin typeface="Cambria Math" panose="02040503050406030204" pitchFamily="18" charset="0"/>
                                                      <a:ea typeface="Cambria Math" panose="02040503050406030204" pitchFamily="18" charset="0"/>
                                                    </a:rPr>
                                                    <m:t>𝑦</m:t>
                                                  </m:r>
                                                </m:e>
                                                <m:sub>
                                                  <m:r>
                                                    <a:rPr lang="en-US" sz="2400" i="1">
                                                      <a:solidFill>
                                                        <a:schemeClr val="tx1"/>
                                                      </a:solidFill>
                                                      <a:latin typeface="Cambria Math" panose="02040503050406030204" pitchFamily="18" charset="0"/>
                                                      <a:ea typeface="Cambria Math" panose="02040503050406030204" pitchFamily="18" charset="0"/>
                                                    </a:rPr>
                                                    <m:t>𝑘</m:t>
                                                  </m:r>
                                                </m:sub>
                                              </m:sSub>
                                              <m:d>
                                                <m:dPr>
                                                  <m:ctrlPr>
                                                    <a:rPr lang="en-US" sz="2400" i="1">
                                                      <a:solidFill>
                                                        <a:schemeClr val="tx1"/>
                                                      </a:solidFill>
                                                      <a:latin typeface="Cambria Math" panose="02040503050406030204" pitchFamily="18" charset="0"/>
                                                      <a:ea typeface="Cambria Math" panose="02040503050406030204" pitchFamily="18" charset="0"/>
                                                    </a:rPr>
                                                  </m:ctrlPr>
                                                </m:dPr>
                                                <m:e>
                                                  <m:r>
                                                    <a:rPr lang="en-US" sz="2400" b="0" i="1">
                                                      <a:solidFill>
                                                        <a:schemeClr val="tx1"/>
                                                      </a:solidFill>
                                                      <a:latin typeface="Cambria Math" panose="02040503050406030204" pitchFamily="18" charset="0"/>
                                                      <a:ea typeface="Cambria Math" panose="02040503050406030204" pitchFamily="18" charset="0"/>
                                                    </a:rPr>
                                                    <m:t>𝑥</m:t>
                                                  </m:r>
                                                </m:e>
                                              </m:d>
                                              <m:r>
                                                <a:rPr lang="en-US" sz="2400" i="1">
                                                  <a:solidFill>
                                                    <a:schemeClr val="tx1"/>
                                                  </a:solidFill>
                                                  <a:latin typeface="Cambria Math" panose="02040503050406030204" pitchFamily="18" charset="0"/>
                                                  <a:ea typeface="Cambria Math" panose="02040503050406030204" pitchFamily="18" charset="0"/>
                                                </a:rPr>
                                                <m:t>−</m:t>
                                              </m:r>
                                              <m:sSub>
                                                <m:sSubPr>
                                                  <m:ctrlPr>
                                                    <a:rPr lang="en-US" sz="2400" i="1" smtClean="0">
                                                      <a:solidFill>
                                                        <a:schemeClr val="tx1"/>
                                                      </a:solidFill>
                                                      <a:latin typeface="Cambria Math" panose="02040503050406030204" pitchFamily="18" charset="0"/>
                                                      <a:ea typeface="Cambria Math" panose="02040503050406030204" pitchFamily="18" charset="0"/>
                                                    </a:rPr>
                                                  </m:ctrlPr>
                                                </m:sSubPr>
                                                <m:e>
                                                  <m:r>
                                                    <a:rPr lang="en-US" sz="2400" b="0" i="1" smtClean="0">
                                                      <a:solidFill>
                                                        <a:schemeClr val="tx1"/>
                                                      </a:solidFill>
                                                      <a:latin typeface="Cambria Math" panose="02040503050406030204" pitchFamily="18" charset="0"/>
                                                      <a:ea typeface="Cambria Math" panose="02040503050406030204" pitchFamily="18" charset="0"/>
                                                    </a:rPr>
                                                    <m:t>𝑀</m:t>
                                                  </m:r>
                                                </m:e>
                                                <m:sub>
                                                  <m:r>
                                                    <a:rPr lang="en-US" sz="2400" b="0" i="1" smtClean="0">
                                                      <a:solidFill>
                                                        <a:schemeClr val="tx1"/>
                                                      </a:solidFill>
                                                      <a:latin typeface="Cambria Math" panose="02040503050406030204" pitchFamily="18" charset="0"/>
                                                      <a:ea typeface="Cambria Math" panose="02040503050406030204" pitchFamily="18" charset="0"/>
                                                    </a:rPr>
                                                    <m:t>𝑘</m:t>
                                                  </m:r>
                                                </m:sub>
                                              </m:sSub>
                                              <m:d>
                                                <m:dPr>
                                                  <m:ctrlPr>
                                                    <a:rPr lang="en-US" sz="2400" i="1">
                                                      <a:solidFill>
                                                        <a:schemeClr val="tx1"/>
                                                      </a:solidFill>
                                                      <a:latin typeface="Cambria Math" panose="02040503050406030204" pitchFamily="18" charset="0"/>
                                                      <a:ea typeface="Cambria Math" panose="02040503050406030204" pitchFamily="18" charset="0"/>
                                                    </a:rPr>
                                                  </m:ctrlPr>
                                                </m:dPr>
                                                <m:e>
                                                  <m:r>
                                                    <a:rPr lang="en-US" sz="2400" b="0" i="1">
                                                      <a:solidFill>
                                                        <a:schemeClr val="tx1"/>
                                                      </a:solidFill>
                                                      <a:latin typeface="Cambria Math" panose="02040503050406030204" pitchFamily="18" charset="0"/>
                                                      <a:ea typeface="Cambria Math" panose="02040503050406030204" pitchFamily="18" charset="0"/>
                                                    </a:rPr>
                                                    <m:t>𝑥</m:t>
                                                  </m:r>
                                                  <m:r>
                                                    <a:rPr lang="en-US" sz="2400" i="1">
                                                      <a:solidFill>
                                                        <a:schemeClr val="tx1"/>
                                                      </a:solidFill>
                                                      <a:latin typeface="Cambria Math" panose="02040503050406030204" pitchFamily="18" charset="0"/>
                                                      <a:ea typeface="Cambria Math" panose="02040503050406030204" pitchFamily="18" charset="0"/>
                                                    </a:rPr>
                                                    <m:t>, </m:t>
                                                  </m:r>
                                                  <m:r>
                                                    <a:rPr lang="en-US" sz="2400" b="1" i="1">
                                                      <a:solidFill>
                                                        <a:schemeClr val="tx1"/>
                                                      </a:solidFill>
                                                      <a:latin typeface="Cambria Math" panose="02040503050406030204" pitchFamily="18" charset="0"/>
                                                      <a:ea typeface="Cambria Math" panose="02040503050406030204" pitchFamily="18" charset="0"/>
                                                    </a:rPr>
                                                    <m:t>𝜽</m:t>
                                                  </m:r>
                                                </m:e>
                                              </m:d>
                                            </m:e>
                                          </m:d>
                                        </m:e>
                                        <m:sup>
                                          <m:r>
                                            <a:rPr lang="en-US" sz="2400" i="1">
                                              <a:solidFill>
                                                <a:schemeClr val="tx1"/>
                                              </a:solidFill>
                                              <a:latin typeface="Cambria Math" panose="02040503050406030204" pitchFamily="18" charset="0"/>
                                              <a:ea typeface="Cambria Math" panose="02040503050406030204" pitchFamily="18" charset="0"/>
                                            </a:rPr>
                                            <m:t>2</m:t>
                                          </m:r>
                                        </m:sup>
                                      </m:sSup>
                                    </m:num>
                                    <m:den>
                                      <m:r>
                                        <a:rPr lang="en-US" sz="2400" i="1">
                                          <a:solidFill>
                                            <a:schemeClr val="tx1"/>
                                          </a:solidFill>
                                          <a:latin typeface="Cambria Math" panose="02040503050406030204" pitchFamily="18" charset="0"/>
                                          <a:ea typeface="Cambria Math" panose="02040503050406030204" pitchFamily="18" charset="0"/>
                                        </a:rPr>
                                        <m:t>2</m:t>
                                      </m:r>
                                      <m:sSup>
                                        <m:sSupPr>
                                          <m:ctrlPr>
                                            <a:rPr lang="en-US" sz="2400" i="1">
                                              <a:solidFill>
                                                <a:schemeClr val="tx1"/>
                                              </a:solidFill>
                                              <a:latin typeface="Cambria Math" panose="02040503050406030204" pitchFamily="18" charset="0"/>
                                              <a:ea typeface="Cambria Math" panose="02040503050406030204" pitchFamily="18" charset="0"/>
                                            </a:rPr>
                                          </m:ctrlPr>
                                        </m:sSupPr>
                                        <m:e>
                                          <m:r>
                                            <a:rPr lang="en-US" sz="2400" i="1" smtClean="0">
                                              <a:solidFill>
                                                <a:schemeClr val="tx2"/>
                                              </a:solidFill>
                                              <a:latin typeface="Cambria Math" panose="02040503050406030204" pitchFamily="18" charset="0"/>
                                              <a:ea typeface="Cambria Math" panose="02040503050406030204" pitchFamily="18" charset="0"/>
                                            </a:rPr>
                                            <m:t>𝜎</m:t>
                                          </m:r>
                                        </m:e>
                                        <m:sup>
                                          <m:r>
                                            <a:rPr lang="en-US" sz="2400" i="1">
                                              <a:solidFill>
                                                <a:schemeClr val="tx1"/>
                                              </a:solidFill>
                                              <a:latin typeface="Cambria Math" panose="02040503050406030204" pitchFamily="18" charset="0"/>
                                              <a:ea typeface="Cambria Math" panose="02040503050406030204" pitchFamily="18" charset="0"/>
                                            </a:rPr>
                                            <m:t>2</m:t>
                                          </m:r>
                                        </m:sup>
                                      </m:sSup>
                                    </m:den>
                                  </m:f>
                                </m:e>
                              </m:d>
                            </m:e>
                          </m:func>
                        </m:e>
                      </m:nary>
                    </m:oMath>
                  </m:oMathPara>
                </a14:m>
                <a:endParaRPr lang="en-US" sz="2400" i="1" dirty="0">
                  <a:solidFill>
                    <a:schemeClr val="tx1"/>
                  </a:solidFill>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𝑓</m:t>
                      </m:r>
                      <m:r>
                        <a:rPr lang="en-US" sz="2400" b="0" i="1" smtClean="0">
                          <a:latin typeface="Cambria Math" panose="02040503050406030204" pitchFamily="18" charset="0"/>
                          <a:ea typeface="Cambria Math" panose="02040503050406030204" pitchFamily="18" charset="0"/>
                        </a:rPr>
                        <m:t>(</m:t>
                      </m:r>
                      <m:r>
                        <a:rPr lang="en-US" sz="2400" b="1" i="1" smtClean="0">
                          <a:latin typeface="Cambria Math" panose="02040503050406030204" pitchFamily="18" charset="0"/>
                          <a:ea typeface="Cambria Math" panose="02040503050406030204" pitchFamily="18" charset="0"/>
                        </a:rPr>
                        <m:t>𝜽</m:t>
                      </m:r>
                      <m:r>
                        <a:rPr lang="en-US" sz="2400" b="1" i="1" smtClean="0">
                          <a:latin typeface="Cambria Math" panose="02040503050406030204" pitchFamily="18" charset="0"/>
                          <a:ea typeface="Cambria Math" panose="02040503050406030204" pitchFamily="18" charset="0"/>
                        </a:rPr>
                        <m:t>,</m:t>
                      </m:r>
                      <m:r>
                        <a:rPr lang="en-US" sz="2400" i="1" smtClean="0">
                          <a:solidFill>
                            <a:schemeClr val="tx2"/>
                          </a:solidFill>
                          <a:latin typeface="Cambria Math" panose="02040503050406030204" pitchFamily="18" charset="0"/>
                          <a:ea typeface="Cambria Math" panose="02040503050406030204" pitchFamily="18" charset="0"/>
                        </a:rPr>
                        <m:t>𝜎</m:t>
                      </m:r>
                      <m:r>
                        <a:rPr lang="en-US" sz="2400" b="0" i="1" smtClean="0">
                          <a:latin typeface="Cambria Math" panose="02040503050406030204" pitchFamily="18" charset="0"/>
                          <a:ea typeface="Cambria Math" panose="02040503050406030204" pitchFamily="18" charset="0"/>
                        </a:rPr>
                        <m:t>)</m:t>
                      </m:r>
                    </m:oMath>
                  </m:oMathPara>
                </a14:m>
                <a:endParaRPr lang="en-US" sz="2400" dirty="0"/>
              </a:p>
              <a:p>
                <a:endParaRPr lang="en-US" sz="2400" dirty="0"/>
              </a:p>
              <a:p>
                <a14:m>
                  <m:oMath xmlns:m="http://schemas.openxmlformats.org/officeDocument/2006/math">
                    <m:r>
                      <a:rPr lang="en-US" sz="2400" b="1" i="1" smtClean="0">
                        <a:latin typeface="Cambria Math" panose="02040503050406030204" pitchFamily="18" charset="0"/>
                        <a:ea typeface="Cambria Math" panose="02040503050406030204" pitchFamily="18" charset="0"/>
                      </a:rPr>
                      <m:t>𝜽</m:t>
                    </m:r>
                    <m:r>
                      <a:rPr lang="en-US" sz="2400" b="0" i="1" smtClean="0">
                        <a:latin typeface="Cambria Math" panose="02040503050406030204" pitchFamily="18" charset="0"/>
                        <a:ea typeface="Cambria Math" panose="02040503050406030204" pitchFamily="18" charset="0"/>
                      </a:rPr>
                      <m:t>:</m:t>
                    </m:r>
                  </m:oMath>
                </a14:m>
                <a:r>
                  <a:rPr lang="en-US" sz="2400" b="0" dirty="0">
                    <a:ea typeface="Cambria Math" panose="02040503050406030204" pitchFamily="18" charset="0"/>
                  </a:rPr>
                  <a:t> Model params</a:t>
                </a:r>
              </a:p>
              <a:p>
                <a14:m>
                  <m:oMath xmlns:m="http://schemas.openxmlformats.org/officeDocument/2006/math">
                    <m:r>
                      <a:rPr lang="en-US" sz="2400" b="0" i="1" smtClean="0">
                        <a:solidFill>
                          <a:schemeClr val="tx2"/>
                        </a:solidFill>
                        <a:latin typeface="Cambria Math" panose="02040503050406030204" pitchFamily="18" charset="0"/>
                        <a:ea typeface="Cambria Math" panose="02040503050406030204" pitchFamily="18" charset="0"/>
                      </a:rPr>
                      <m:t>𝜎</m:t>
                    </m:r>
                    <m:r>
                      <a:rPr lang="en-US" sz="2400" b="0" i="1" smtClean="0">
                        <a:solidFill>
                          <a:schemeClr val="tx2"/>
                        </a:solidFill>
                        <a:latin typeface="Cambria Math" panose="02040503050406030204" pitchFamily="18" charset="0"/>
                        <a:ea typeface="Cambria Math" panose="02040503050406030204" pitchFamily="18" charset="0"/>
                      </a:rPr>
                      <m:t>:</m:t>
                    </m:r>
                  </m:oMath>
                </a14:m>
                <a:r>
                  <a:rPr lang="en-US" sz="2400" b="0" dirty="0">
                    <a:solidFill>
                      <a:schemeClr val="tx2"/>
                    </a:solidFill>
                    <a:ea typeface="Cambria Math" panose="02040503050406030204" pitchFamily="18" charset="0"/>
                  </a:rPr>
                  <a:t> Noise in the experiments</a:t>
                </a:r>
                <a:endParaRPr lang="en-US" sz="2400" b="0" dirty="0">
                  <a:ea typeface="Cambria Math" panose="02040503050406030204" pitchFamily="18" charset="0"/>
                </a:endParaRPr>
              </a:p>
              <a:p>
                <a14:m>
                  <m:oMath xmlns:m="http://schemas.openxmlformats.org/officeDocument/2006/math">
                    <m:r>
                      <a:rPr lang="en-US" sz="2400" b="0" i="1" smtClean="0">
                        <a:latin typeface="Cambria Math" panose="02040503050406030204" pitchFamily="18" charset="0"/>
                        <a:ea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m:t>
                    </m:r>
                  </m:oMath>
                </a14:m>
                <a:r>
                  <a:rPr lang="en-US" sz="2400" b="0" dirty="0">
                    <a:ea typeface="Cambria Math" panose="02040503050406030204" pitchFamily="18" charset="0"/>
                  </a:rPr>
                  <a:t> Experimental configuration</a:t>
                </a:r>
              </a:p>
              <a:p>
                <a14:m>
                  <m:oMath xmlns:m="http://schemas.openxmlformats.org/officeDocument/2006/math">
                    <m:r>
                      <a:rPr lang="en-US" sz="2400" b="0" i="1" smtClean="0">
                        <a:latin typeface="Cambria Math" panose="02040503050406030204" pitchFamily="18" charset="0"/>
                        <a:ea typeface="Cambria Math" panose="02040503050406030204" pitchFamily="18" charset="0"/>
                      </a:rPr>
                      <m:t>𝑦</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m:t>
                    </m:r>
                  </m:oMath>
                </a14:m>
                <a:r>
                  <a:rPr lang="en-US" sz="2400" b="0" dirty="0">
                    <a:ea typeface="Cambria Math" panose="02040503050406030204" pitchFamily="18" charset="0"/>
                  </a:rPr>
                  <a:t> Experimental value</a:t>
                </a:r>
              </a:p>
              <a:p>
                <a14:m>
                  <m:oMath xmlns:m="http://schemas.openxmlformats.org/officeDocument/2006/math">
                    <m:r>
                      <a:rPr lang="en-US" sz="2400" b="0" i="1" smtClean="0">
                        <a:latin typeface="Cambria Math" panose="02040503050406030204" pitchFamily="18" charset="0"/>
                        <a:ea typeface="Cambria Math" panose="02040503050406030204" pitchFamily="18" charset="0"/>
                      </a:rPr>
                      <m:t>𝑀</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m:t>
                    </m:r>
                    <m:r>
                      <a:rPr lang="en-US" sz="2400" b="1" i="1">
                        <a:latin typeface="Cambria Math" panose="02040503050406030204" pitchFamily="18" charset="0"/>
                        <a:ea typeface="Cambria Math" panose="02040503050406030204" pitchFamily="18" charset="0"/>
                      </a:rPr>
                      <m:t>𝜽</m:t>
                    </m:r>
                    <m:r>
                      <a:rPr lang="en-US" sz="2400" b="0" i="1" smtClean="0">
                        <a:latin typeface="Cambria Math" panose="02040503050406030204" pitchFamily="18" charset="0"/>
                        <a:ea typeface="Cambria Math" panose="02040503050406030204" pitchFamily="18" charset="0"/>
                      </a:rPr>
                      <m:t>):</m:t>
                    </m:r>
                  </m:oMath>
                </a14:m>
                <a:r>
                  <a:rPr lang="en-US" sz="2400" b="0" dirty="0">
                    <a:ea typeface="Cambria Math" panose="02040503050406030204" pitchFamily="18" charset="0"/>
                  </a:rPr>
                  <a:t> Model prediction</a:t>
                </a:r>
              </a:p>
              <a:p>
                <a:endParaRPr lang="en-US" sz="2400" dirty="0"/>
              </a:p>
            </p:txBody>
          </p:sp>
        </mc:Choice>
        <mc:Fallback xmlns="">
          <p:sp>
            <p:nvSpPr>
              <p:cNvPr id="13" name="TextBox 12">
                <a:extLst>
                  <a:ext uri="{FF2B5EF4-FFF2-40B4-BE49-F238E27FC236}">
                    <a16:creationId xmlns:a16="http://schemas.microsoft.com/office/drawing/2014/main" id="{916900D6-6043-C1C8-F7D6-017042D8CF12}"/>
                  </a:ext>
                </a:extLst>
              </p:cNvPr>
              <p:cNvSpPr txBox="1">
                <a:spLocks noRot="1" noChangeAspect="1" noMove="1" noResize="1" noEditPoints="1" noAdjustHandles="1" noChangeArrowheads="1" noChangeShapeType="1" noTextEdit="1"/>
              </p:cNvSpPr>
              <p:nvPr/>
            </p:nvSpPr>
            <p:spPr>
              <a:xfrm>
                <a:off x="5698838" y="2086507"/>
                <a:ext cx="4502702" cy="4362476"/>
              </a:xfrm>
              <a:prstGeom prst="rect">
                <a:avLst/>
              </a:prstGeom>
              <a:blipFill>
                <a:blip r:embed="rId2"/>
                <a:stretch>
                  <a:fillRect l="-15449" t="-19477"/>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BC06F331-8198-5B78-44CB-83F7F6B58156}"/>
              </a:ext>
            </a:extLst>
          </p:cNvPr>
          <p:cNvSpPr txBox="1"/>
          <p:nvPr/>
        </p:nvSpPr>
        <p:spPr>
          <a:xfrm>
            <a:off x="6946992" y="1417287"/>
            <a:ext cx="1703654" cy="646331"/>
          </a:xfrm>
          <a:prstGeom prst="rect">
            <a:avLst/>
          </a:prstGeom>
          <a:noFill/>
        </p:spPr>
        <p:txBody>
          <a:bodyPr wrap="square">
            <a:spAutoFit/>
          </a:bodyPr>
          <a:lstStyle/>
          <a:p>
            <a:pPr algn="ctr"/>
            <a:r>
              <a:rPr lang="en-US" dirty="0">
                <a:solidFill>
                  <a:schemeClr val="tx2"/>
                </a:solidFill>
              </a:rPr>
              <a:t>Required distribution</a:t>
            </a:r>
          </a:p>
        </p:txBody>
      </p:sp>
      <p:sp>
        <p:nvSpPr>
          <p:cNvPr id="15" name="TextBox 14">
            <a:extLst>
              <a:ext uri="{FF2B5EF4-FFF2-40B4-BE49-F238E27FC236}">
                <a16:creationId xmlns:a16="http://schemas.microsoft.com/office/drawing/2014/main" id="{BBF36D53-C593-DF9D-C18B-879CB7059238}"/>
              </a:ext>
            </a:extLst>
          </p:cNvPr>
          <p:cNvSpPr txBox="1"/>
          <p:nvPr/>
        </p:nvSpPr>
        <p:spPr>
          <a:xfrm>
            <a:off x="10077746" y="2609277"/>
            <a:ext cx="1703654" cy="646331"/>
          </a:xfrm>
          <a:prstGeom prst="rect">
            <a:avLst/>
          </a:prstGeom>
          <a:noFill/>
        </p:spPr>
        <p:txBody>
          <a:bodyPr wrap="square">
            <a:spAutoFit/>
          </a:bodyPr>
          <a:lstStyle/>
          <a:p>
            <a:pPr algn="ctr"/>
            <a:r>
              <a:rPr lang="en-US" dirty="0"/>
              <a:t>Likelihood function</a:t>
            </a:r>
          </a:p>
        </p:txBody>
      </p:sp>
      <p:sp>
        <p:nvSpPr>
          <p:cNvPr id="16" name="TextBox 15">
            <a:extLst>
              <a:ext uri="{FF2B5EF4-FFF2-40B4-BE49-F238E27FC236}">
                <a16:creationId xmlns:a16="http://schemas.microsoft.com/office/drawing/2014/main" id="{05EA3B86-7138-1CE5-3BAF-6B14ADDE8AAA}"/>
              </a:ext>
            </a:extLst>
          </p:cNvPr>
          <p:cNvSpPr txBox="1"/>
          <p:nvPr/>
        </p:nvSpPr>
        <p:spPr>
          <a:xfrm>
            <a:off x="7930809" y="3501284"/>
            <a:ext cx="1703654" cy="369332"/>
          </a:xfrm>
          <a:prstGeom prst="rect">
            <a:avLst/>
          </a:prstGeom>
          <a:noFill/>
        </p:spPr>
        <p:txBody>
          <a:bodyPr wrap="square">
            <a:spAutoFit/>
          </a:bodyPr>
          <a:lstStyle/>
          <a:p>
            <a:pPr algn="ctr"/>
            <a:r>
              <a:rPr lang="en-US" dirty="0"/>
              <a:t>Prior</a:t>
            </a:r>
          </a:p>
        </p:txBody>
      </p:sp>
      <p:sp>
        <p:nvSpPr>
          <p:cNvPr id="17" name="TextBox 16">
            <a:extLst>
              <a:ext uri="{FF2B5EF4-FFF2-40B4-BE49-F238E27FC236}">
                <a16:creationId xmlns:a16="http://schemas.microsoft.com/office/drawing/2014/main" id="{35F67DE7-C187-046D-A181-6EC801A00008}"/>
              </a:ext>
            </a:extLst>
          </p:cNvPr>
          <p:cNvSpPr txBox="1"/>
          <p:nvPr/>
        </p:nvSpPr>
        <p:spPr>
          <a:xfrm>
            <a:off x="2860250" y="2694983"/>
            <a:ext cx="1703654" cy="646331"/>
          </a:xfrm>
          <a:prstGeom prst="rect">
            <a:avLst/>
          </a:prstGeom>
          <a:noFill/>
        </p:spPr>
        <p:txBody>
          <a:bodyPr wrap="square">
            <a:spAutoFit/>
          </a:bodyPr>
          <a:lstStyle/>
          <a:p>
            <a:pPr algn="ctr"/>
            <a:r>
              <a:rPr lang="en-US" b="1" dirty="0">
                <a:solidFill>
                  <a:schemeClr val="tx2"/>
                </a:solidFill>
              </a:rPr>
              <a:t>Unknown noise</a:t>
            </a:r>
            <a:endParaRPr lang="en-US" dirty="0">
              <a:solidFill>
                <a:schemeClr val="tx2"/>
              </a:solidFill>
            </a:endParaRPr>
          </a:p>
        </p:txBody>
      </p:sp>
    </p:spTree>
    <p:extLst>
      <p:ext uri="{BB962C8B-B14F-4D97-AF65-F5344CB8AC3E}">
        <p14:creationId xmlns:p14="http://schemas.microsoft.com/office/powerpoint/2010/main" val="26152219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FC359-7A76-2ACF-038D-412551971A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A2B245-C670-AC06-CD51-24B16DC67A2C}"/>
              </a:ext>
            </a:extLst>
          </p:cNvPr>
          <p:cNvSpPr>
            <a:spLocks noGrp="1"/>
          </p:cNvSpPr>
          <p:nvPr>
            <p:ph type="title"/>
          </p:nvPr>
        </p:nvSpPr>
        <p:spPr>
          <a:xfrm>
            <a:off x="938151" y="558602"/>
            <a:ext cx="10415648" cy="413463"/>
          </a:xfrm>
        </p:spPr>
        <p:txBody>
          <a:bodyPr/>
          <a:lstStyle/>
          <a:p>
            <a:r>
              <a:rPr lang="en-US" dirty="0"/>
              <a:t>Quantify model parameter + noise uncertainties</a:t>
            </a:r>
          </a:p>
        </p:txBody>
      </p:sp>
      <p:sp>
        <p:nvSpPr>
          <p:cNvPr id="4" name="Slide Number Placeholder 3">
            <a:extLst>
              <a:ext uri="{FF2B5EF4-FFF2-40B4-BE49-F238E27FC236}">
                <a16:creationId xmlns:a16="http://schemas.microsoft.com/office/drawing/2014/main" id="{6B8A0BE6-F211-F4DC-DB1B-810563209D30}"/>
              </a:ext>
            </a:extLst>
          </p:cNvPr>
          <p:cNvSpPr>
            <a:spLocks noGrp="1"/>
          </p:cNvSpPr>
          <p:nvPr>
            <p:ph type="sldNum" sz="quarter" idx="12"/>
          </p:nvPr>
        </p:nvSpPr>
        <p:spPr/>
        <p:txBody>
          <a:bodyPr/>
          <a:lstStyle/>
          <a:p>
            <a:fld id="{82B577FA-F7D9-2C48-919F-F962E3BF952F}" type="slidenum">
              <a:rPr lang="en-US" smtClean="0"/>
              <a:t>19</a:t>
            </a:fld>
            <a:endParaRPr lang="en-US"/>
          </a:p>
        </p:txBody>
      </p:sp>
      <p:sp>
        <p:nvSpPr>
          <p:cNvPr id="5" name="TextBox 4">
            <a:extLst>
              <a:ext uri="{FF2B5EF4-FFF2-40B4-BE49-F238E27FC236}">
                <a16:creationId xmlns:a16="http://schemas.microsoft.com/office/drawing/2014/main" id="{4EAE9A4D-874F-D602-AF10-69A549B5E750}"/>
              </a:ext>
            </a:extLst>
          </p:cNvPr>
          <p:cNvSpPr txBox="1"/>
          <p:nvPr/>
        </p:nvSpPr>
        <p:spPr>
          <a:xfrm>
            <a:off x="4725272" y="6550223"/>
            <a:ext cx="2741456" cy="307777"/>
          </a:xfrm>
          <a:prstGeom prst="rect">
            <a:avLst/>
          </a:prstGeom>
          <a:noFill/>
        </p:spPr>
        <p:txBody>
          <a:bodyPr wrap="none" rtlCol="0">
            <a:spAutoFit/>
          </a:bodyPr>
          <a:lstStyle/>
          <a:p>
            <a:r>
              <a:rPr lang="en-US" sz="1400" b="1" i="0" dirty="0">
                <a:solidFill>
                  <a:srgbClr val="07519E"/>
                </a:solidFill>
                <a:effectLst/>
                <a:latin typeface="Arial" panose="020B0604020202020204" pitchFamily="34" charset="0"/>
              </a:rPr>
              <a:t>Part 2: Bayesian (inverse) UQ</a:t>
            </a:r>
            <a:endParaRPr lang="en-US" sz="1400" b="1" dirty="0">
              <a:solidFill>
                <a:srgbClr val="07519E"/>
              </a:solidFill>
            </a:endParaRPr>
          </a:p>
        </p:txBody>
      </p:sp>
      <p:sp>
        <p:nvSpPr>
          <p:cNvPr id="3" name="Rectangle 2">
            <a:extLst>
              <a:ext uri="{FF2B5EF4-FFF2-40B4-BE49-F238E27FC236}">
                <a16:creationId xmlns:a16="http://schemas.microsoft.com/office/drawing/2014/main" id="{266F034F-DB29-4149-F172-E2500D68D815}"/>
              </a:ext>
            </a:extLst>
          </p:cNvPr>
          <p:cNvSpPr/>
          <p:nvPr/>
        </p:nvSpPr>
        <p:spPr>
          <a:xfrm>
            <a:off x="1486582" y="2181955"/>
            <a:ext cx="2197774" cy="210082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444E46B3-FEE1-324B-E8AD-736029F39900}"/>
              </a:ext>
            </a:extLst>
          </p:cNvPr>
          <p:cNvCxnSpPr>
            <a:cxnSpLocks/>
          </p:cNvCxnSpPr>
          <p:nvPr/>
        </p:nvCxnSpPr>
        <p:spPr>
          <a:xfrm>
            <a:off x="1486581" y="2036747"/>
            <a:ext cx="219777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445A3FE6-66BD-8D3F-476E-7423702BE0EE}"/>
              </a:ext>
            </a:extLst>
          </p:cNvPr>
          <p:cNvCxnSpPr>
            <a:cxnSpLocks/>
          </p:cNvCxnSpPr>
          <p:nvPr/>
        </p:nvCxnSpPr>
        <p:spPr>
          <a:xfrm flipV="1">
            <a:off x="3837920" y="2180433"/>
            <a:ext cx="1" cy="210234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D77BF22-C8D9-D01E-D01B-799269D302F4}"/>
                  </a:ext>
                </a:extLst>
              </p:cNvPr>
              <p:cNvSpPr txBox="1"/>
              <p:nvPr/>
            </p:nvSpPr>
            <p:spPr>
              <a:xfrm>
                <a:off x="1746605" y="1628405"/>
                <a:ext cx="167772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𝑥</m:t>
                          </m:r>
                          <m:r>
                            <a:rPr lang="en-US" b="0" i="1" smtClean="0">
                              <a:latin typeface="Cambria Math" panose="02040503050406030204" pitchFamily="18" charset="0"/>
                            </a:rPr>
                            <m:t>1</m:t>
                          </m:r>
                        </m:sub>
                      </m:sSub>
                    </m:oMath>
                  </m:oMathPara>
                </a14:m>
                <a:endParaRPr lang="en-US" dirty="0"/>
              </a:p>
            </p:txBody>
          </p:sp>
        </mc:Choice>
        <mc:Fallback xmlns="">
          <p:sp>
            <p:nvSpPr>
              <p:cNvPr id="10" name="TextBox 9">
                <a:extLst>
                  <a:ext uri="{FF2B5EF4-FFF2-40B4-BE49-F238E27FC236}">
                    <a16:creationId xmlns:a16="http://schemas.microsoft.com/office/drawing/2014/main" id="{BD77BF22-C8D9-D01E-D01B-799269D302F4}"/>
                  </a:ext>
                </a:extLst>
              </p:cNvPr>
              <p:cNvSpPr txBox="1">
                <a:spLocks noRot="1" noChangeAspect="1" noMove="1" noResize="1" noEditPoints="1" noAdjustHandles="1" noChangeArrowheads="1" noChangeShapeType="1" noTextEdit="1"/>
              </p:cNvSpPr>
              <p:nvPr/>
            </p:nvSpPr>
            <p:spPr>
              <a:xfrm>
                <a:off x="1746605" y="1628405"/>
                <a:ext cx="1677725"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1E4A0D8-D7CA-B72F-933A-50D583E208E7}"/>
                  </a:ext>
                </a:extLst>
              </p:cNvPr>
              <p:cNvSpPr txBox="1"/>
              <p:nvPr/>
            </p:nvSpPr>
            <p:spPr>
              <a:xfrm>
                <a:off x="3779488" y="3034212"/>
                <a:ext cx="778359" cy="39478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𝑦</m:t>
                          </m:r>
                          <m:r>
                            <a:rPr lang="en-US" b="0" i="1" smtClean="0">
                              <a:latin typeface="Cambria Math" panose="02040503050406030204" pitchFamily="18" charset="0"/>
                            </a:rPr>
                            <m:t>1</m:t>
                          </m:r>
                        </m:sub>
                      </m:sSub>
                    </m:oMath>
                  </m:oMathPara>
                </a14:m>
                <a:endParaRPr lang="en-US" dirty="0"/>
              </a:p>
            </p:txBody>
          </p:sp>
        </mc:Choice>
        <mc:Fallback xmlns="">
          <p:sp>
            <p:nvSpPr>
              <p:cNvPr id="13" name="TextBox 12">
                <a:extLst>
                  <a:ext uri="{FF2B5EF4-FFF2-40B4-BE49-F238E27FC236}">
                    <a16:creationId xmlns:a16="http://schemas.microsoft.com/office/drawing/2014/main" id="{11E4A0D8-D7CA-B72F-933A-50D583E208E7}"/>
                  </a:ext>
                </a:extLst>
              </p:cNvPr>
              <p:cNvSpPr txBox="1">
                <a:spLocks noRot="1" noChangeAspect="1" noMove="1" noResize="1" noEditPoints="1" noAdjustHandles="1" noChangeArrowheads="1" noChangeShapeType="1" noTextEdit="1"/>
              </p:cNvSpPr>
              <p:nvPr/>
            </p:nvSpPr>
            <p:spPr>
              <a:xfrm>
                <a:off x="3779488" y="3034212"/>
                <a:ext cx="778359" cy="394788"/>
              </a:xfrm>
              <a:prstGeom prst="rect">
                <a:avLst/>
              </a:prstGeom>
              <a:blipFill>
                <a:blip r:embed="rId3"/>
                <a:stretch>
                  <a:fillRect b="-6250"/>
                </a:stretch>
              </a:blipFill>
            </p:spPr>
            <p:txBody>
              <a:bodyPr/>
              <a:lstStyle/>
              <a:p>
                <a:r>
                  <a:rPr lang="en-US">
                    <a:noFill/>
                  </a:rPr>
                  <a:t> </a:t>
                </a:r>
              </a:p>
            </p:txBody>
          </p:sp>
        </mc:Fallback>
      </mc:AlternateContent>
      <p:sp>
        <p:nvSpPr>
          <p:cNvPr id="14" name="Oval 13">
            <a:extLst>
              <a:ext uri="{FF2B5EF4-FFF2-40B4-BE49-F238E27FC236}">
                <a16:creationId xmlns:a16="http://schemas.microsoft.com/office/drawing/2014/main" id="{5491F277-C31B-63B7-3F25-1CB18FA06F7E}"/>
              </a:ext>
            </a:extLst>
          </p:cNvPr>
          <p:cNvSpPr/>
          <p:nvPr/>
        </p:nvSpPr>
        <p:spPr>
          <a:xfrm>
            <a:off x="1452085" y="4226373"/>
            <a:ext cx="87465" cy="954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C1805DC-0552-5343-648E-64625B81D72E}"/>
                  </a:ext>
                </a:extLst>
              </p:cNvPr>
              <p:cNvSpPr txBox="1"/>
              <p:nvPr/>
            </p:nvSpPr>
            <p:spPr>
              <a:xfrm>
                <a:off x="1023856" y="4320647"/>
                <a:ext cx="9254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𝒑</m:t>
                      </m:r>
                      <m:r>
                        <a:rPr lang="en-US" b="1" i="1" smtClean="0">
                          <a:latin typeface="Cambria Math" panose="02040503050406030204" pitchFamily="18" charset="0"/>
                        </a:rPr>
                        <m:t>=</m:t>
                      </m:r>
                      <m:r>
                        <a:rPr lang="en-US" b="1" i="1" smtClean="0">
                          <a:latin typeface="Cambria Math" panose="02040503050406030204" pitchFamily="18" charset="0"/>
                        </a:rPr>
                        <m:t>𝟎</m:t>
                      </m:r>
                    </m:oMath>
                  </m:oMathPara>
                </a14:m>
                <a:endParaRPr lang="en-US" b="1" dirty="0"/>
              </a:p>
            </p:txBody>
          </p:sp>
        </mc:Choice>
        <mc:Fallback xmlns="">
          <p:sp>
            <p:nvSpPr>
              <p:cNvPr id="15" name="TextBox 14">
                <a:extLst>
                  <a:ext uri="{FF2B5EF4-FFF2-40B4-BE49-F238E27FC236}">
                    <a16:creationId xmlns:a16="http://schemas.microsoft.com/office/drawing/2014/main" id="{CC1805DC-0552-5343-648E-64625B81D72E}"/>
                  </a:ext>
                </a:extLst>
              </p:cNvPr>
              <p:cNvSpPr txBox="1">
                <a:spLocks noRot="1" noChangeAspect="1" noMove="1" noResize="1" noEditPoints="1" noAdjustHandles="1" noChangeArrowheads="1" noChangeShapeType="1" noTextEdit="1"/>
              </p:cNvSpPr>
              <p:nvPr/>
            </p:nvSpPr>
            <p:spPr>
              <a:xfrm>
                <a:off x="1023856" y="4320647"/>
                <a:ext cx="925450" cy="369332"/>
              </a:xfrm>
              <a:prstGeom prst="rect">
                <a:avLst/>
              </a:prstGeom>
              <a:blipFill>
                <a:blip r:embed="rId4"/>
                <a:stretch>
                  <a:fillRect b="-10000"/>
                </a:stretch>
              </a:blipFill>
            </p:spPr>
            <p:txBody>
              <a:bodyPr/>
              <a:lstStyle/>
              <a:p>
                <a:r>
                  <a:rPr lang="en-US">
                    <a:noFill/>
                  </a:rPr>
                  <a:t> </a:t>
                </a:r>
              </a:p>
            </p:txBody>
          </p:sp>
        </mc:Fallback>
      </mc:AlternateContent>
      <p:sp>
        <p:nvSpPr>
          <p:cNvPr id="16" name="Oval 15">
            <a:extLst>
              <a:ext uri="{FF2B5EF4-FFF2-40B4-BE49-F238E27FC236}">
                <a16:creationId xmlns:a16="http://schemas.microsoft.com/office/drawing/2014/main" id="{5B6F45F4-7BFD-7A23-E25D-6814632F6359}"/>
              </a:ext>
            </a:extLst>
          </p:cNvPr>
          <p:cNvSpPr/>
          <p:nvPr/>
        </p:nvSpPr>
        <p:spPr>
          <a:xfrm>
            <a:off x="2529882" y="3180058"/>
            <a:ext cx="87465" cy="954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DEA46F3B-82C6-8377-111B-57BF761D6851}"/>
                  </a:ext>
                </a:extLst>
              </p:cNvPr>
              <p:cNvSpPr txBox="1"/>
              <p:nvPr/>
            </p:nvSpPr>
            <p:spPr>
              <a:xfrm>
                <a:off x="1691019" y="4968086"/>
                <a:ext cx="1677725" cy="6560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ad>
                        <m:radPr>
                          <m:degHide m:val="on"/>
                          <m:ctrlPr>
                            <a:rPr lang="en-US" b="1" i="1" smtClean="0">
                              <a:latin typeface="Cambria Math" panose="02040503050406030204" pitchFamily="18" charset="0"/>
                            </a:rPr>
                          </m:ctrlPr>
                        </m:radPr>
                        <m:deg/>
                        <m:e>
                          <m:sSup>
                            <m:sSupPr>
                              <m:ctrlPr>
                                <a:rPr lang="en-US" b="1" i="1" smtClean="0">
                                  <a:latin typeface="Cambria Math" panose="02040503050406030204" pitchFamily="18" charset="0"/>
                                </a:rPr>
                              </m:ctrlPr>
                            </m:sSupPr>
                            <m:e>
                              <m:sSub>
                                <m:sSubPr>
                                  <m:ctrlPr>
                                    <a:rPr lang="en-US" b="1"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𝑥</m:t>
                                  </m:r>
                                </m:sub>
                              </m:sSub>
                            </m:e>
                            <m:sup>
                              <m:r>
                                <a:rPr lang="en-US" b="1" i="1" smtClean="0">
                                  <a:latin typeface="Cambria Math" panose="02040503050406030204" pitchFamily="18" charset="0"/>
                                </a:rPr>
                                <m:t>𝟐</m:t>
                              </m:r>
                            </m:sup>
                          </m:sSup>
                          <m:r>
                            <a:rPr lang="en-US" b="1" i="1" smtClean="0">
                              <a:latin typeface="Cambria Math" panose="02040503050406030204" pitchFamily="18" charset="0"/>
                            </a:rPr>
                            <m:t>+</m:t>
                          </m:r>
                          <m:sSup>
                            <m:sSupPr>
                              <m:ctrlPr>
                                <a:rPr lang="en-US" b="1" i="1" smtClean="0">
                                  <a:latin typeface="Cambria Math" panose="02040503050406030204" pitchFamily="18" charset="0"/>
                                </a:rPr>
                              </m:ctrlPr>
                            </m:sSupPr>
                            <m:e>
                              <m:sSub>
                                <m:sSubPr>
                                  <m:ctrlPr>
                                    <a:rPr lang="en-US"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𝑦</m:t>
                                  </m:r>
                                </m:sub>
                              </m:sSub>
                            </m:e>
                            <m:sup>
                              <m:r>
                                <a:rPr lang="en-US" b="1" i="1" smtClean="0">
                                  <a:latin typeface="Cambria Math" panose="02040503050406030204" pitchFamily="18" charset="0"/>
                                </a:rPr>
                                <m:t>𝟐</m:t>
                              </m:r>
                            </m:sup>
                          </m:sSup>
                        </m:e>
                      </m:rad>
                    </m:oMath>
                  </m:oMathPara>
                </a14:m>
                <a:endParaRPr lang="en-US" b="1" dirty="0"/>
              </a:p>
            </p:txBody>
          </p:sp>
        </mc:Choice>
        <mc:Fallback xmlns="">
          <p:sp>
            <p:nvSpPr>
              <p:cNvPr id="18" name="TextBox 17">
                <a:extLst>
                  <a:ext uri="{FF2B5EF4-FFF2-40B4-BE49-F238E27FC236}">
                    <a16:creationId xmlns:a16="http://schemas.microsoft.com/office/drawing/2014/main" id="{DEA46F3B-82C6-8377-111B-57BF761D6851}"/>
                  </a:ext>
                </a:extLst>
              </p:cNvPr>
              <p:cNvSpPr txBox="1">
                <a:spLocks noRot="1" noChangeAspect="1" noMove="1" noResize="1" noEditPoints="1" noAdjustHandles="1" noChangeArrowheads="1" noChangeShapeType="1" noTextEdit="1"/>
              </p:cNvSpPr>
              <p:nvPr/>
            </p:nvSpPr>
            <p:spPr>
              <a:xfrm>
                <a:off x="1691019" y="4968086"/>
                <a:ext cx="1677725" cy="656013"/>
              </a:xfrm>
              <a:prstGeom prst="rect">
                <a:avLst/>
              </a:prstGeom>
              <a:blipFill>
                <a:blip r:embed="rId5"/>
                <a:stretch>
                  <a:fillRect/>
                </a:stretch>
              </a:blipFill>
            </p:spPr>
            <p:txBody>
              <a:bodyPr/>
              <a:lstStyle/>
              <a:p>
                <a:r>
                  <a:rPr lang="en-US">
                    <a:noFill/>
                  </a:rPr>
                  <a:t> </a:t>
                </a:r>
              </a:p>
            </p:txBody>
          </p:sp>
        </mc:Fallback>
      </mc:AlternateContent>
      <p:sp>
        <p:nvSpPr>
          <p:cNvPr id="22" name="Oval 21">
            <a:extLst>
              <a:ext uri="{FF2B5EF4-FFF2-40B4-BE49-F238E27FC236}">
                <a16:creationId xmlns:a16="http://schemas.microsoft.com/office/drawing/2014/main" id="{C483C35A-DD18-9449-4B82-9CB7A15B3396}"/>
              </a:ext>
            </a:extLst>
          </p:cNvPr>
          <p:cNvSpPr/>
          <p:nvPr/>
        </p:nvSpPr>
        <p:spPr>
          <a:xfrm>
            <a:off x="3235291" y="3180058"/>
            <a:ext cx="87465" cy="954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FDF1F76-9633-78AB-4FEC-7E81F2DF87FB}"/>
              </a:ext>
            </a:extLst>
          </p:cNvPr>
          <p:cNvSpPr/>
          <p:nvPr/>
        </p:nvSpPr>
        <p:spPr>
          <a:xfrm>
            <a:off x="1780741" y="3180058"/>
            <a:ext cx="87465" cy="954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013C37D6-B20F-60CA-2B14-577B3946A6E7}"/>
              </a:ext>
            </a:extLst>
          </p:cNvPr>
          <p:cNvSpPr/>
          <p:nvPr/>
        </p:nvSpPr>
        <p:spPr>
          <a:xfrm>
            <a:off x="2529882" y="2492692"/>
            <a:ext cx="87465" cy="954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6EBA597D-4A7F-7045-D44D-4F49FA932986}"/>
              </a:ext>
            </a:extLst>
          </p:cNvPr>
          <p:cNvSpPr/>
          <p:nvPr/>
        </p:nvSpPr>
        <p:spPr>
          <a:xfrm>
            <a:off x="3235291" y="2492692"/>
            <a:ext cx="87465" cy="954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17478E69-B916-90EF-1915-3FC64206F44D}"/>
              </a:ext>
            </a:extLst>
          </p:cNvPr>
          <p:cNvSpPr/>
          <p:nvPr/>
        </p:nvSpPr>
        <p:spPr>
          <a:xfrm>
            <a:off x="1780741" y="2492692"/>
            <a:ext cx="87465" cy="954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40F96426-8DE0-1D35-77C4-6E3464B8CFB3}"/>
              </a:ext>
            </a:extLst>
          </p:cNvPr>
          <p:cNvSpPr/>
          <p:nvPr/>
        </p:nvSpPr>
        <p:spPr>
          <a:xfrm>
            <a:off x="2529882" y="3819716"/>
            <a:ext cx="87465" cy="954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3CD48826-2C9A-B736-6F5D-8E9D76C49C60}"/>
              </a:ext>
            </a:extLst>
          </p:cNvPr>
          <p:cNvSpPr/>
          <p:nvPr/>
        </p:nvSpPr>
        <p:spPr>
          <a:xfrm>
            <a:off x="3235291" y="3819716"/>
            <a:ext cx="87465" cy="954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BCE51862-8976-17AB-6D53-6C7F90C7FC48}"/>
              </a:ext>
            </a:extLst>
          </p:cNvPr>
          <p:cNvSpPr/>
          <p:nvPr/>
        </p:nvSpPr>
        <p:spPr>
          <a:xfrm>
            <a:off x="1780741" y="3819716"/>
            <a:ext cx="87465" cy="954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5A6D2BB1-14D8-D370-85F9-354D4F4CE0FB}"/>
              </a:ext>
            </a:extLst>
          </p:cNvPr>
          <p:cNvSpPr txBox="1"/>
          <p:nvPr/>
        </p:nvSpPr>
        <p:spPr>
          <a:xfrm>
            <a:off x="4854880" y="1120094"/>
            <a:ext cx="2946380" cy="3693319"/>
          </a:xfrm>
          <a:prstGeom prst="rect">
            <a:avLst/>
          </a:prstGeom>
          <a:noFill/>
        </p:spPr>
        <p:txBody>
          <a:bodyPr wrap="square">
            <a:spAutoFit/>
          </a:bodyPr>
          <a:lstStyle/>
          <a:p>
            <a:pPr algn="ctr"/>
            <a:r>
              <a:rPr lang="en-US" b="1" dirty="0"/>
              <a:t>“Experimental data”</a:t>
            </a:r>
          </a:p>
          <a:p>
            <a:pPr marL="285750" indent="-285750">
              <a:buFontTx/>
              <a:buChar char="-"/>
            </a:pPr>
            <a:r>
              <a:rPr lang="en-US" dirty="0"/>
              <a:t>Resultant velocities at 9 locations in the domain</a:t>
            </a:r>
          </a:p>
          <a:p>
            <a:pPr marL="285750" indent="-285750">
              <a:buFontTx/>
              <a:buChar char="-"/>
            </a:pPr>
            <a:r>
              <a:rPr lang="en-US" dirty="0"/>
              <a:t>Resultant velocities: experimental data</a:t>
            </a:r>
          </a:p>
          <a:p>
            <a:pPr marL="285750" indent="-285750">
              <a:buFontTx/>
              <a:buChar char="-"/>
            </a:pPr>
            <a:r>
              <a:rPr lang="en-US" dirty="0"/>
              <a:t>Locations: experimental configurations</a:t>
            </a:r>
          </a:p>
          <a:p>
            <a:pPr marL="285750" indent="-285750">
              <a:buFontTx/>
              <a:buChar char="-"/>
            </a:pPr>
            <a:endParaRPr lang="en-US" dirty="0"/>
          </a:p>
          <a:p>
            <a:pPr marL="285750" indent="-285750">
              <a:buFontTx/>
              <a:buChar char="-"/>
            </a:pPr>
            <a:r>
              <a:rPr lang="en-US" dirty="0"/>
              <a:t>Ux1 = 1.0, Uy1 = 2.5</a:t>
            </a:r>
          </a:p>
          <a:p>
            <a:pPr algn="ctr"/>
            <a:r>
              <a:rPr lang="en-US" dirty="0"/>
              <a:t>(treated as unknown)</a:t>
            </a:r>
          </a:p>
          <a:p>
            <a:pPr marL="285750" indent="-285750">
              <a:buFontTx/>
              <a:buChar char="-"/>
            </a:pPr>
            <a:r>
              <a:rPr lang="en-US" dirty="0">
                <a:solidFill>
                  <a:schemeClr val="tx2"/>
                </a:solidFill>
              </a:rPr>
              <a:t>Added Gaussian noise of 0.4</a:t>
            </a:r>
          </a:p>
          <a:p>
            <a:pPr algn="ctr"/>
            <a:r>
              <a:rPr lang="en-US" dirty="0">
                <a:solidFill>
                  <a:schemeClr val="tx2"/>
                </a:solidFill>
              </a:rPr>
              <a:t>(treated as unknown)</a:t>
            </a:r>
          </a:p>
        </p:txBody>
      </p:sp>
      <p:sp>
        <p:nvSpPr>
          <p:cNvPr id="31" name="TextBox 30">
            <a:extLst>
              <a:ext uri="{FF2B5EF4-FFF2-40B4-BE49-F238E27FC236}">
                <a16:creationId xmlns:a16="http://schemas.microsoft.com/office/drawing/2014/main" id="{1FC19469-2BE8-80C2-F7B8-8904BF6A8675}"/>
              </a:ext>
            </a:extLst>
          </p:cNvPr>
          <p:cNvSpPr txBox="1"/>
          <p:nvPr/>
        </p:nvSpPr>
        <p:spPr>
          <a:xfrm>
            <a:off x="8733779" y="1134760"/>
            <a:ext cx="2946380" cy="3139321"/>
          </a:xfrm>
          <a:prstGeom prst="rect">
            <a:avLst/>
          </a:prstGeom>
          <a:noFill/>
        </p:spPr>
        <p:txBody>
          <a:bodyPr wrap="square">
            <a:spAutoFit/>
          </a:bodyPr>
          <a:lstStyle/>
          <a:p>
            <a:pPr algn="ctr"/>
            <a:r>
              <a:rPr lang="en-US" b="1" dirty="0"/>
              <a:t>Predictive model</a:t>
            </a:r>
          </a:p>
          <a:p>
            <a:pPr marL="285750" indent="-285750">
              <a:buFontTx/>
              <a:buChar char="-"/>
            </a:pPr>
            <a:r>
              <a:rPr lang="en-US" dirty="0"/>
              <a:t>Predict resultant velocities at 9 locations in the domain</a:t>
            </a:r>
          </a:p>
          <a:p>
            <a:endParaRPr lang="en-US" dirty="0"/>
          </a:p>
          <a:p>
            <a:pPr marL="285750" indent="-285750">
              <a:buFontTx/>
              <a:buChar char="-"/>
            </a:pPr>
            <a:r>
              <a:rPr lang="en-US" dirty="0"/>
              <a:t>Infer the unknown Ux1, Uy1 such that predictions match experiments</a:t>
            </a:r>
          </a:p>
          <a:p>
            <a:pPr marL="285750" indent="-285750">
              <a:buFontTx/>
              <a:buChar char="-"/>
            </a:pPr>
            <a:r>
              <a:rPr lang="en-US" dirty="0">
                <a:solidFill>
                  <a:schemeClr val="tx2"/>
                </a:solidFill>
              </a:rPr>
              <a:t>Infer the unknown noise value</a:t>
            </a:r>
          </a:p>
        </p:txBody>
      </p:sp>
      <p:pic>
        <p:nvPicPr>
          <p:cNvPr id="33" name="Picture 32" descr="Text&#10;&#10;AI-generated content may be incorrect.">
            <a:extLst>
              <a:ext uri="{FF2B5EF4-FFF2-40B4-BE49-F238E27FC236}">
                <a16:creationId xmlns:a16="http://schemas.microsoft.com/office/drawing/2014/main" id="{12ADF3A9-F717-7944-F7D4-8A5462377D51}"/>
              </a:ext>
            </a:extLst>
          </p:cNvPr>
          <p:cNvPicPr>
            <a:picLocks noChangeAspect="1"/>
          </p:cNvPicPr>
          <p:nvPr/>
        </p:nvPicPr>
        <p:blipFill>
          <a:blip r:embed="rId6"/>
          <a:stretch>
            <a:fillRect/>
          </a:stretch>
        </p:blipFill>
        <p:spPr>
          <a:xfrm>
            <a:off x="4945682" y="4887868"/>
            <a:ext cx="2937583" cy="1249317"/>
          </a:xfrm>
          <a:prstGeom prst="rect">
            <a:avLst/>
          </a:prstGeom>
        </p:spPr>
      </p:pic>
      <p:pic>
        <p:nvPicPr>
          <p:cNvPr id="34" name="Picture 33" descr="Text&#10;&#10;AI-generated content may be incorrect.">
            <a:extLst>
              <a:ext uri="{FF2B5EF4-FFF2-40B4-BE49-F238E27FC236}">
                <a16:creationId xmlns:a16="http://schemas.microsoft.com/office/drawing/2014/main" id="{2CDDF6AA-614F-8419-6C78-E83A62BBCA2E}"/>
              </a:ext>
            </a:extLst>
          </p:cNvPr>
          <p:cNvPicPr>
            <a:picLocks noChangeAspect="1"/>
          </p:cNvPicPr>
          <p:nvPr/>
        </p:nvPicPr>
        <p:blipFill>
          <a:blip r:embed="rId6"/>
          <a:stretch>
            <a:fillRect/>
          </a:stretch>
        </p:blipFill>
        <p:spPr>
          <a:xfrm>
            <a:off x="8738177" y="4813413"/>
            <a:ext cx="2937583" cy="1249317"/>
          </a:xfrm>
          <a:prstGeom prst="rect">
            <a:avLst/>
          </a:prstGeom>
        </p:spPr>
      </p:pic>
    </p:spTree>
    <p:extLst>
      <p:ext uri="{BB962C8B-B14F-4D97-AF65-F5344CB8AC3E}">
        <p14:creationId xmlns:p14="http://schemas.microsoft.com/office/powerpoint/2010/main" val="3855685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EA389-8C94-1A79-D34B-7923E56E55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498398-0077-5968-B510-0738B18D0EB5}"/>
              </a:ext>
            </a:extLst>
          </p:cNvPr>
          <p:cNvSpPr>
            <a:spLocks noGrp="1"/>
          </p:cNvSpPr>
          <p:nvPr>
            <p:ph type="title"/>
          </p:nvPr>
        </p:nvSpPr>
        <p:spPr>
          <a:xfrm>
            <a:off x="938151" y="558602"/>
            <a:ext cx="10415648" cy="413463"/>
          </a:xfrm>
        </p:spPr>
        <p:txBody>
          <a:bodyPr/>
          <a:lstStyle/>
          <a:p>
            <a:r>
              <a:rPr lang="en-US" dirty="0"/>
              <a:t>A note on the code architecture</a:t>
            </a:r>
          </a:p>
        </p:txBody>
      </p:sp>
      <p:sp>
        <p:nvSpPr>
          <p:cNvPr id="4" name="Slide Number Placeholder 3">
            <a:extLst>
              <a:ext uri="{FF2B5EF4-FFF2-40B4-BE49-F238E27FC236}">
                <a16:creationId xmlns:a16="http://schemas.microsoft.com/office/drawing/2014/main" id="{482B3E8D-9CD8-74D1-5CB9-13B1E76AA720}"/>
              </a:ext>
            </a:extLst>
          </p:cNvPr>
          <p:cNvSpPr>
            <a:spLocks noGrp="1"/>
          </p:cNvSpPr>
          <p:nvPr>
            <p:ph type="sldNum" sz="quarter" idx="12"/>
          </p:nvPr>
        </p:nvSpPr>
        <p:spPr/>
        <p:txBody>
          <a:bodyPr/>
          <a:lstStyle/>
          <a:p>
            <a:fld id="{82B577FA-F7D9-2C48-919F-F962E3BF952F}" type="slidenum">
              <a:rPr lang="en-US" smtClean="0"/>
              <a:t>20</a:t>
            </a:fld>
            <a:endParaRPr lang="en-US"/>
          </a:p>
        </p:txBody>
      </p:sp>
      <p:sp>
        <p:nvSpPr>
          <p:cNvPr id="5" name="TextBox 4">
            <a:extLst>
              <a:ext uri="{FF2B5EF4-FFF2-40B4-BE49-F238E27FC236}">
                <a16:creationId xmlns:a16="http://schemas.microsoft.com/office/drawing/2014/main" id="{666B27B8-81EC-530B-23BD-3D51F0EB4D4C}"/>
              </a:ext>
            </a:extLst>
          </p:cNvPr>
          <p:cNvSpPr txBox="1"/>
          <p:nvPr/>
        </p:nvSpPr>
        <p:spPr>
          <a:xfrm>
            <a:off x="4725272" y="6550223"/>
            <a:ext cx="2741456" cy="307777"/>
          </a:xfrm>
          <a:prstGeom prst="rect">
            <a:avLst/>
          </a:prstGeom>
          <a:noFill/>
        </p:spPr>
        <p:txBody>
          <a:bodyPr wrap="none" rtlCol="0">
            <a:spAutoFit/>
          </a:bodyPr>
          <a:lstStyle/>
          <a:p>
            <a:r>
              <a:rPr lang="en-US" sz="1400" b="1" i="0" dirty="0">
                <a:solidFill>
                  <a:srgbClr val="07519E"/>
                </a:solidFill>
                <a:effectLst/>
                <a:latin typeface="Arial" panose="020B0604020202020204" pitchFamily="34" charset="0"/>
              </a:rPr>
              <a:t>Part 2: Bayesian (inverse) UQ</a:t>
            </a:r>
            <a:endParaRPr lang="en-US" sz="1400" b="1" dirty="0">
              <a:solidFill>
                <a:srgbClr val="07519E"/>
              </a:solidFill>
            </a:endParaRPr>
          </a:p>
        </p:txBody>
      </p:sp>
      <p:pic>
        <p:nvPicPr>
          <p:cNvPr id="3" name="Picture 2" descr="Diagram&#10;&#10;AI-generated content may be incorrect.">
            <a:extLst>
              <a:ext uri="{FF2B5EF4-FFF2-40B4-BE49-F238E27FC236}">
                <a16:creationId xmlns:a16="http://schemas.microsoft.com/office/drawing/2014/main" id="{356564EC-70E0-443F-E691-28A10B6CB1F6}"/>
              </a:ext>
            </a:extLst>
          </p:cNvPr>
          <p:cNvPicPr>
            <a:picLocks noChangeAspect="1"/>
          </p:cNvPicPr>
          <p:nvPr/>
        </p:nvPicPr>
        <p:blipFill>
          <a:blip r:embed="rId2"/>
          <a:stretch>
            <a:fillRect/>
          </a:stretch>
        </p:blipFill>
        <p:spPr>
          <a:xfrm>
            <a:off x="2209800" y="1363185"/>
            <a:ext cx="7772400" cy="4681104"/>
          </a:xfrm>
          <a:prstGeom prst="rect">
            <a:avLst/>
          </a:prstGeom>
        </p:spPr>
      </p:pic>
    </p:spTree>
    <p:extLst>
      <p:ext uri="{BB962C8B-B14F-4D97-AF65-F5344CB8AC3E}">
        <p14:creationId xmlns:p14="http://schemas.microsoft.com/office/powerpoint/2010/main" val="20523886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7971E-9C24-7288-AD5E-CB17E9974A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B71AA6-37F1-5C44-4FD9-B71B37E9B831}"/>
              </a:ext>
            </a:extLst>
          </p:cNvPr>
          <p:cNvSpPr>
            <a:spLocks noGrp="1"/>
          </p:cNvSpPr>
          <p:nvPr>
            <p:ph type="title"/>
          </p:nvPr>
        </p:nvSpPr>
        <p:spPr>
          <a:xfrm>
            <a:off x="938151" y="558602"/>
            <a:ext cx="10415648" cy="413463"/>
          </a:xfrm>
        </p:spPr>
        <p:txBody>
          <a:bodyPr/>
          <a:lstStyle/>
          <a:p>
            <a:r>
              <a:rPr lang="en-US" dirty="0"/>
              <a:t>Quantify model parameter + noise uncertainties</a:t>
            </a:r>
          </a:p>
        </p:txBody>
      </p:sp>
      <p:sp>
        <p:nvSpPr>
          <p:cNvPr id="4" name="Slide Number Placeholder 3">
            <a:extLst>
              <a:ext uri="{FF2B5EF4-FFF2-40B4-BE49-F238E27FC236}">
                <a16:creationId xmlns:a16="http://schemas.microsoft.com/office/drawing/2014/main" id="{022D591B-FCD2-EFC2-7D00-C3ECEDFE72B2}"/>
              </a:ext>
            </a:extLst>
          </p:cNvPr>
          <p:cNvSpPr>
            <a:spLocks noGrp="1"/>
          </p:cNvSpPr>
          <p:nvPr>
            <p:ph type="sldNum" sz="quarter" idx="12"/>
          </p:nvPr>
        </p:nvSpPr>
        <p:spPr/>
        <p:txBody>
          <a:bodyPr/>
          <a:lstStyle/>
          <a:p>
            <a:fld id="{82B577FA-F7D9-2C48-919F-F962E3BF952F}" type="slidenum">
              <a:rPr lang="en-US" smtClean="0"/>
              <a:t>21</a:t>
            </a:fld>
            <a:endParaRPr lang="en-US"/>
          </a:p>
        </p:txBody>
      </p:sp>
      <p:sp>
        <p:nvSpPr>
          <p:cNvPr id="5" name="TextBox 4">
            <a:extLst>
              <a:ext uri="{FF2B5EF4-FFF2-40B4-BE49-F238E27FC236}">
                <a16:creationId xmlns:a16="http://schemas.microsoft.com/office/drawing/2014/main" id="{442C38AA-23BA-73F1-D195-0A2A7196F9E7}"/>
              </a:ext>
            </a:extLst>
          </p:cNvPr>
          <p:cNvSpPr txBox="1"/>
          <p:nvPr/>
        </p:nvSpPr>
        <p:spPr>
          <a:xfrm>
            <a:off x="4725272" y="6550223"/>
            <a:ext cx="2741456" cy="307777"/>
          </a:xfrm>
          <a:prstGeom prst="rect">
            <a:avLst/>
          </a:prstGeom>
          <a:noFill/>
        </p:spPr>
        <p:txBody>
          <a:bodyPr wrap="none" rtlCol="0">
            <a:spAutoFit/>
          </a:bodyPr>
          <a:lstStyle/>
          <a:p>
            <a:r>
              <a:rPr lang="en-US" sz="1400" b="1" i="0" dirty="0">
                <a:solidFill>
                  <a:srgbClr val="07519E"/>
                </a:solidFill>
                <a:effectLst/>
                <a:latin typeface="Arial" panose="020B0604020202020204" pitchFamily="34" charset="0"/>
              </a:rPr>
              <a:t>Part 2: Bayesian (inverse) UQ</a:t>
            </a:r>
            <a:endParaRPr lang="en-US" sz="1400" b="1" dirty="0">
              <a:solidFill>
                <a:srgbClr val="07519E"/>
              </a:solidFill>
            </a:endParaRPr>
          </a:p>
        </p:txBody>
      </p:sp>
      <p:pic>
        <p:nvPicPr>
          <p:cNvPr id="9" name="Picture 8" descr="Text&#10;&#10;AI-generated content may be incorrect.">
            <a:extLst>
              <a:ext uri="{FF2B5EF4-FFF2-40B4-BE49-F238E27FC236}">
                <a16:creationId xmlns:a16="http://schemas.microsoft.com/office/drawing/2014/main" id="{AB88B256-5682-C542-FD03-D8BB1FFE7D51}"/>
              </a:ext>
            </a:extLst>
          </p:cNvPr>
          <p:cNvPicPr>
            <a:picLocks noChangeAspect="1"/>
          </p:cNvPicPr>
          <p:nvPr/>
        </p:nvPicPr>
        <p:blipFill>
          <a:blip r:embed="rId2"/>
          <a:stretch>
            <a:fillRect/>
          </a:stretch>
        </p:blipFill>
        <p:spPr>
          <a:xfrm>
            <a:off x="1707613" y="1313914"/>
            <a:ext cx="2106372" cy="3921349"/>
          </a:xfrm>
          <a:prstGeom prst="rect">
            <a:avLst/>
          </a:prstGeom>
        </p:spPr>
      </p:pic>
      <p:pic>
        <p:nvPicPr>
          <p:cNvPr id="12" name="Picture 11" descr="Text&#10;&#10;AI-generated content may be incorrect.">
            <a:extLst>
              <a:ext uri="{FF2B5EF4-FFF2-40B4-BE49-F238E27FC236}">
                <a16:creationId xmlns:a16="http://schemas.microsoft.com/office/drawing/2014/main" id="{AF0FEFA7-5349-9832-704D-10BEA5A4006B}"/>
              </a:ext>
            </a:extLst>
          </p:cNvPr>
          <p:cNvPicPr>
            <a:picLocks noChangeAspect="1"/>
          </p:cNvPicPr>
          <p:nvPr/>
        </p:nvPicPr>
        <p:blipFill>
          <a:blip r:embed="rId3"/>
          <a:stretch>
            <a:fillRect/>
          </a:stretch>
        </p:blipFill>
        <p:spPr>
          <a:xfrm>
            <a:off x="6377286" y="1244153"/>
            <a:ext cx="4454651" cy="4060870"/>
          </a:xfrm>
          <a:prstGeom prst="rect">
            <a:avLst/>
          </a:prstGeom>
        </p:spPr>
      </p:pic>
      <p:sp>
        <p:nvSpPr>
          <p:cNvPr id="17" name="TextBox 16">
            <a:extLst>
              <a:ext uri="{FF2B5EF4-FFF2-40B4-BE49-F238E27FC236}">
                <a16:creationId xmlns:a16="http://schemas.microsoft.com/office/drawing/2014/main" id="{3A34D5FF-D095-9999-4201-6E591C69DCF2}"/>
              </a:ext>
            </a:extLst>
          </p:cNvPr>
          <p:cNvSpPr txBox="1"/>
          <p:nvPr/>
        </p:nvSpPr>
        <p:spPr>
          <a:xfrm>
            <a:off x="1802458" y="5371005"/>
            <a:ext cx="1916682" cy="646331"/>
          </a:xfrm>
          <a:prstGeom prst="rect">
            <a:avLst/>
          </a:prstGeom>
          <a:noFill/>
        </p:spPr>
        <p:txBody>
          <a:bodyPr wrap="square">
            <a:spAutoFit/>
          </a:bodyPr>
          <a:lstStyle/>
          <a:p>
            <a:pPr marL="342900" indent="-342900" algn="ctr">
              <a:buAutoNum type="arabicPeriod"/>
            </a:pPr>
            <a:r>
              <a:rPr lang="en-US" dirty="0"/>
              <a:t>Distributions</a:t>
            </a:r>
          </a:p>
          <a:p>
            <a:pPr algn="ctr"/>
            <a:r>
              <a:rPr lang="en-US" dirty="0"/>
              <a:t>Priors</a:t>
            </a:r>
          </a:p>
        </p:txBody>
      </p:sp>
      <p:sp>
        <p:nvSpPr>
          <p:cNvPr id="19" name="TextBox 18">
            <a:extLst>
              <a:ext uri="{FF2B5EF4-FFF2-40B4-BE49-F238E27FC236}">
                <a16:creationId xmlns:a16="http://schemas.microsoft.com/office/drawing/2014/main" id="{4D6063F0-C900-372A-00FF-AC917AEDF9A6}"/>
              </a:ext>
            </a:extLst>
          </p:cNvPr>
          <p:cNvSpPr txBox="1"/>
          <p:nvPr/>
        </p:nvSpPr>
        <p:spPr>
          <a:xfrm>
            <a:off x="7466728" y="5305023"/>
            <a:ext cx="1916682" cy="923330"/>
          </a:xfrm>
          <a:prstGeom prst="rect">
            <a:avLst/>
          </a:prstGeom>
          <a:noFill/>
        </p:spPr>
        <p:txBody>
          <a:bodyPr wrap="square">
            <a:spAutoFit/>
          </a:bodyPr>
          <a:lstStyle/>
          <a:p>
            <a:pPr algn="ctr"/>
            <a:r>
              <a:rPr lang="en-US" dirty="0"/>
              <a:t>2. Samplers</a:t>
            </a:r>
          </a:p>
          <a:p>
            <a:pPr algn="ctr"/>
            <a:r>
              <a:rPr lang="en-US" dirty="0"/>
              <a:t>Differential evolution MCMC</a:t>
            </a:r>
          </a:p>
        </p:txBody>
      </p:sp>
      <p:sp>
        <p:nvSpPr>
          <p:cNvPr id="20" name="Rectangle 19">
            <a:extLst>
              <a:ext uri="{FF2B5EF4-FFF2-40B4-BE49-F238E27FC236}">
                <a16:creationId xmlns:a16="http://schemas.microsoft.com/office/drawing/2014/main" id="{2D83BF54-C9E8-0C60-3269-8155C26CED1B}"/>
              </a:ext>
            </a:extLst>
          </p:cNvPr>
          <p:cNvSpPr/>
          <p:nvPr/>
        </p:nvSpPr>
        <p:spPr>
          <a:xfrm>
            <a:off x="1539024" y="3831465"/>
            <a:ext cx="2414789" cy="1146220"/>
          </a:xfrm>
          <a:prstGeom prst="rect">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2DC6259-9764-C664-E6FD-297A2C2B59F4}"/>
              </a:ext>
            </a:extLst>
          </p:cNvPr>
          <p:cNvSpPr/>
          <p:nvPr/>
        </p:nvSpPr>
        <p:spPr>
          <a:xfrm>
            <a:off x="6733503" y="4578439"/>
            <a:ext cx="2455573" cy="270458"/>
          </a:xfrm>
          <a:prstGeom prst="rect">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32" name="TextBox 31">
                <a:extLst>
                  <a:ext uri="{FF2B5EF4-FFF2-40B4-BE49-F238E27FC236}">
                    <a16:creationId xmlns:a16="http://schemas.microsoft.com/office/drawing/2014/main" id="{F7817F13-D86D-8568-B664-4FABBF35A96F}"/>
                  </a:ext>
                </a:extLst>
              </p:cNvPr>
              <p:cNvSpPr txBox="1"/>
              <p:nvPr/>
            </p:nvSpPr>
            <p:spPr>
              <a:xfrm>
                <a:off x="4072900" y="2674423"/>
                <a:ext cx="1916682" cy="1200329"/>
              </a:xfrm>
              <a:prstGeom prst="rect">
                <a:avLst/>
              </a:prstGeom>
              <a:noFill/>
            </p:spPr>
            <p:txBody>
              <a:bodyPr wrap="square">
                <a:spAutoFit/>
              </a:bodyPr>
              <a:lstStyle/>
              <a:p>
                <a:pPr algn="ctr"/>
                <a14:m>
                  <m:oMath xmlns:m="http://schemas.openxmlformats.org/officeDocument/2006/math">
                    <m:sSup>
                      <m:sSupPr>
                        <m:ctrlPr>
                          <a:rPr lang="en-US" i="1" smtClean="0">
                            <a:solidFill>
                              <a:schemeClr val="tx2"/>
                            </a:solidFill>
                            <a:latin typeface="Cambria Math" panose="02040503050406030204" pitchFamily="18" charset="0"/>
                          </a:rPr>
                        </m:ctrlPr>
                      </m:sSupPr>
                      <m:e>
                        <m:r>
                          <a:rPr lang="en-US" i="1" smtClean="0">
                            <a:solidFill>
                              <a:schemeClr val="tx2"/>
                            </a:solidFill>
                            <a:latin typeface="Cambria Math" panose="02040503050406030204" pitchFamily="18" charset="0"/>
                            <a:ea typeface="Cambria Math" panose="02040503050406030204" pitchFamily="18" charset="0"/>
                          </a:rPr>
                          <m:t>𝜎</m:t>
                        </m:r>
                      </m:e>
                      <m:sup>
                        <m:r>
                          <a:rPr lang="en-US" b="0" i="1" smtClean="0">
                            <a:solidFill>
                              <a:schemeClr val="tx2"/>
                            </a:solidFill>
                            <a:latin typeface="Cambria Math" panose="02040503050406030204" pitchFamily="18" charset="0"/>
                          </a:rPr>
                          <m:t>2</m:t>
                        </m:r>
                      </m:sup>
                    </m:sSup>
                  </m:oMath>
                </a14:m>
                <a:r>
                  <a:rPr lang="en-US" dirty="0">
                    <a:solidFill>
                      <a:schemeClr val="tx2"/>
                    </a:solidFill>
                  </a:rPr>
                  <a:t> (variance) is inferred not </a:t>
                </a:r>
                <a14:m>
                  <m:oMath xmlns:m="http://schemas.openxmlformats.org/officeDocument/2006/math">
                    <m:r>
                      <a:rPr lang="en-US" i="1" smtClean="0">
                        <a:solidFill>
                          <a:schemeClr val="tx2"/>
                        </a:solidFill>
                        <a:latin typeface="Cambria Math" panose="02040503050406030204" pitchFamily="18" charset="0"/>
                        <a:ea typeface="Cambria Math" panose="02040503050406030204" pitchFamily="18" charset="0"/>
                      </a:rPr>
                      <m:t>𝜎</m:t>
                    </m:r>
                  </m:oMath>
                </a14:m>
                <a:r>
                  <a:rPr lang="en-US" dirty="0">
                    <a:solidFill>
                      <a:schemeClr val="tx2"/>
                    </a:solidFill>
                  </a:rPr>
                  <a:t> (standard deviation) </a:t>
                </a:r>
              </a:p>
            </p:txBody>
          </p:sp>
        </mc:Choice>
        <mc:Fallback>
          <p:sp>
            <p:nvSpPr>
              <p:cNvPr id="32" name="TextBox 31">
                <a:extLst>
                  <a:ext uri="{FF2B5EF4-FFF2-40B4-BE49-F238E27FC236}">
                    <a16:creationId xmlns:a16="http://schemas.microsoft.com/office/drawing/2014/main" id="{F7817F13-D86D-8568-B664-4FABBF35A96F}"/>
                  </a:ext>
                </a:extLst>
              </p:cNvPr>
              <p:cNvSpPr txBox="1">
                <a:spLocks noRot="1" noChangeAspect="1" noMove="1" noResize="1" noEditPoints="1" noAdjustHandles="1" noChangeArrowheads="1" noChangeShapeType="1" noTextEdit="1"/>
              </p:cNvSpPr>
              <p:nvPr/>
            </p:nvSpPr>
            <p:spPr>
              <a:xfrm>
                <a:off x="4072900" y="2674423"/>
                <a:ext cx="1916682" cy="1200329"/>
              </a:xfrm>
              <a:prstGeom prst="rect">
                <a:avLst/>
              </a:prstGeom>
              <a:blipFill>
                <a:blip r:embed="rId4"/>
                <a:stretch>
                  <a:fillRect t="-2083" r="-1316" b="-6250"/>
                </a:stretch>
              </a:blipFill>
            </p:spPr>
            <p:txBody>
              <a:bodyPr/>
              <a:lstStyle/>
              <a:p>
                <a:r>
                  <a:rPr lang="en-US">
                    <a:noFill/>
                  </a:rPr>
                  <a:t> </a:t>
                </a:r>
              </a:p>
            </p:txBody>
          </p:sp>
        </mc:Fallback>
      </mc:AlternateContent>
    </p:spTree>
    <p:extLst>
      <p:ext uri="{BB962C8B-B14F-4D97-AF65-F5344CB8AC3E}">
        <p14:creationId xmlns:p14="http://schemas.microsoft.com/office/powerpoint/2010/main" val="2551335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512E1-E685-A197-A2C9-F1C32D8B2C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2995F4-9EDB-9F77-E0A9-A14C26A60F75}"/>
              </a:ext>
            </a:extLst>
          </p:cNvPr>
          <p:cNvSpPr>
            <a:spLocks noGrp="1"/>
          </p:cNvSpPr>
          <p:nvPr>
            <p:ph type="title"/>
          </p:nvPr>
        </p:nvSpPr>
        <p:spPr>
          <a:xfrm>
            <a:off x="938151" y="409017"/>
            <a:ext cx="10415648" cy="413463"/>
          </a:xfrm>
        </p:spPr>
        <p:txBody>
          <a:bodyPr/>
          <a:lstStyle/>
          <a:p>
            <a:r>
              <a:rPr lang="en-US" dirty="0"/>
              <a:t>Quantify model parameter + noise + model inadequacy uncertainties</a:t>
            </a:r>
          </a:p>
        </p:txBody>
      </p:sp>
      <p:sp>
        <p:nvSpPr>
          <p:cNvPr id="4" name="Slide Number Placeholder 3">
            <a:extLst>
              <a:ext uri="{FF2B5EF4-FFF2-40B4-BE49-F238E27FC236}">
                <a16:creationId xmlns:a16="http://schemas.microsoft.com/office/drawing/2014/main" id="{B28FB890-AF4F-5FAA-48EF-F6A6158422FC}"/>
              </a:ext>
            </a:extLst>
          </p:cNvPr>
          <p:cNvSpPr>
            <a:spLocks noGrp="1"/>
          </p:cNvSpPr>
          <p:nvPr>
            <p:ph type="sldNum" sz="quarter" idx="12"/>
          </p:nvPr>
        </p:nvSpPr>
        <p:spPr/>
        <p:txBody>
          <a:bodyPr/>
          <a:lstStyle/>
          <a:p>
            <a:fld id="{82B577FA-F7D9-2C48-919F-F962E3BF952F}" type="slidenum">
              <a:rPr lang="en-US" smtClean="0"/>
              <a:t>22</a:t>
            </a:fld>
            <a:endParaRPr lang="en-US"/>
          </a:p>
        </p:txBody>
      </p:sp>
      <p:sp>
        <p:nvSpPr>
          <p:cNvPr id="5" name="TextBox 4">
            <a:extLst>
              <a:ext uri="{FF2B5EF4-FFF2-40B4-BE49-F238E27FC236}">
                <a16:creationId xmlns:a16="http://schemas.microsoft.com/office/drawing/2014/main" id="{6DE10214-B37D-0803-140C-2170EA3E2150}"/>
              </a:ext>
            </a:extLst>
          </p:cNvPr>
          <p:cNvSpPr txBox="1"/>
          <p:nvPr/>
        </p:nvSpPr>
        <p:spPr>
          <a:xfrm>
            <a:off x="4725272" y="6550223"/>
            <a:ext cx="2741456" cy="307777"/>
          </a:xfrm>
          <a:prstGeom prst="rect">
            <a:avLst/>
          </a:prstGeom>
          <a:noFill/>
        </p:spPr>
        <p:txBody>
          <a:bodyPr wrap="none" rtlCol="0">
            <a:spAutoFit/>
          </a:bodyPr>
          <a:lstStyle/>
          <a:p>
            <a:r>
              <a:rPr lang="en-US" sz="1400" b="1" i="0" dirty="0">
                <a:solidFill>
                  <a:srgbClr val="07519E"/>
                </a:solidFill>
                <a:effectLst/>
                <a:latin typeface="Arial" panose="020B0604020202020204" pitchFamily="34" charset="0"/>
              </a:rPr>
              <a:t>Part 2: Bayesian (inverse) UQ</a:t>
            </a:r>
            <a:endParaRPr lang="en-US" sz="1400" b="1" dirty="0">
              <a:solidFill>
                <a:srgbClr val="07519E"/>
              </a:solidFill>
            </a:endParaRPr>
          </a:p>
        </p:txBody>
      </p:sp>
      <p:sp>
        <p:nvSpPr>
          <p:cNvPr id="6" name="Rounded Rectangle 5">
            <a:extLst>
              <a:ext uri="{FF2B5EF4-FFF2-40B4-BE49-F238E27FC236}">
                <a16:creationId xmlns:a16="http://schemas.microsoft.com/office/drawing/2014/main" id="{AFD35D32-03CF-A2EF-C311-D5B28D3D1AEB}"/>
              </a:ext>
            </a:extLst>
          </p:cNvPr>
          <p:cNvSpPr/>
          <p:nvPr/>
        </p:nvSpPr>
        <p:spPr>
          <a:xfrm>
            <a:off x="542104" y="3162792"/>
            <a:ext cx="1862172" cy="959453"/>
          </a:xfrm>
          <a:prstGeom prst="roundRect">
            <a:avLst/>
          </a:prstGeom>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MOOSE computational model</a:t>
            </a:r>
          </a:p>
        </p:txBody>
      </p:sp>
      <p:sp>
        <p:nvSpPr>
          <p:cNvPr id="7" name="TextBox 6">
            <a:extLst>
              <a:ext uri="{FF2B5EF4-FFF2-40B4-BE49-F238E27FC236}">
                <a16:creationId xmlns:a16="http://schemas.microsoft.com/office/drawing/2014/main" id="{35B88100-FE22-8261-FDA8-5CBE4AE3F52D}"/>
              </a:ext>
            </a:extLst>
          </p:cNvPr>
          <p:cNvSpPr txBox="1"/>
          <p:nvPr/>
        </p:nvSpPr>
        <p:spPr>
          <a:xfrm>
            <a:off x="621363" y="1417287"/>
            <a:ext cx="1703654" cy="923330"/>
          </a:xfrm>
          <a:prstGeom prst="rect">
            <a:avLst/>
          </a:prstGeom>
          <a:noFill/>
        </p:spPr>
        <p:txBody>
          <a:bodyPr wrap="square">
            <a:spAutoFit/>
          </a:bodyPr>
          <a:lstStyle/>
          <a:p>
            <a:pPr algn="ctr"/>
            <a:r>
              <a:rPr lang="en-US" b="1" dirty="0"/>
              <a:t>Unknown input parameters</a:t>
            </a:r>
            <a:endParaRPr lang="en-US" dirty="0"/>
          </a:p>
        </p:txBody>
      </p:sp>
      <p:sp>
        <p:nvSpPr>
          <p:cNvPr id="8" name="TextBox 7">
            <a:extLst>
              <a:ext uri="{FF2B5EF4-FFF2-40B4-BE49-F238E27FC236}">
                <a16:creationId xmlns:a16="http://schemas.microsoft.com/office/drawing/2014/main" id="{CEF91627-0A5E-A34A-5A5B-B06941CF74A4}"/>
              </a:ext>
            </a:extLst>
          </p:cNvPr>
          <p:cNvSpPr txBox="1"/>
          <p:nvPr/>
        </p:nvSpPr>
        <p:spPr>
          <a:xfrm>
            <a:off x="91982" y="4916777"/>
            <a:ext cx="2946380" cy="1754326"/>
          </a:xfrm>
          <a:prstGeom prst="rect">
            <a:avLst/>
          </a:prstGeom>
          <a:noFill/>
        </p:spPr>
        <p:txBody>
          <a:bodyPr wrap="square">
            <a:spAutoFit/>
          </a:bodyPr>
          <a:lstStyle/>
          <a:p>
            <a:pPr algn="ctr"/>
            <a:r>
              <a:rPr lang="en-US" b="1" dirty="0"/>
              <a:t>Probability distributions of best input parameters, </a:t>
            </a:r>
            <a:r>
              <a:rPr lang="en-US" b="1" dirty="0">
                <a:solidFill>
                  <a:schemeClr val="tx2"/>
                </a:solidFill>
              </a:rPr>
              <a:t>noise, and model inadequacy</a:t>
            </a:r>
            <a:r>
              <a:rPr lang="en-US" b="1" dirty="0"/>
              <a:t> such that the model predictions match experiments</a:t>
            </a:r>
            <a:endParaRPr lang="en-US" dirty="0"/>
          </a:p>
        </p:txBody>
      </p:sp>
      <p:cxnSp>
        <p:nvCxnSpPr>
          <p:cNvPr id="9" name="Straight Arrow Connector 8">
            <a:extLst>
              <a:ext uri="{FF2B5EF4-FFF2-40B4-BE49-F238E27FC236}">
                <a16:creationId xmlns:a16="http://schemas.microsoft.com/office/drawing/2014/main" id="{E5832A33-F7A4-ED60-1673-7B8D0DDCDCE2}"/>
              </a:ext>
            </a:extLst>
          </p:cNvPr>
          <p:cNvCxnSpPr>
            <a:cxnSpLocks/>
            <a:endCxn id="6" idx="0"/>
          </p:cNvCxnSpPr>
          <p:nvPr/>
        </p:nvCxnSpPr>
        <p:spPr>
          <a:xfrm>
            <a:off x="1473190" y="2356763"/>
            <a:ext cx="0" cy="80602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5CD81BF-3A6A-B55A-E63B-566AF78842D3}"/>
              </a:ext>
            </a:extLst>
          </p:cNvPr>
          <p:cNvCxnSpPr>
            <a:cxnSpLocks/>
            <a:stCxn id="6" idx="2"/>
          </p:cNvCxnSpPr>
          <p:nvPr/>
        </p:nvCxnSpPr>
        <p:spPr>
          <a:xfrm>
            <a:off x="1473190" y="4122245"/>
            <a:ext cx="0" cy="75078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04170DC-14CF-156A-971B-5B23B6B39A0A}"/>
              </a:ext>
            </a:extLst>
          </p:cNvPr>
          <p:cNvSpPr txBox="1"/>
          <p:nvPr/>
        </p:nvSpPr>
        <p:spPr>
          <a:xfrm>
            <a:off x="2853335" y="3323138"/>
            <a:ext cx="1703654" cy="646331"/>
          </a:xfrm>
          <a:prstGeom prst="rect">
            <a:avLst/>
          </a:prstGeom>
          <a:noFill/>
        </p:spPr>
        <p:txBody>
          <a:bodyPr wrap="square">
            <a:spAutoFit/>
          </a:bodyPr>
          <a:lstStyle/>
          <a:p>
            <a:pPr algn="ctr"/>
            <a:r>
              <a:rPr lang="en-US" b="1" dirty="0"/>
              <a:t>Experimental data</a:t>
            </a:r>
            <a:endParaRPr lang="en-US" dirty="0"/>
          </a:p>
        </p:txBody>
      </p:sp>
      <p:cxnSp>
        <p:nvCxnSpPr>
          <p:cNvPr id="12" name="Straight Arrow Connector 11">
            <a:extLst>
              <a:ext uri="{FF2B5EF4-FFF2-40B4-BE49-F238E27FC236}">
                <a16:creationId xmlns:a16="http://schemas.microsoft.com/office/drawing/2014/main" id="{DFC754EB-45F5-5022-D0C0-C23CD0871784}"/>
              </a:ext>
            </a:extLst>
          </p:cNvPr>
          <p:cNvCxnSpPr>
            <a:cxnSpLocks/>
          </p:cNvCxnSpPr>
          <p:nvPr/>
        </p:nvCxnSpPr>
        <p:spPr>
          <a:xfrm flipH="1">
            <a:off x="2404276" y="3640847"/>
            <a:ext cx="45597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4F62837-B9AA-57B5-1AB0-E6E4FCDF53B4}"/>
                  </a:ext>
                </a:extLst>
              </p:cNvPr>
              <p:cNvSpPr txBox="1"/>
              <p:nvPr/>
            </p:nvSpPr>
            <p:spPr>
              <a:xfrm>
                <a:off x="5898461" y="1655057"/>
                <a:ext cx="4502702" cy="473180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𝑓</m:t>
                      </m:r>
                      <m:d>
                        <m:dPr>
                          <m:ctrlPr>
                            <a:rPr lang="en-US" sz="2400" b="0" i="1" smtClean="0">
                              <a:solidFill>
                                <a:schemeClr val="tx1"/>
                              </a:solidFill>
                              <a:latin typeface="Cambria Math" panose="02040503050406030204" pitchFamily="18" charset="0"/>
                            </a:rPr>
                          </m:ctrlPr>
                        </m:dPr>
                        <m:e>
                          <m:r>
                            <a:rPr lang="en-US" sz="2400" b="1" i="1" smtClean="0">
                              <a:solidFill>
                                <a:schemeClr val="tx1"/>
                              </a:solidFill>
                              <a:latin typeface="Cambria Math" panose="02040503050406030204" pitchFamily="18" charset="0"/>
                              <a:ea typeface="Cambria Math" panose="02040503050406030204" pitchFamily="18" charset="0"/>
                            </a:rPr>
                            <m:t>𝜽</m:t>
                          </m:r>
                          <m:r>
                            <a:rPr lang="en-US" sz="2400" b="0" i="1" smtClean="0">
                              <a:solidFill>
                                <a:schemeClr val="tx1"/>
                              </a:solidFill>
                              <a:latin typeface="Cambria Math" panose="02040503050406030204" pitchFamily="18" charset="0"/>
                              <a:ea typeface="Cambria Math" panose="02040503050406030204" pitchFamily="18" charset="0"/>
                            </a:rPr>
                            <m:t>,</m:t>
                          </m:r>
                          <m:r>
                            <a:rPr lang="en-US" sz="2400" i="1" smtClean="0">
                              <a:solidFill>
                                <a:schemeClr val="tx2"/>
                              </a:solidFill>
                              <a:latin typeface="Cambria Math" panose="02040503050406030204" pitchFamily="18" charset="0"/>
                              <a:ea typeface="Cambria Math" panose="02040503050406030204" pitchFamily="18" charset="0"/>
                            </a:rPr>
                            <m:t>𝜎</m:t>
                          </m:r>
                        </m:e>
                        <m:e>
                          <m:r>
                            <a:rPr lang="en-US" sz="2400" b="1" i="1" smtClean="0">
                              <a:solidFill>
                                <a:schemeClr val="tx1"/>
                              </a:solidFill>
                              <a:latin typeface="Cambria Math" panose="02040503050406030204" pitchFamily="18" charset="0"/>
                              <a:ea typeface="Cambria Math" panose="02040503050406030204" pitchFamily="18" charset="0"/>
                            </a:rPr>
                            <m:t>𝒙</m:t>
                          </m:r>
                          <m:r>
                            <a:rPr lang="en-US" sz="2400" b="1" i="1" smtClean="0">
                              <a:solidFill>
                                <a:schemeClr val="tx1"/>
                              </a:solidFill>
                              <a:latin typeface="Cambria Math" panose="02040503050406030204" pitchFamily="18" charset="0"/>
                              <a:ea typeface="Cambria Math" panose="02040503050406030204" pitchFamily="18" charset="0"/>
                            </a:rPr>
                            <m:t>, </m:t>
                          </m:r>
                          <m:r>
                            <a:rPr lang="en-US" sz="2400" b="1" i="1" smtClean="0">
                              <a:solidFill>
                                <a:schemeClr val="tx1"/>
                              </a:solidFill>
                              <a:latin typeface="Cambria Math" panose="02040503050406030204" pitchFamily="18" charset="0"/>
                              <a:ea typeface="Cambria Math" panose="02040503050406030204" pitchFamily="18" charset="0"/>
                            </a:rPr>
                            <m:t>𝑴</m:t>
                          </m:r>
                          <m:r>
                            <a:rPr lang="en-US" sz="2400" b="1" i="1" smtClean="0">
                              <a:solidFill>
                                <a:schemeClr val="tx1"/>
                              </a:solidFill>
                              <a:latin typeface="Cambria Math" panose="02040503050406030204" pitchFamily="18" charset="0"/>
                              <a:ea typeface="Cambria Math" panose="02040503050406030204" pitchFamily="18" charset="0"/>
                            </a:rPr>
                            <m:t>, </m:t>
                          </m:r>
                          <m:r>
                            <a:rPr lang="en-US" sz="2400" b="1" i="1" smtClean="0">
                              <a:solidFill>
                                <a:schemeClr val="tx1"/>
                              </a:solidFill>
                              <a:latin typeface="Cambria Math" panose="02040503050406030204" pitchFamily="18" charset="0"/>
                              <a:ea typeface="Cambria Math" panose="02040503050406030204" pitchFamily="18" charset="0"/>
                            </a:rPr>
                            <m:t>𝒚</m:t>
                          </m:r>
                        </m:e>
                      </m:d>
                      <m:r>
                        <a:rPr lang="en-US" sz="2400" b="0" i="1" smtClean="0">
                          <a:solidFill>
                            <a:schemeClr val="tx1"/>
                          </a:solidFill>
                          <a:latin typeface="Cambria Math" panose="02040503050406030204" pitchFamily="18" charset="0"/>
                          <a:ea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m:t>
                      </m:r>
                    </m:oMath>
                  </m:oMathPara>
                </a14:m>
                <a:endParaRPr lang="en-US" sz="24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f>
                        <m:fPr>
                          <m:ctrlPr>
                            <a:rPr lang="en-US" sz="2400" i="1" smtClean="0">
                              <a:solidFill>
                                <a:schemeClr val="tx1"/>
                              </a:solidFill>
                              <a:latin typeface="Cambria Math" panose="02040503050406030204" pitchFamily="18" charset="0"/>
                              <a:ea typeface="Cambria Math" panose="02040503050406030204" pitchFamily="18" charset="0"/>
                            </a:rPr>
                          </m:ctrlPr>
                        </m:fPr>
                        <m:num>
                          <m:r>
                            <a:rPr lang="en-US" sz="2400" i="1">
                              <a:solidFill>
                                <a:schemeClr val="tx1"/>
                              </a:solidFill>
                              <a:latin typeface="Cambria Math" panose="02040503050406030204" pitchFamily="18" charset="0"/>
                              <a:ea typeface="Cambria Math" panose="02040503050406030204" pitchFamily="18" charset="0"/>
                            </a:rPr>
                            <m:t>1</m:t>
                          </m:r>
                        </m:num>
                        <m:den>
                          <m:rad>
                            <m:radPr>
                              <m:degHide m:val="on"/>
                              <m:ctrlPr>
                                <a:rPr lang="en-US" sz="2400" i="1">
                                  <a:solidFill>
                                    <a:schemeClr val="tx1"/>
                                  </a:solidFill>
                                  <a:latin typeface="Cambria Math" panose="02040503050406030204" pitchFamily="18" charset="0"/>
                                  <a:ea typeface="Cambria Math" panose="02040503050406030204" pitchFamily="18" charset="0"/>
                                </a:rPr>
                              </m:ctrlPr>
                            </m:radPr>
                            <m:deg/>
                            <m:e>
                              <m:r>
                                <a:rPr lang="en-US" sz="2400" i="1" smtClean="0">
                                  <a:solidFill>
                                    <a:schemeClr val="tx2"/>
                                  </a:solidFill>
                                  <a:latin typeface="Cambria Math" panose="02040503050406030204" pitchFamily="18" charset="0"/>
                                  <a:ea typeface="Cambria Math" panose="02040503050406030204" pitchFamily="18" charset="0"/>
                                </a:rPr>
                                <m:t>𝜎</m:t>
                              </m:r>
                            </m:e>
                          </m:rad>
                        </m:den>
                      </m:f>
                      <m:nary>
                        <m:naryPr>
                          <m:chr m:val="∏"/>
                          <m:ctrlPr>
                            <a:rPr lang="en-US" sz="2400" i="1">
                              <a:solidFill>
                                <a:schemeClr val="tx1"/>
                              </a:solidFill>
                              <a:latin typeface="Cambria Math" panose="02040503050406030204" pitchFamily="18" charset="0"/>
                              <a:ea typeface="Cambria Math" panose="02040503050406030204" pitchFamily="18" charset="0"/>
                            </a:rPr>
                          </m:ctrlPr>
                        </m:naryPr>
                        <m:sub>
                          <m:r>
                            <m:rPr>
                              <m:brk m:alnAt="23"/>
                            </m:rPr>
                            <a:rPr lang="en-US" sz="2400" i="1">
                              <a:solidFill>
                                <a:schemeClr val="tx1"/>
                              </a:solidFill>
                              <a:latin typeface="Cambria Math" panose="02040503050406030204" pitchFamily="18" charset="0"/>
                              <a:ea typeface="Cambria Math" panose="02040503050406030204" pitchFamily="18" charset="0"/>
                            </a:rPr>
                            <m:t>𝑘</m:t>
                          </m:r>
                          <m:r>
                            <a:rPr lang="en-US" sz="2400" i="1">
                              <a:solidFill>
                                <a:schemeClr val="tx1"/>
                              </a:solidFill>
                              <a:latin typeface="Cambria Math" panose="02040503050406030204" pitchFamily="18" charset="0"/>
                              <a:ea typeface="Cambria Math" panose="02040503050406030204" pitchFamily="18" charset="0"/>
                            </a:rPr>
                            <m:t>=1</m:t>
                          </m:r>
                        </m:sub>
                        <m:sup>
                          <m:r>
                            <a:rPr lang="en-US" sz="2400" i="1">
                              <a:solidFill>
                                <a:schemeClr val="tx1"/>
                              </a:solidFill>
                              <a:latin typeface="Cambria Math" panose="02040503050406030204" pitchFamily="18" charset="0"/>
                              <a:ea typeface="Cambria Math" panose="02040503050406030204" pitchFamily="18" charset="0"/>
                            </a:rPr>
                            <m:t>𝐾</m:t>
                          </m:r>
                        </m:sup>
                        <m:e>
                          <m:func>
                            <m:funcPr>
                              <m:ctrlPr>
                                <a:rPr lang="en-US" sz="2400" i="1">
                                  <a:solidFill>
                                    <a:schemeClr val="tx1"/>
                                  </a:solidFill>
                                  <a:latin typeface="Cambria Math" panose="02040503050406030204" pitchFamily="18" charset="0"/>
                                  <a:ea typeface="Cambria Math" panose="02040503050406030204" pitchFamily="18" charset="0"/>
                                </a:rPr>
                              </m:ctrlPr>
                            </m:funcPr>
                            <m:fName>
                              <m:r>
                                <m:rPr>
                                  <m:sty m:val="p"/>
                                </m:rPr>
                                <a:rPr lang="en-US" sz="2400">
                                  <a:solidFill>
                                    <a:schemeClr val="tx1"/>
                                  </a:solidFill>
                                  <a:latin typeface="Cambria Math" panose="02040503050406030204" pitchFamily="18" charset="0"/>
                                  <a:ea typeface="Cambria Math" panose="02040503050406030204" pitchFamily="18" charset="0"/>
                                </a:rPr>
                                <m:t>exp</m:t>
                              </m:r>
                            </m:fName>
                            <m:e>
                              <m:d>
                                <m:dPr>
                                  <m:ctrlPr>
                                    <a:rPr lang="en-US" sz="2400" i="1">
                                      <a:solidFill>
                                        <a:schemeClr val="tx1"/>
                                      </a:solidFill>
                                      <a:latin typeface="Cambria Math" panose="02040503050406030204" pitchFamily="18" charset="0"/>
                                      <a:ea typeface="Cambria Math" panose="02040503050406030204" pitchFamily="18" charset="0"/>
                                    </a:rPr>
                                  </m:ctrlPr>
                                </m:dPr>
                                <m:e>
                                  <m:f>
                                    <m:fPr>
                                      <m:ctrlPr>
                                        <a:rPr lang="en-US" sz="2400" i="1">
                                          <a:solidFill>
                                            <a:schemeClr val="tx1"/>
                                          </a:solidFill>
                                          <a:latin typeface="Cambria Math" panose="02040503050406030204" pitchFamily="18" charset="0"/>
                                          <a:ea typeface="Cambria Math" panose="02040503050406030204" pitchFamily="18" charset="0"/>
                                        </a:rPr>
                                      </m:ctrlPr>
                                    </m:fPr>
                                    <m:num>
                                      <m:sSup>
                                        <m:sSupPr>
                                          <m:ctrlPr>
                                            <a:rPr lang="en-US" sz="2400" i="1">
                                              <a:solidFill>
                                                <a:schemeClr val="tx1"/>
                                              </a:solidFill>
                                              <a:latin typeface="Cambria Math" panose="02040503050406030204" pitchFamily="18" charset="0"/>
                                              <a:ea typeface="Cambria Math" panose="02040503050406030204" pitchFamily="18" charset="0"/>
                                            </a:rPr>
                                          </m:ctrlPr>
                                        </m:sSupPr>
                                        <m:e>
                                          <m:d>
                                            <m:dPr>
                                              <m:ctrlPr>
                                                <a:rPr lang="en-US" sz="2400" i="1">
                                                  <a:solidFill>
                                                    <a:schemeClr val="tx1"/>
                                                  </a:solidFill>
                                                  <a:latin typeface="Cambria Math" panose="02040503050406030204" pitchFamily="18" charset="0"/>
                                                  <a:ea typeface="Cambria Math" panose="02040503050406030204" pitchFamily="18" charset="0"/>
                                                </a:rPr>
                                              </m:ctrlPr>
                                            </m:dPr>
                                            <m:e>
                                              <m:sSub>
                                                <m:sSubPr>
                                                  <m:ctrlPr>
                                                    <a:rPr lang="en-US" sz="2400" i="1">
                                                      <a:solidFill>
                                                        <a:schemeClr val="tx1"/>
                                                      </a:solidFill>
                                                      <a:latin typeface="Cambria Math" panose="02040503050406030204" pitchFamily="18" charset="0"/>
                                                      <a:ea typeface="Cambria Math" panose="02040503050406030204" pitchFamily="18" charset="0"/>
                                                    </a:rPr>
                                                  </m:ctrlPr>
                                                </m:sSubPr>
                                                <m:e>
                                                  <m:r>
                                                    <a:rPr lang="en-US" sz="2400" i="1">
                                                      <a:solidFill>
                                                        <a:schemeClr val="tx1"/>
                                                      </a:solidFill>
                                                      <a:latin typeface="Cambria Math" panose="02040503050406030204" pitchFamily="18" charset="0"/>
                                                      <a:ea typeface="Cambria Math" panose="02040503050406030204" pitchFamily="18" charset="0"/>
                                                    </a:rPr>
                                                    <m:t>𝑦</m:t>
                                                  </m:r>
                                                </m:e>
                                                <m:sub>
                                                  <m:r>
                                                    <a:rPr lang="en-US" sz="2400" i="1">
                                                      <a:solidFill>
                                                        <a:schemeClr val="tx1"/>
                                                      </a:solidFill>
                                                      <a:latin typeface="Cambria Math" panose="02040503050406030204" pitchFamily="18" charset="0"/>
                                                      <a:ea typeface="Cambria Math" panose="02040503050406030204" pitchFamily="18" charset="0"/>
                                                    </a:rPr>
                                                    <m:t>𝑘</m:t>
                                                  </m:r>
                                                </m:sub>
                                              </m:sSub>
                                              <m:d>
                                                <m:dPr>
                                                  <m:ctrlPr>
                                                    <a:rPr lang="en-US" sz="2400" i="1">
                                                      <a:solidFill>
                                                        <a:schemeClr val="tx1"/>
                                                      </a:solidFill>
                                                      <a:latin typeface="Cambria Math" panose="02040503050406030204" pitchFamily="18" charset="0"/>
                                                      <a:ea typeface="Cambria Math" panose="02040503050406030204" pitchFamily="18" charset="0"/>
                                                    </a:rPr>
                                                  </m:ctrlPr>
                                                </m:dPr>
                                                <m:e>
                                                  <m:r>
                                                    <a:rPr lang="en-US" sz="2400" b="0" i="1">
                                                      <a:solidFill>
                                                        <a:schemeClr val="tx1"/>
                                                      </a:solidFill>
                                                      <a:latin typeface="Cambria Math" panose="02040503050406030204" pitchFamily="18" charset="0"/>
                                                      <a:ea typeface="Cambria Math" panose="02040503050406030204" pitchFamily="18" charset="0"/>
                                                    </a:rPr>
                                                    <m:t>𝑥</m:t>
                                                  </m:r>
                                                </m:e>
                                              </m:d>
                                              <m:r>
                                                <a:rPr lang="en-US" sz="2400" i="1">
                                                  <a:solidFill>
                                                    <a:schemeClr val="tx1"/>
                                                  </a:solidFill>
                                                  <a:latin typeface="Cambria Math" panose="02040503050406030204" pitchFamily="18" charset="0"/>
                                                  <a:ea typeface="Cambria Math" panose="02040503050406030204" pitchFamily="18" charset="0"/>
                                                </a:rPr>
                                                <m:t>−</m:t>
                                              </m:r>
                                              <m:sSub>
                                                <m:sSubPr>
                                                  <m:ctrlPr>
                                                    <a:rPr lang="en-US" sz="2400" i="1" smtClean="0">
                                                      <a:solidFill>
                                                        <a:schemeClr val="tx1"/>
                                                      </a:solidFill>
                                                      <a:latin typeface="Cambria Math" panose="02040503050406030204" pitchFamily="18" charset="0"/>
                                                      <a:ea typeface="Cambria Math" panose="02040503050406030204" pitchFamily="18" charset="0"/>
                                                    </a:rPr>
                                                  </m:ctrlPr>
                                                </m:sSubPr>
                                                <m:e>
                                                  <m:r>
                                                    <a:rPr lang="en-US" sz="2400" b="0" i="1" smtClean="0">
                                                      <a:solidFill>
                                                        <a:schemeClr val="tx1"/>
                                                      </a:solidFill>
                                                      <a:latin typeface="Cambria Math" panose="02040503050406030204" pitchFamily="18" charset="0"/>
                                                      <a:ea typeface="Cambria Math" panose="02040503050406030204" pitchFamily="18" charset="0"/>
                                                    </a:rPr>
                                                    <m:t>𝑀</m:t>
                                                  </m:r>
                                                </m:e>
                                                <m:sub>
                                                  <m:r>
                                                    <a:rPr lang="en-US" sz="2400" b="0" i="1" smtClean="0">
                                                      <a:solidFill>
                                                        <a:schemeClr val="tx1"/>
                                                      </a:solidFill>
                                                      <a:latin typeface="Cambria Math" panose="02040503050406030204" pitchFamily="18" charset="0"/>
                                                      <a:ea typeface="Cambria Math" panose="02040503050406030204" pitchFamily="18" charset="0"/>
                                                    </a:rPr>
                                                    <m:t>𝑘</m:t>
                                                  </m:r>
                                                </m:sub>
                                              </m:sSub>
                                              <m:d>
                                                <m:dPr>
                                                  <m:ctrlPr>
                                                    <a:rPr lang="en-US" sz="2400" i="1">
                                                      <a:solidFill>
                                                        <a:schemeClr val="tx1"/>
                                                      </a:solidFill>
                                                      <a:latin typeface="Cambria Math" panose="02040503050406030204" pitchFamily="18" charset="0"/>
                                                      <a:ea typeface="Cambria Math" panose="02040503050406030204" pitchFamily="18" charset="0"/>
                                                    </a:rPr>
                                                  </m:ctrlPr>
                                                </m:dPr>
                                                <m:e>
                                                  <m:r>
                                                    <a:rPr lang="en-US" sz="2400" b="0" i="1">
                                                      <a:solidFill>
                                                        <a:schemeClr val="tx1"/>
                                                      </a:solidFill>
                                                      <a:latin typeface="Cambria Math" panose="02040503050406030204" pitchFamily="18" charset="0"/>
                                                      <a:ea typeface="Cambria Math" panose="02040503050406030204" pitchFamily="18" charset="0"/>
                                                    </a:rPr>
                                                    <m:t>𝑥</m:t>
                                                  </m:r>
                                                  <m:r>
                                                    <a:rPr lang="en-US" sz="2400" i="1">
                                                      <a:solidFill>
                                                        <a:schemeClr val="tx1"/>
                                                      </a:solidFill>
                                                      <a:latin typeface="Cambria Math" panose="02040503050406030204" pitchFamily="18" charset="0"/>
                                                      <a:ea typeface="Cambria Math" panose="02040503050406030204" pitchFamily="18" charset="0"/>
                                                    </a:rPr>
                                                    <m:t>, </m:t>
                                                  </m:r>
                                                  <m:r>
                                                    <a:rPr lang="en-US" sz="2400" b="1" i="1">
                                                      <a:solidFill>
                                                        <a:schemeClr val="tx1"/>
                                                      </a:solidFill>
                                                      <a:latin typeface="Cambria Math" panose="02040503050406030204" pitchFamily="18" charset="0"/>
                                                      <a:ea typeface="Cambria Math" panose="02040503050406030204" pitchFamily="18" charset="0"/>
                                                    </a:rPr>
                                                    <m:t>𝜽</m:t>
                                                  </m:r>
                                                </m:e>
                                              </m:d>
                                            </m:e>
                                          </m:d>
                                        </m:e>
                                        <m:sup>
                                          <m:r>
                                            <a:rPr lang="en-US" sz="2400" i="1">
                                              <a:solidFill>
                                                <a:schemeClr val="tx1"/>
                                              </a:solidFill>
                                              <a:latin typeface="Cambria Math" panose="02040503050406030204" pitchFamily="18" charset="0"/>
                                              <a:ea typeface="Cambria Math" panose="02040503050406030204" pitchFamily="18" charset="0"/>
                                            </a:rPr>
                                            <m:t>2</m:t>
                                          </m:r>
                                        </m:sup>
                                      </m:sSup>
                                    </m:num>
                                    <m:den>
                                      <m:r>
                                        <a:rPr lang="en-US" sz="2400" i="1">
                                          <a:solidFill>
                                            <a:schemeClr val="tx1"/>
                                          </a:solidFill>
                                          <a:latin typeface="Cambria Math" panose="02040503050406030204" pitchFamily="18" charset="0"/>
                                          <a:ea typeface="Cambria Math" panose="02040503050406030204" pitchFamily="18" charset="0"/>
                                        </a:rPr>
                                        <m:t>2</m:t>
                                      </m:r>
                                      <m:sSup>
                                        <m:sSupPr>
                                          <m:ctrlPr>
                                            <a:rPr lang="en-US" sz="2400" i="1">
                                              <a:solidFill>
                                                <a:schemeClr val="tx1"/>
                                              </a:solidFill>
                                              <a:latin typeface="Cambria Math" panose="02040503050406030204" pitchFamily="18" charset="0"/>
                                              <a:ea typeface="Cambria Math" panose="02040503050406030204" pitchFamily="18" charset="0"/>
                                            </a:rPr>
                                          </m:ctrlPr>
                                        </m:sSupPr>
                                        <m:e>
                                          <m:r>
                                            <a:rPr lang="en-US" sz="2400" i="1" smtClean="0">
                                              <a:solidFill>
                                                <a:schemeClr val="tx2"/>
                                              </a:solidFill>
                                              <a:latin typeface="Cambria Math" panose="02040503050406030204" pitchFamily="18" charset="0"/>
                                              <a:ea typeface="Cambria Math" panose="02040503050406030204" pitchFamily="18" charset="0"/>
                                            </a:rPr>
                                            <m:t>𝜎</m:t>
                                          </m:r>
                                        </m:e>
                                        <m:sup>
                                          <m:r>
                                            <a:rPr lang="en-US" sz="2400" i="1">
                                              <a:solidFill>
                                                <a:schemeClr val="tx1"/>
                                              </a:solidFill>
                                              <a:latin typeface="Cambria Math" panose="02040503050406030204" pitchFamily="18" charset="0"/>
                                              <a:ea typeface="Cambria Math" panose="02040503050406030204" pitchFamily="18" charset="0"/>
                                            </a:rPr>
                                            <m:t>2</m:t>
                                          </m:r>
                                        </m:sup>
                                      </m:sSup>
                                    </m:den>
                                  </m:f>
                                </m:e>
                              </m:d>
                            </m:e>
                          </m:func>
                        </m:e>
                      </m:nary>
                    </m:oMath>
                  </m:oMathPara>
                </a14:m>
                <a:endParaRPr lang="en-US" sz="2400" i="1" dirty="0">
                  <a:solidFill>
                    <a:schemeClr val="tx1"/>
                  </a:solidFill>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𝑓</m:t>
                      </m:r>
                      <m:r>
                        <a:rPr lang="en-US" sz="2400" b="0" i="1" smtClean="0">
                          <a:latin typeface="Cambria Math" panose="02040503050406030204" pitchFamily="18" charset="0"/>
                          <a:ea typeface="Cambria Math" panose="02040503050406030204" pitchFamily="18" charset="0"/>
                        </a:rPr>
                        <m:t>(</m:t>
                      </m:r>
                      <m:r>
                        <a:rPr lang="en-US" sz="2400" b="1" i="1" smtClean="0">
                          <a:latin typeface="Cambria Math" panose="02040503050406030204" pitchFamily="18" charset="0"/>
                          <a:ea typeface="Cambria Math" panose="02040503050406030204" pitchFamily="18" charset="0"/>
                        </a:rPr>
                        <m:t>𝜽</m:t>
                      </m:r>
                      <m:r>
                        <a:rPr lang="en-US" sz="2400" b="1" i="1" smtClean="0">
                          <a:latin typeface="Cambria Math" panose="02040503050406030204" pitchFamily="18" charset="0"/>
                          <a:ea typeface="Cambria Math" panose="02040503050406030204" pitchFamily="18" charset="0"/>
                        </a:rPr>
                        <m:t>,</m:t>
                      </m:r>
                      <m:r>
                        <a:rPr lang="en-US" sz="2400" i="1" smtClean="0">
                          <a:solidFill>
                            <a:schemeClr val="tx2"/>
                          </a:solidFill>
                          <a:latin typeface="Cambria Math" panose="02040503050406030204" pitchFamily="18" charset="0"/>
                          <a:ea typeface="Cambria Math" panose="02040503050406030204" pitchFamily="18" charset="0"/>
                        </a:rPr>
                        <m:t>𝜎</m:t>
                      </m:r>
                      <m:r>
                        <a:rPr lang="en-US" sz="2400" b="0" i="1" smtClean="0">
                          <a:latin typeface="Cambria Math" panose="02040503050406030204" pitchFamily="18" charset="0"/>
                          <a:ea typeface="Cambria Math" panose="02040503050406030204" pitchFamily="18" charset="0"/>
                        </a:rPr>
                        <m:t>)</m:t>
                      </m:r>
                    </m:oMath>
                  </m:oMathPara>
                </a14:m>
                <a:endParaRPr lang="en-US" sz="2400" dirty="0"/>
              </a:p>
              <a:p>
                <a:endParaRPr lang="en-US" sz="2400" dirty="0"/>
              </a:p>
              <a:p>
                <a14:m>
                  <m:oMath xmlns:m="http://schemas.openxmlformats.org/officeDocument/2006/math">
                    <m:r>
                      <a:rPr lang="en-US" sz="2400" b="1" i="1" smtClean="0">
                        <a:latin typeface="Cambria Math" panose="02040503050406030204" pitchFamily="18" charset="0"/>
                        <a:ea typeface="Cambria Math" panose="02040503050406030204" pitchFamily="18" charset="0"/>
                      </a:rPr>
                      <m:t>𝜽</m:t>
                    </m:r>
                    <m:r>
                      <a:rPr lang="en-US" sz="2400" b="0" i="1" smtClean="0">
                        <a:latin typeface="Cambria Math" panose="02040503050406030204" pitchFamily="18" charset="0"/>
                        <a:ea typeface="Cambria Math" panose="02040503050406030204" pitchFamily="18" charset="0"/>
                      </a:rPr>
                      <m:t>:</m:t>
                    </m:r>
                  </m:oMath>
                </a14:m>
                <a:r>
                  <a:rPr lang="en-US" sz="2400" b="0" dirty="0">
                    <a:ea typeface="Cambria Math" panose="02040503050406030204" pitchFamily="18" charset="0"/>
                  </a:rPr>
                  <a:t> Model params</a:t>
                </a:r>
              </a:p>
              <a:p>
                <a14:m>
                  <m:oMath xmlns:m="http://schemas.openxmlformats.org/officeDocument/2006/math">
                    <m:r>
                      <a:rPr lang="en-US" sz="2400" b="0" i="1" smtClean="0">
                        <a:solidFill>
                          <a:schemeClr val="tx2"/>
                        </a:solidFill>
                        <a:latin typeface="Cambria Math" panose="02040503050406030204" pitchFamily="18" charset="0"/>
                        <a:ea typeface="Cambria Math" panose="02040503050406030204" pitchFamily="18" charset="0"/>
                      </a:rPr>
                      <m:t>𝜎</m:t>
                    </m:r>
                    <m:r>
                      <a:rPr lang="en-US" sz="2400" b="0" i="1" smtClean="0">
                        <a:solidFill>
                          <a:schemeClr val="tx2"/>
                        </a:solidFill>
                        <a:latin typeface="Cambria Math" panose="02040503050406030204" pitchFamily="18" charset="0"/>
                        <a:ea typeface="Cambria Math" panose="02040503050406030204" pitchFamily="18" charset="0"/>
                      </a:rPr>
                      <m:t>:</m:t>
                    </m:r>
                  </m:oMath>
                </a14:m>
                <a:r>
                  <a:rPr lang="en-US" sz="2400" b="0" dirty="0">
                    <a:solidFill>
                      <a:schemeClr val="tx2"/>
                    </a:solidFill>
                    <a:ea typeface="Cambria Math" panose="02040503050406030204" pitchFamily="18" charset="0"/>
                  </a:rPr>
                  <a:t> Noise in the experiments + inadequacy in the model</a:t>
                </a:r>
                <a:endParaRPr lang="en-US" sz="2400" b="0" dirty="0">
                  <a:ea typeface="Cambria Math" panose="02040503050406030204" pitchFamily="18" charset="0"/>
                </a:endParaRPr>
              </a:p>
              <a:p>
                <a14:m>
                  <m:oMath xmlns:m="http://schemas.openxmlformats.org/officeDocument/2006/math">
                    <m:r>
                      <a:rPr lang="en-US" sz="2400" b="0" i="1" smtClean="0">
                        <a:latin typeface="Cambria Math" panose="02040503050406030204" pitchFamily="18" charset="0"/>
                        <a:ea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m:t>
                    </m:r>
                  </m:oMath>
                </a14:m>
                <a:r>
                  <a:rPr lang="en-US" sz="2400" b="0" dirty="0">
                    <a:ea typeface="Cambria Math" panose="02040503050406030204" pitchFamily="18" charset="0"/>
                  </a:rPr>
                  <a:t> Experimental configuration</a:t>
                </a:r>
              </a:p>
              <a:p>
                <a14:m>
                  <m:oMath xmlns:m="http://schemas.openxmlformats.org/officeDocument/2006/math">
                    <m:r>
                      <a:rPr lang="en-US" sz="2400" b="0" i="1" smtClean="0">
                        <a:latin typeface="Cambria Math" panose="02040503050406030204" pitchFamily="18" charset="0"/>
                        <a:ea typeface="Cambria Math" panose="02040503050406030204" pitchFamily="18" charset="0"/>
                      </a:rPr>
                      <m:t>𝑦</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m:t>
                    </m:r>
                  </m:oMath>
                </a14:m>
                <a:r>
                  <a:rPr lang="en-US" sz="2400" b="0" dirty="0">
                    <a:ea typeface="Cambria Math" panose="02040503050406030204" pitchFamily="18" charset="0"/>
                  </a:rPr>
                  <a:t> Experimental value</a:t>
                </a:r>
              </a:p>
              <a:p>
                <a14:m>
                  <m:oMath xmlns:m="http://schemas.openxmlformats.org/officeDocument/2006/math">
                    <m:r>
                      <a:rPr lang="en-US" sz="2400" b="0" i="1" smtClean="0">
                        <a:latin typeface="Cambria Math" panose="02040503050406030204" pitchFamily="18" charset="0"/>
                        <a:ea typeface="Cambria Math" panose="02040503050406030204" pitchFamily="18" charset="0"/>
                      </a:rPr>
                      <m:t>𝑀</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m:t>
                    </m:r>
                    <m:r>
                      <a:rPr lang="en-US" sz="2400" b="1" i="1">
                        <a:latin typeface="Cambria Math" panose="02040503050406030204" pitchFamily="18" charset="0"/>
                        <a:ea typeface="Cambria Math" panose="02040503050406030204" pitchFamily="18" charset="0"/>
                      </a:rPr>
                      <m:t>𝜽</m:t>
                    </m:r>
                    <m:r>
                      <a:rPr lang="en-US" sz="2400" b="0" i="1" smtClean="0">
                        <a:latin typeface="Cambria Math" panose="02040503050406030204" pitchFamily="18" charset="0"/>
                        <a:ea typeface="Cambria Math" panose="02040503050406030204" pitchFamily="18" charset="0"/>
                      </a:rPr>
                      <m:t>):</m:t>
                    </m:r>
                  </m:oMath>
                </a14:m>
                <a:r>
                  <a:rPr lang="en-US" sz="2400" b="0" dirty="0">
                    <a:ea typeface="Cambria Math" panose="02040503050406030204" pitchFamily="18" charset="0"/>
                  </a:rPr>
                  <a:t> Model prediction</a:t>
                </a:r>
              </a:p>
              <a:p>
                <a:endParaRPr lang="en-US" sz="2400" dirty="0"/>
              </a:p>
            </p:txBody>
          </p:sp>
        </mc:Choice>
        <mc:Fallback xmlns="">
          <p:sp>
            <p:nvSpPr>
              <p:cNvPr id="13" name="TextBox 12">
                <a:extLst>
                  <a:ext uri="{FF2B5EF4-FFF2-40B4-BE49-F238E27FC236}">
                    <a16:creationId xmlns:a16="http://schemas.microsoft.com/office/drawing/2014/main" id="{74F62837-B9AA-57B5-1AB0-E6E4FCDF53B4}"/>
                  </a:ext>
                </a:extLst>
              </p:cNvPr>
              <p:cNvSpPr txBox="1">
                <a:spLocks noRot="1" noChangeAspect="1" noMove="1" noResize="1" noEditPoints="1" noAdjustHandles="1" noChangeArrowheads="1" noChangeShapeType="1" noTextEdit="1"/>
              </p:cNvSpPr>
              <p:nvPr/>
            </p:nvSpPr>
            <p:spPr>
              <a:xfrm>
                <a:off x="5898461" y="1655057"/>
                <a:ext cx="4502702" cy="4731808"/>
              </a:xfrm>
              <a:prstGeom prst="rect">
                <a:avLst/>
              </a:prstGeom>
              <a:blipFill>
                <a:blip r:embed="rId2"/>
                <a:stretch>
                  <a:fillRect l="-15775" t="-17914"/>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B14089EC-8BE2-28D7-6EBD-BC31617BEEBE}"/>
              </a:ext>
            </a:extLst>
          </p:cNvPr>
          <p:cNvSpPr txBox="1"/>
          <p:nvPr/>
        </p:nvSpPr>
        <p:spPr>
          <a:xfrm>
            <a:off x="7146615" y="985837"/>
            <a:ext cx="1703654" cy="646331"/>
          </a:xfrm>
          <a:prstGeom prst="rect">
            <a:avLst/>
          </a:prstGeom>
          <a:noFill/>
        </p:spPr>
        <p:txBody>
          <a:bodyPr wrap="square">
            <a:spAutoFit/>
          </a:bodyPr>
          <a:lstStyle/>
          <a:p>
            <a:pPr algn="ctr"/>
            <a:r>
              <a:rPr lang="en-US" dirty="0">
                <a:solidFill>
                  <a:schemeClr val="tx2"/>
                </a:solidFill>
              </a:rPr>
              <a:t>Required distribution</a:t>
            </a:r>
          </a:p>
        </p:txBody>
      </p:sp>
      <p:sp>
        <p:nvSpPr>
          <p:cNvPr id="15" name="TextBox 14">
            <a:extLst>
              <a:ext uri="{FF2B5EF4-FFF2-40B4-BE49-F238E27FC236}">
                <a16:creationId xmlns:a16="http://schemas.microsoft.com/office/drawing/2014/main" id="{875FECDC-1765-F47E-8BC3-B48C4C5C9C7F}"/>
              </a:ext>
            </a:extLst>
          </p:cNvPr>
          <p:cNvSpPr txBox="1"/>
          <p:nvPr/>
        </p:nvSpPr>
        <p:spPr>
          <a:xfrm>
            <a:off x="10277369" y="2177827"/>
            <a:ext cx="1703654" cy="646331"/>
          </a:xfrm>
          <a:prstGeom prst="rect">
            <a:avLst/>
          </a:prstGeom>
          <a:noFill/>
        </p:spPr>
        <p:txBody>
          <a:bodyPr wrap="square">
            <a:spAutoFit/>
          </a:bodyPr>
          <a:lstStyle/>
          <a:p>
            <a:pPr algn="ctr"/>
            <a:r>
              <a:rPr lang="en-US" dirty="0"/>
              <a:t>Likelihood function</a:t>
            </a:r>
          </a:p>
        </p:txBody>
      </p:sp>
      <p:sp>
        <p:nvSpPr>
          <p:cNvPr id="16" name="TextBox 15">
            <a:extLst>
              <a:ext uri="{FF2B5EF4-FFF2-40B4-BE49-F238E27FC236}">
                <a16:creationId xmlns:a16="http://schemas.microsoft.com/office/drawing/2014/main" id="{A417E739-6FD2-B9E5-B2B6-5D1F18A79A89}"/>
              </a:ext>
            </a:extLst>
          </p:cNvPr>
          <p:cNvSpPr txBox="1"/>
          <p:nvPr/>
        </p:nvSpPr>
        <p:spPr>
          <a:xfrm>
            <a:off x="8130432" y="3069834"/>
            <a:ext cx="1703654" cy="369332"/>
          </a:xfrm>
          <a:prstGeom prst="rect">
            <a:avLst/>
          </a:prstGeom>
          <a:noFill/>
        </p:spPr>
        <p:txBody>
          <a:bodyPr wrap="square">
            <a:spAutoFit/>
          </a:bodyPr>
          <a:lstStyle/>
          <a:p>
            <a:pPr algn="ctr"/>
            <a:r>
              <a:rPr lang="en-US" dirty="0"/>
              <a:t>Prior</a:t>
            </a:r>
          </a:p>
        </p:txBody>
      </p:sp>
      <p:sp>
        <p:nvSpPr>
          <p:cNvPr id="17" name="TextBox 16">
            <a:extLst>
              <a:ext uri="{FF2B5EF4-FFF2-40B4-BE49-F238E27FC236}">
                <a16:creationId xmlns:a16="http://schemas.microsoft.com/office/drawing/2014/main" id="{88D5AB63-F435-F68E-80CF-4630990E3549}"/>
              </a:ext>
            </a:extLst>
          </p:cNvPr>
          <p:cNvSpPr txBox="1"/>
          <p:nvPr/>
        </p:nvSpPr>
        <p:spPr>
          <a:xfrm>
            <a:off x="2860250" y="2694983"/>
            <a:ext cx="1703654" cy="646331"/>
          </a:xfrm>
          <a:prstGeom prst="rect">
            <a:avLst/>
          </a:prstGeom>
          <a:noFill/>
        </p:spPr>
        <p:txBody>
          <a:bodyPr wrap="square">
            <a:spAutoFit/>
          </a:bodyPr>
          <a:lstStyle/>
          <a:p>
            <a:pPr algn="ctr"/>
            <a:r>
              <a:rPr lang="en-US" b="1" dirty="0">
                <a:solidFill>
                  <a:schemeClr val="tx2"/>
                </a:solidFill>
              </a:rPr>
              <a:t>Unknown noise</a:t>
            </a:r>
            <a:endParaRPr lang="en-US" dirty="0">
              <a:solidFill>
                <a:schemeClr val="tx2"/>
              </a:solidFill>
            </a:endParaRPr>
          </a:p>
        </p:txBody>
      </p:sp>
      <p:sp>
        <p:nvSpPr>
          <p:cNvPr id="3" name="TextBox 2">
            <a:extLst>
              <a:ext uri="{FF2B5EF4-FFF2-40B4-BE49-F238E27FC236}">
                <a16:creationId xmlns:a16="http://schemas.microsoft.com/office/drawing/2014/main" id="{9B05BAAC-0AC7-E7E8-40AC-7EFFBF55CC3B}"/>
              </a:ext>
            </a:extLst>
          </p:cNvPr>
          <p:cNvSpPr txBox="1"/>
          <p:nvPr/>
        </p:nvSpPr>
        <p:spPr>
          <a:xfrm>
            <a:off x="2094553" y="1549642"/>
            <a:ext cx="1703654" cy="646331"/>
          </a:xfrm>
          <a:prstGeom prst="rect">
            <a:avLst/>
          </a:prstGeom>
          <a:noFill/>
        </p:spPr>
        <p:txBody>
          <a:bodyPr wrap="square">
            <a:spAutoFit/>
          </a:bodyPr>
          <a:lstStyle/>
          <a:p>
            <a:pPr algn="ctr"/>
            <a:r>
              <a:rPr lang="en-US" b="1" dirty="0">
                <a:solidFill>
                  <a:schemeClr val="tx2"/>
                </a:solidFill>
              </a:rPr>
              <a:t>Inadequacy in the model</a:t>
            </a:r>
            <a:endParaRPr lang="en-US" dirty="0">
              <a:solidFill>
                <a:schemeClr val="tx2"/>
              </a:solidFill>
            </a:endParaRPr>
          </a:p>
        </p:txBody>
      </p:sp>
    </p:spTree>
    <p:extLst>
      <p:ext uri="{BB962C8B-B14F-4D97-AF65-F5344CB8AC3E}">
        <p14:creationId xmlns:p14="http://schemas.microsoft.com/office/powerpoint/2010/main" val="11698525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28D7F-094F-6B26-C219-096B56C803D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08FF715-3EA8-A9D4-73DA-70E52D8CE77A}"/>
              </a:ext>
            </a:extLst>
          </p:cNvPr>
          <p:cNvSpPr>
            <a:spLocks noGrp="1"/>
          </p:cNvSpPr>
          <p:nvPr>
            <p:ph type="sldNum" sz="quarter" idx="12"/>
          </p:nvPr>
        </p:nvSpPr>
        <p:spPr/>
        <p:txBody>
          <a:bodyPr/>
          <a:lstStyle/>
          <a:p>
            <a:fld id="{82B577FA-F7D9-2C48-919F-F962E3BF952F}" type="slidenum">
              <a:rPr lang="en-US" smtClean="0"/>
              <a:t>23</a:t>
            </a:fld>
            <a:endParaRPr lang="en-US"/>
          </a:p>
        </p:txBody>
      </p:sp>
      <p:sp>
        <p:nvSpPr>
          <p:cNvPr id="5" name="TextBox 4">
            <a:extLst>
              <a:ext uri="{FF2B5EF4-FFF2-40B4-BE49-F238E27FC236}">
                <a16:creationId xmlns:a16="http://schemas.microsoft.com/office/drawing/2014/main" id="{4D035469-F244-8CFD-D6DC-8596C6B1E3DD}"/>
              </a:ext>
            </a:extLst>
          </p:cNvPr>
          <p:cNvSpPr txBox="1"/>
          <p:nvPr/>
        </p:nvSpPr>
        <p:spPr>
          <a:xfrm>
            <a:off x="4725272" y="6550223"/>
            <a:ext cx="2741456" cy="307777"/>
          </a:xfrm>
          <a:prstGeom prst="rect">
            <a:avLst/>
          </a:prstGeom>
          <a:noFill/>
        </p:spPr>
        <p:txBody>
          <a:bodyPr wrap="none" rtlCol="0">
            <a:spAutoFit/>
          </a:bodyPr>
          <a:lstStyle/>
          <a:p>
            <a:r>
              <a:rPr lang="en-US" sz="1400" b="1" i="0" dirty="0">
                <a:solidFill>
                  <a:srgbClr val="07519E"/>
                </a:solidFill>
                <a:effectLst/>
                <a:latin typeface="Arial" panose="020B0604020202020204" pitchFamily="34" charset="0"/>
              </a:rPr>
              <a:t>Part 2: Bayesian (inverse) UQ</a:t>
            </a:r>
            <a:endParaRPr lang="en-US" sz="1400" b="1" dirty="0">
              <a:solidFill>
                <a:srgbClr val="07519E"/>
              </a:solidFill>
            </a:endParaRPr>
          </a:p>
        </p:txBody>
      </p:sp>
      <p:sp>
        <p:nvSpPr>
          <p:cNvPr id="3" name="Rectangle 2">
            <a:extLst>
              <a:ext uri="{FF2B5EF4-FFF2-40B4-BE49-F238E27FC236}">
                <a16:creationId xmlns:a16="http://schemas.microsoft.com/office/drawing/2014/main" id="{48D74C3E-8384-F5DE-C940-38E91AE03BAA}"/>
              </a:ext>
            </a:extLst>
          </p:cNvPr>
          <p:cNvSpPr/>
          <p:nvPr/>
        </p:nvSpPr>
        <p:spPr>
          <a:xfrm>
            <a:off x="1486582" y="2181955"/>
            <a:ext cx="2197774" cy="210082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65242AFD-4DF1-3125-4503-B0867CC54AF7}"/>
              </a:ext>
            </a:extLst>
          </p:cNvPr>
          <p:cNvCxnSpPr>
            <a:cxnSpLocks/>
          </p:cNvCxnSpPr>
          <p:nvPr/>
        </p:nvCxnSpPr>
        <p:spPr>
          <a:xfrm>
            <a:off x="1486581" y="2036747"/>
            <a:ext cx="219777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D49BE089-552E-9B57-6329-0825B2392479}"/>
              </a:ext>
            </a:extLst>
          </p:cNvPr>
          <p:cNvCxnSpPr>
            <a:cxnSpLocks/>
          </p:cNvCxnSpPr>
          <p:nvPr/>
        </p:nvCxnSpPr>
        <p:spPr>
          <a:xfrm flipV="1">
            <a:off x="3837920" y="2180433"/>
            <a:ext cx="1" cy="210234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59A781C-9449-5358-0FFD-D9244571EB38}"/>
                  </a:ext>
                </a:extLst>
              </p:cNvPr>
              <p:cNvSpPr txBox="1"/>
              <p:nvPr/>
            </p:nvSpPr>
            <p:spPr>
              <a:xfrm>
                <a:off x="1746605" y="1628405"/>
                <a:ext cx="167772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𝑥</m:t>
                          </m:r>
                          <m:r>
                            <a:rPr lang="en-US" b="0" i="1" smtClean="0">
                              <a:latin typeface="Cambria Math" panose="02040503050406030204" pitchFamily="18" charset="0"/>
                            </a:rPr>
                            <m:t>1</m:t>
                          </m:r>
                        </m:sub>
                      </m:sSub>
                    </m:oMath>
                  </m:oMathPara>
                </a14:m>
                <a:endParaRPr lang="en-US" dirty="0"/>
              </a:p>
            </p:txBody>
          </p:sp>
        </mc:Choice>
        <mc:Fallback xmlns="">
          <p:sp>
            <p:nvSpPr>
              <p:cNvPr id="10" name="TextBox 9">
                <a:extLst>
                  <a:ext uri="{FF2B5EF4-FFF2-40B4-BE49-F238E27FC236}">
                    <a16:creationId xmlns:a16="http://schemas.microsoft.com/office/drawing/2014/main" id="{F59A781C-9449-5358-0FFD-D9244571EB38}"/>
                  </a:ext>
                </a:extLst>
              </p:cNvPr>
              <p:cNvSpPr txBox="1">
                <a:spLocks noRot="1" noChangeAspect="1" noMove="1" noResize="1" noEditPoints="1" noAdjustHandles="1" noChangeArrowheads="1" noChangeShapeType="1" noTextEdit="1"/>
              </p:cNvSpPr>
              <p:nvPr/>
            </p:nvSpPr>
            <p:spPr>
              <a:xfrm>
                <a:off x="1746605" y="1628405"/>
                <a:ext cx="1677725"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7E1643C-7AFC-58A8-0CBE-8B9203D0E70A}"/>
                  </a:ext>
                </a:extLst>
              </p:cNvPr>
              <p:cNvSpPr txBox="1"/>
              <p:nvPr/>
            </p:nvSpPr>
            <p:spPr>
              <a:xfrm>
                <a:off x="3779488" y="3034212"/>
                <a:ext cx="778359" cy="39478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𝑦</m:t>
                          </m:r>
                          <m:r>
                            <a:rPr lang="en-US" b="0" i="1" smtClean="0">
                              <a:latin typeface="Cambria Math" panose="02040503050406030204" pitchFamily="18" charset="0"/>
                            </a:rPr>
                            <m:t>1</m:t>
                          </m:r>
                        </m:sub>
                      </m:sSub>
                    </m:oMath>
                  </m:oMathPara>
                </a14:m>
                <a:endParaRPr lang="en-US" dirty="0"/>
              </a:p>
            </p:txBody>
          </p:sp>
        </mc:Choice>
        <mc:Fallback xmlns="">
          <p:sp>
            <p:nvSpPr>
              <p:cNvPr id="13" name="TextBox 12">
                <a:extLst>
                  <a:ext uri="{FF2B5EF4-FFF2-40B4-BE49-F238E27FC236}">
                    <a16:creationId xmlns:a16="http://schemas.microsoft.com/office/drawing/2014/main" id="{47E1643C-7AFC-58A8-0CBE-8B9203D0E70A}"/>
                  </a:ext>
                </a:extLst>
              </p:cNvPr>
              <p:cNvSpPr txBox="1">
                <a:spLocks noRot="1" noChangeAspect="1" noMove="1" noResize="1" noEditPoints="1" noAdjustHandles="1" noChangeArrowheads="1" noChangeShapeType="1" noTextEdit="1"/>
              </p:cNvSpPr>
              <p:nvPr/>
            </p:nvSpPr>
            <p:spPr>
              <a:xfrm>
                <a:off x="3779488" y="3034212"/>
                <a:ext cx="778359" cy="394788"/>
              </a:xfrm>
              <a:prstGeom prst="rect">
                <a:avLst/>
              </a:prstGeom>
              <a:blipFill>
                <a:blip r:embed="rId3"/>
                <a:stretch>
                  <a:fillRect b="-6250"/>
                </a:stretch>
              </a:blipFill>
            </p:spPr>
            <p:txBody>
              <a:bodyPr/>
              <a:lstStyle/>
              <a:p>
                <a:r>
                  <a:rPr lang="en-US">
                    <a:noFill/>
                  </a:rPr>
                  <a:t> </a:t>
                </a:r>
              </a:p>
            </p:txBody>
          </p:sp>
        </mc:Fallback>
      </mc:AlternateContent>
      <p:sp>
        <p:nvSpPr>
          <p:cNvPr id="14" name="Oval 13">
            <a:extLst>
              <a:ext uri="{FF2B5EF4-FFF2-40B4-BE49-F238E27FC236}">
                <a16:creationId xmlns:a16="http://schemas.microsoft.com/office/drawing/2014/main" id="{1DBB02FD-CE9D-A25B-E938-73775DEB02B6}"/>
              </a:ext>
            </a:extLst>
          </p:cNvPr>
          <p:cNvSpPr/>
          <p:nvPr/>
        </p:nvSpPr>
        <p:spPr>
          <a:xfrm>
            <a:off x="1452085" y="4226373"/>
            <a:ext cx="87465" cy="954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4250CAF-B242-757F-AC45-22ED703CB030}"/>
                  </a:ext>
                </a:extLst>
              </p:cNvPr>
              <p:cNvSpPr txBox="1"/>
              <p:nvPr/>
            </p:nvSpPr>
            <p:spPr>
              <a:xfrm>
                <a:off x="1023856" y="4320647"/>
                <a:ext cx="9254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𝒑</m:t>
                      </m:r>
                      <m:r>
                        <a:rPr lang="en-US" b="1" i="1" smtClean="0">
                          <a:latin typeface="Cambria Math" panose="02040503050406030204" pitchFamily="18" charset="0"/>
                        </a:rPr>
                        <m:t>=</m:t>
                      </m:r>
                      <m:r>
                        <a:rPr lang="en-US" b="1" i="1" smtClean="0">
                          <a:latin typeface="Cambria Math" panose="02040503050406030204" pitchFamily="18" charset="0"/>
                        </a:rPr>
                        <m:t>𝟎</m:t>
                      </m:r>
                    </m:oMath>
                  </m:oMathPara>
                </a14:m>
                <a:endParaRPr lang="en-US" b="1" dirty="0"/>
              </a:p>
            </p:txBody>
          </p:sp>
        </mc:Choice>
        <mc:Fallback xmlns="">
          <p:sp>
            <p:nvSpPr>
              <p:cNvPr id="15" name="TextBox 14">
                <a:extLst>
                  <a:ext uri="{FF2B5EF4-FFF2-40B4-BE49-F238E27FC236}">
                    <a16:creationId xmlns:a16="http://schemas.microsoft.com/office/drawing/2014/main" id="{04250CAF-B242-757F-AC45-22ED703CB030}"/>
                  </a:ext>
                </a:extLst>
              </p:cNvPr>
              <p:cNvSpPr txBox="1">
                <a:spLocks noRot="1" noChangeAspect="1" noMove="1" noResize="1" noEditPoints="1" noAdjustHandles="1" noChangeArrowheads="1" noChangeShapeType="1" noTextEdit="1"/>
              </p:cNvSpPr>
              <p:nvPr/>
            </p:nvSpPr>
            <p:spPr>
              <a:xfrm>
                <a:off x="1023856" y="4320647"/>
                <a:ext cx="925450" cy="369332"/>
              </a:xfrm>
              <a:prstGeom prst="rect">
                <a:avLst/>
              </a:prstGeom>
              <a:blipFill>
                <a:blip r:embed="rId4"/>
                <a:stretch>
                  <a:fillRect b="-10000"/>
                </a:stretch>
              </a:blipFill>
            </p:spPr>
            <p:txBody>
              <a:bodyPr/>
              <a:lstStyle/>
              <a:p>
                <a:r>
                  <a:rPr lang="en-US">
                    <a:noFill/>
                  </a:rPr>
                  <a:t> </a:t>
                </a:r>
              </a:p>
            </p:txBody>
          </p:sp>
        </mc:Fallback>
      </mc:AlternateContent>
      <p:sp>
        <p:nvSpPr>
          <p:cNvPr id="16" name="Oval 15">
            <a:extLst>
              <a:ext uri="{FF2B5EF4-FFF2-40B4-BE49-F238E27FC236}">
                <a16:creationId xmlns:a16="http://schemas.microsoft.com/office/drawing/2014/main" id="{5AE4F138-D5F1-0316-435A-CD453546E096}"/>
              </a:ext>
            </a:extLst>
          </p:cNvPr>
          <p:cNvSpPr/>
          <p:nvPr/>
        </p:nvSpPr>
        <p:spPr>
          <a:xfrm>
            <a:off x="2529882" y="3180058"/>
            <a:ext cx="87465" cy="954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E2DAD3B-E882-1D05-6435-4BA5EB952E4C}"/>
                  </a:ext>
                </a:extLst>
              </p:cNvPr>
              <p:cNvSpPr txBox="1"/>
              <p:nvPr/>
            </p:nvSpPr>
            <p:spPr>
              <a:xfrm>
                <a:off x="1691019" y="4968086"/>
                <a:ext cx="1677725" cy="6560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ad>
                        <m:radPr>
                          <m:degHide m:val="on"/>
                          <m:ctrlPr>
                            <a:rPr lang="en-US" b="1" i="1" smtClean="0">
                              <a:latin typeface="Cambria Math" panose="02040503050406030204" pitchFamily="18" charset="0"/>
                            </a:rPr>
                          </m:ctrlPr>
                        </m:radPr>
                        <m:deg/>
                        <m:e>
                          <m:sSup>
                            <m:sSupPr>
                              <m:ctrlPr>
                                <a:rPr lang="en-US" b="1" i="1" smtClean="0">
                                  <a:latin typeface="Cambria Math" panose="02040503050406030204" pitchFamily="18" charset="0"/>
                                </a:rPr>
                              </m:ctrlPr>
                            </m:sSupPr>
                            <m:e>
                              <m:sSub>
                                <m:sSubPr>
                                  <m:ctrlPr>
                                    <a:rPr lang="en-US" b="1"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𝑥</m:t>
                                  </m:r>
                                </m:sub>
                              </m:sSub>
                            </m:e>
                            <m:sup>
                              <m:r>
                                <a:rPr lang="en-US" b="1" i="1" smtClean="0">
                                  <a:latin typeface="Cambria Math" panose="02040503050406030204" pitchFamily="18" charset="0"/>
                                </a:rPr>
                                <m:t>𝟐</m:t>
                              </m:r>
                            </m:sup>
                          </m:sSup>
                          <m:r>
                            <a:rPr lang="en-US" b="1" i="1" smtClean="0">
                              <a:latin typeface="Cambria Math" panose="02040503050406030204" pitchFamily="18" charset="0"/>
                            </a:rPr>
                            <m:t>+</m:t>
                          </m:r>
                          <m:sSup>
                            <m:sSupPr>
                              <m:ctrlPr>
                                <a:rPr lang="en-US" b="1" i="1" smtClean="0">
                                  <a:latin typeface="Cambria Math" panose="02040503050406030204" pitchFamily="18" charset="0"/>
                                </a:rPr>
                              </m:ctrlPr>
                            </m:sSupPr>
                            <m:e>
                              <m:sSub>
                                <m:sSubPr>
                                  <m:ctrlPr>
                                    <a:rPr lang="en-US"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𝑦</m:t>
                                  </m:r>
                                </m:sub>
                              </m:sSub>
                            </m:e>
                            <m:sup>
                              <m:r>
                                <a:rPr lang="en-US" b="1" i="1" smtClean="0">
                                  <a:latin typeface="Cambria Math" panose="02040503050406030204" pitchFamily="18" charset="0"/>
                                </a:rPr>
                                <m:t>𝟐</m:t>
                              </m:r>
                            </m:sup>
                          </m:sSup>
                        </m:e>
                      </m:rad>
                    </m:oMath>
                  </m:oMathPara>
                </a14:m>
                <a:endParaRPr lang="en-US" b="1" dirty="0"/>
              </a:p>
            </p:txBody>
          </p:sp>
        </mc:Choice>
        <mc:Fallback xmlns="">
          <p:sp>
            <p:nvSpPr>
              <p:cNvPr id="18" name="TextBox 17">
                <a:extLst>
                  <a:ext uri="{FF2B5EF4-FFF2-40B4-BE49-F238E27FC236}">
                    <a16:creationId xmlns:a16="http://schemas.microsoft.com/office/drawing/2014/main" id="{3E2DAD3B-E882-1D05-6435-4BA5EB952E4C}"/>
                  </a:ext>
                </a:extLst>
              </p:cNvPr>
              <p:cNvSpPr txBox="1">
                <a:spLocks noRot="1" noChangeAspect="1" noMove="1" noResize="1" noEditPoints="1" noAdjustHandles="1" noChangeArrowheads="1" noChangeShapeType="1" noTextEdit="1"/>
              </p:cNvSpPr>
              <p:nvPr/>
            </p:nvSpPr>
            <p:spPr>
              <a:xfrm>
                <a:off x="1691019" y="4968086"/>
                <a:ext cx="1677725" cy="656013"/>
              </a:xfrm>
              <a:prstGeom prst="rect">
                <a:avLst/>
              </a:prstGeom>
              <a:blipFill>
                <a:blip r:embed="rId5"/>
                <a:stretch>
                  <a:fillRect/>
                </a:stretch>
              </a:blipFill>
            </p:spPr>
            <p:txBody>
              <a:bodyPr/>
              <a:lstStyle/>
              <a:p>
                <a:r>
                  <a:rPr lang="en-US">
                    <a:noFill/>
                  </a:rPr>
                  <a:t> </a:t>
                </a:r>
              </a:p>
            </p:txBody>
          </p:sp>
        </mc:Fallback>
      </mc:AlternateContent>
      <p:sp>
        <p:nvSpPr>
          <p:cNvPr id="22" name="Oval 21">
            <a:extLst>
              <a:ext uri="{FF2B5EF4-FFF2-40B4-BE49-F238E27FC236}">
                <a16:creationId xmlns:a16="http://schemas.microsoft.com/office/drawing/2014/main" id="{EF99C4DB-C0DC-6102-8B1B-EC3817AE00CB}"/>
              </a:ext>
            </a:extLst>
          </p:cNvPr>
          <p:cNvSpPr/>
          <p:nvPr/>
        </p:nvSpPr>
        <p:spPr>
          <a:xfrm>
            <a:off x="3235291" y="3180058"/>
            <a:ext cx="87465" cy="954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4648CD8E-36A8-AFF1-D8D5-2EB450D60478}"/>
              </a:ext>
            </a:extLst>
          </p:cNvPr>
          <p:cNvSpPr/>
          <p:nvPr/>
        </p:nvSpPr>
        <p:spPr>
          <a:xfrm>
            <a:off x="1780741" y="3180058"/>
            <a:ext cx="87465" cy="954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334E4020-7D51-4263-D4BB-DF783B35B926}"/>
              </a:ext>
            </a:extLst>
          </p:cNvPr>
          <p:cNvSpPr/>
          <p:nvPr/>
        </p:nvSpPr>
        <p:spPr>
          <a:xfrm>
            <a:off x="2529882" y="2492692"/>
            <a:ext cx="87465" cy="954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FF41B8E5-5FC1-7369-3F1F-1E523BD41FE6}"/>
              </a:ext>
            </a:extLst>
          </p:cNvPr>
          <p:cNvSpPr/>
          <p:nvPr/>
        </p:nvSpPr>
        <p:spPr>
          <a:xfrm>
            <a:off x="3235291" y="2492692"/>
            <a:ext cx="87465" cy="954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9309CB39-54C8-478A-C89F-992725EDF7C7}"/>
              </a:ext>
            </a:extLst>
          </p:cNvPr>
          <p:cNvSpPr/>
          <p:nvPr/>
        </p:nvSpPr>
        <p:spPr>
          <a:xfrm>
            <a:off x="1780741" y="2492692"/>
            <a:ext cx="87465" cy="954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1E99AB2B-268C-B8A6-0484-C7FBCBA0C789}"/>
              </a:ext>
            </a:extLst>
          </p:cNvPr>
          <p:cNvSpPr/>
          <p:nvPr/>
        </p:nvSpPr>
        <p:spPr>
          <a:xfrm>
            <a:off x="2529882" y="3819716"/>
            <a:ext cx="87465" cy="954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83BDE577-1E9D-01BF-5C1F-0900C6ACD08E}"/>
              </a:ext>
            </a:extLst>
          </p:cNvPr>
          <p:cNvSpPr/>
          <p:nvPr/>
        </p:nvSpPr>
        <p:spPr>
          <a:xfrm>
            <a:off x="3235291" y="3819716"/>
            <a:ext cx="87465" cy="954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3B9118E4-CA9C-9F8B-187A-70613E0DBA77}"/>
              </a:ext>
            </a:extLst>
          </p:cNvPr>
          <p:cNvSpPr/>
          <p:nvPr/>
        </p:nvSpPr>
        <p:spPr>
          <a:xfrm>
            <a:off x="1780741" y="3819716"/>
            <a:ext cx="87465" cy="954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76E8E1A0-9062-CBE4-26AB-C4995A38A882}"/>
              </a:ext>
            </a:extLst>
          </p:cNvPr>
          <p:cNvSpPr txBox="1"/>
          <p:nvPr/>
        </p:nvSpPr>
        <p:spPr>
          <a:xfrm>
            <a:off x="4854880" y="1333398"/>
            <a:ext cx="2946380" cy="3693319"/>
          </a:xfrm>
          <a:prstGeom prst="rect">
            <a:avLst/>
          </a:prstGeom>
          <a:noFill/>
        </p:spPr>
        <p:txBody>
          <a:bodyPr wrap="square">
            <a:spAutoFit/>
          </a:bodyPr>
          <a:lstStyle/>
          <a:p>
            <a:pPr algn="ctr"/>
            <a:r>
              <a:rPr lang="en-US" b="1" dirty="0"/>
              <a:t>“Experimental data”</a:t>
            </a:r>
          </a:p>
          <a:p>
            <a:pPr marL="285750" indent="-285750">
              <a:buFontTx/>
              <a:buChar char="-"/>
            </a:pPr>
            <a:r>
              <a:rPr lang="en-US" dirty="0"/>
              <a:t>Resultant velocities at 9 locations in the domain</a:t>
            </a:r>
          </a:p>
          <a:p>
            <a:pPr marL="285750" indent="-285750">
              <a:buFontTx/>
              <a:buChar char="-"/>
            </a:pPr>
            <a:r>
              <a:rPr lang="en-US" dirty="0"/>
              <a:t>Resultant velocities: experimental data</a:t>
            </a:r>
          </a:p>
          <a:p>
            <a:pPr marL="285750" indent="-285750">
              <a:buFontTx/>
              <a:buChar char="-"/>
            </a:pPr>
            <a:r>
              <a:rPr lang="en-US" dirty="0"/>
              <a:t>Locations: experimental configurations</a:t>
            </a:r>
          </a:p>
          <a:p>
            <a:pPr marL="285750" indent="-285750">
              <a:buFontTx/>
              <a:buChar char="-"/>
            </a:pPr>
            <a:endParaRPr lang="en-US" dirty="0"/>
          </a:p>
          <a:p>
            <a:pPr marL="285750" indent="-285750">
              <a:buFontTx/>
              <a:buChar char="-"/>
            </a:pPr>
            <a:r>
              <a:rPr lang="en-US" dirty="0"/>
              <a:t>Ux1 = 1.0, Uy1 = 2.5</a:t>
            </a:r>
          </a:p>
          <a:p>
            <a:pPr algn="ctr"/>
            <a:r>
              <a:rPr lang="en-US" dirty="0"/>
              <a:t>(treated as unknown)</a:t>
            </a:r>
          </a:p>
          <a:p>
            <a:pPr marL="285750" indent="-285750">
              <a:buFontTx/>
              <a:buChar char="-"/>
            </a:pPr>
            <a:r>
              <a:rPr lang="en-US" dirty="0">
                <a:solidFill>
                  <a:schemeClr val="tx2"/>
                </a:solidFill>
              </a:rPr>
              <a:t>Added Gaussian noise of 0.4</a:t>
            </a:r>
          </a:p>
          <a:p>
            <a:pPr algn="ctr"/>
            <a:r>
              <a:rPr lang="en-US" dirty="0">
                <a:solidFill>
                  <a:schemeClr val="tx2"/>
                </a:solidFill>
              </a:rPr>
              <a:t>(treated as unknown)</a:t>
            </a:r>
          </a:p>
        </p:txBody>
      </p:sp>
      <p:sp>
        <p:nvSpPr>
          <p:cNvPr id="31" name="TextBox 30">
            <a:extLst>
              <a:ext uri="{FF2B5EF4-FFF2-40B4-BE49-F238E27FC236}">
                <a16:creationId xmlns:a16="http://schemas.microsoft.com/office/drawing/2014/main" id="{B3B07473-1900-CBBC-2AFC-6D3E690B7E46}"/>
              </a:ext>
            </a:extLst>
          </p:cNvPr>
          <p:cNvSpPr txBox="1"/>
          <p:nvPr/>
        </p:nvSpPr>
        <p:spPr>
          <a:xfrm>
            <a:off x="8733779" y="1333952"/>
            <a:ext cx="2946380" cy="3139321"/>
          </a:xfrm>
          <a:prstGeom prst="rect">
            <a:avLst/>
          </a:prstGeom>
          <a:noFill/>
        </p:spPr>
        <p:txBody>
          <a:bodyPr wrap="square">
            <a:spAutoFit/>
          </a:bodyPr>
          <a:lstStyle/>
          <a:p>
            <a:pPr algn="ctr"/>
            <a:r>
              <a:rPr lang="en-US" b="1" dirty="0"/>
              <a:t>Predictive model</a:t>
            </a:r>
          </a:p>
          <a:p>
            <a:pPr marL="285750" indent="-285750">
              <a:buFontTx/>
              <a:buChar char="-"/>
            </a:pPr>
            <a:r>
              <a:rPr lang="en-US" dirty="0"/>
              <a:t>Predict resultant velocities at 9 locations in the domain</a:t>
            </a:r>
          </a:p>
          <a:p>
            <a:endParaRPr lang="en-US" dirty="0"/>
          </a:p>
          <a:p>
            <a:pPr marL="285750" indent="-285750">
              <a:buFontTx/>
              <a:buChar char="-"/>
            </a:pPr>
            <a:r>
              <a:rPr lang="en-US" dirty="0"/>
              <a:t>Infer the unknown Ux1, Uy1 such that predictions match experiments</a:t>
            </a:r>
          </a:p>
          <a:p>
            <a:pPr marL="285750" indent="-285750">
              <a:buFontTx/>
              <a:buChar char="-"/>
            </a:pPr>
            <a:r>
              <a:rPr lang="en-US" dirty="0">
                <a:solidFill>
                  <a:schemeClr val="tx2"/>
                </a:solidFill>
              </a:rPr>
              <a:t>Infer the unknown noise value</a:t>
            </a:r>
          </a:p>
        </p:txBody>
      </p:sp>
      <p:pic>
        <p:nvPicPr>
          <p:cNvPr id="34" name="Picture 33" descr="Text&#10;&#10;AI-generated content may be incorrect.">
            <a:extLst>
              <a:ext uri="{FF2B5EF4-FFF2-40B4-BE49-F238E27FC236}">
                <a16:creationId xmlns:a16="http://schemas.microsoft.com/office/drawing/2014/main" id="{9809FCEF-6BFA-0054-3957-9BD93BC99625}"/>
              </a:ext>
            </a:extLst>
          </p:cNvPr>
          <p:cNvPicPr>
            <a:picLocks noChangeAspect="1"/>
          </p:cNvPicPr>
          <p:nvPr/>
        </p:nvPicPr>
        <p:blipFill>
          <a:blip r:embed="rId6"/>
          <a:stretch>
            <a:fillRect/>
          </a:stretch>
        </p:blipFill>
        <p:spPr>
          <a:xfrm>
            <a:off x="8839660" y="4735709"/>
            <a:ext cx="2937583" cy="1249317"/>
          </a:xfrm>
          <a:prstGeom prst="rect">
            <a:avLst/>
          </a:prstGeom>
        </p:spPr>
      </p:pic>
      <p:sp>
        <p:nvSpPr>
          <p:cNvPr id="11" name="Title 1">
            <a:extLst>
              <a:ext uri="{FF2B5EF4-FFF2-40B4-BE49-F238E27FC236}">
                <a16:creationId xmlns:a16="http://schemas.microsoft.com/office/drawing/2014/main" id="{0EC66EBE-1AE1-F3F8-8088-B603F7071719}"/>
              </a:ext>
            </a:extLst>
          </p:cNvPr>
          <p:cNvSpPr>
            <a:spLocks noGrp="1"/>
          </p:cNvSpPr>
          <p:nvPr>
            <p:ph type="title"/>
          </p:nvPr>
        </p:nvSpPr>
        <p:spPr>
          <a:xfrm>
            <a:off x="938151" y="409017"/>
            <a:ext cx="10415648" cy="413463"/>
          </a:xfrm>
        </p:spPr>
        <p:txBody>
          <a:bodyPr/>
          <a:lstStyle/>
          <a:p>
            <a:r>
              <a:rPr lang="en-US" dirty="0"/>
              <a:t>Quantify model parameter + noise + model inadequacy uncertainties</a:t>
            </a:r>
          </a:p>
        </p:txBody>
      </p:sp>
      <p:pic>
        <p:nvPicPr>
          <p:cNvPr id="17" name="Picture 16" descr="Text&#10;&#10;AI-generated content may be incorrect.">
            <a:extLst>
              <a:ext uri="{FF2B5EF4-FFF2-40B4-BE49-F238E27FC236}">
                <a16:creationId xmlns:a16="http://schemas.microsoft.com/office/drawing/2014/main" id="{AA1D6A49-2035-567C-29DF-B90EC8DE1B7E}"/>
              </a:ext>
            </a:extLst>
          </p:cNvPr>
          <p:cNvPicPr>
            <a:picLocks noChangeAspect="1"/>
          </p:cNvPicPr>
          <p:nvPr/>
        </p:nvPicPr>
        <p:blipFill>
          <a:blip r:embed="rId7"/>
          <a:stretch>
            <a:fillRect/>
          </a:stretch>
        </p:blipFill>
        <p:spPr>
          <a:xfrm>
            <a:off x="4740107" y="5052679"/>
            <a:ext cx="3472197" cy="1176218"/>
          </a:xfrm>
          <a:prstGeom prst="rect">
            <a:avLst/>
          </a:prstGeom>
        </p:spPr>
      </p:pic>
    </p:spTree>
    <p:extLst>
      <p:ext uri="{BB962C8B-B14F-4D97-AF65-F5344CB8AC3E}">
        <p14:creationId xmlns:p14="http://schemas.microsoft.com/office/powerpoint/2010/main" val="8471348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8B40F-BA58-3D8E-54F2-21CC250AA8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9D1B1C-E21E-568A-8E34-6386CA568BCD}"/>
              </a:ext>
            </a:extLst>
          </p:cNvPr>
          <p:cNvSpPr>
            <a:spLocks noGrp="1"/>
          </p:cNvSpPr>
          <p:nvPr>
            <p:ph type="title"/>
          </p:nvPr>
        </p:nvSpPr>
        <p:spPr>
          <a:xfrm>
            <a:off x="888176" y="2296631"/>
            <a:ext cx="10415648" cy="1008797"/>
          </a:xfrm>
        </p:spPr>
        <p:txBody>
          <a:bodyPr/>
          <a:lstStyle/>
          <a:p>
            <a:pPr algn="ctr"/>
            <a:r>
              <a:rPr lang="en-US" dirty="0"/>
              <a:t>Part 3: Active learning and Bayesian optimization</a:t>
            </a:r>
          </a:p>
        </p:txBody>
      </p:sp>
      <p:sp>
        <p:nvSpPr>
          <p:cNvPr id="3" name="Slide Number Placeholder 2">
            <a:extLst>
              <a:ext uri="{FF2B5EF4-FFF2-40B4-BE49-F238E27FC236}">
                <a16:creationId xmlns:a16="http://schemas.microsoft.com/office/drawing/2014/main" id="{99A13F10-AD1D-4A52-4A3C-B6DAE84E6270}"/>
              </a:ext>
            </a:extLst>
          </p:cNvPr>
          <p:cNvSpPr>
            <a:spLocks noGrp="1"/>
          </p:cNvSpPr>
          <p:nvPr>
            <p:ph type="sldNum" sz="quarter" idx="12"/>
          </p:nvPr>
        </p:nvSpPr>
        <p:spPr/>
        <p:txBody>
          <a:bodyPr/>
          <a:lstStyle/>
          <a:p>
            <a:fld id="{82B577FA-F7D9-2C48-919F-F962E3BF952F}" type="slidenum">
              <a:rPr lang="en-US" smtClean="0"/>
              <a:t>24</a:t>
            </a:fld>
            <a:endParaRPr lang="en-US"/>
          </a:p>
        </p:txBody>
      </p:sp>
      <p:sp>
        <p:nvSpPr>
          <p:cNvPr id="5" name="TextBox 4">
            <a:extLst>
              <a:ext uri="{FF2B5EF4-FFF2-40B4-BE49-F238E27FC236}">
                <a16:creationId xmlns:a16="http://schemas.microsoft.com/office/drawing/2014/main" id="{EB2D3E3D-21EB-56D7-6610-5D29B3BD08A9}"/>
              </a:ext>
            </a:extLst>
          </p:cNvPr>
          <p:cNvSpPr txBox="1"/>
          <p:nvPr/>
        </p:nvSpPr>
        <p:spPr>
          <a:xfrm>
            <a:off x="1693035" y="2967335"/>
            <a:ext cx="8805930" cy="923330"/>
          </a:xfrm>
          <a:prstGeom prst="rect">
            <a:avLst/>
          </a:prstGeom>
          <a:noFill/>
        </p:spPr>
        <p:txBody>
          <a:bodyPr wrap="square">
            <a:spAutoFit/>
          </a:bodyPr>
          <a:lstStyle/>
          <a:p>
            <a:pPr marL="742950" lvl="1" indent="-285750">
              <a:buFont typeface="Arial" panose="020B0604020202020204" pitchFamily="34" charset="0"/>
              <a:buChar char="•"/>
            </a:pPr>
            <a:r>
              <a:rPr lang="en-US" sz="1800" dirty="0">
                <a:solidFill>
                  <a:schemeClr val="tx1"/>
                </a:solidFill>
              </a:rPr>
              <a:t>Training a Gaussian process surrogate with Monte Carlo sampling</a:t>
            </a:r>
          </a:p>
          <a:p>
            <a:pPr marL="742950" lvl="1" indent="-285750">
              <a:buFont typeface="Arial" panose="020B0604020202020204" pitchFamily="34" charset="0"/>
              <a:buChar char="•"/>
            </a:pPr>
            <a:r>
              <a:rPr lang="en-US" sz="1800" dirty="0">
                <a:solidFill>
                  <a:schemeClr val="tx1"/>
                </a:solidFill>
              </a:rPr>
              <a:t>Use of an acquisition function (active learning)</a:t>
            </a:r>
          </a:p>
          <a:p>
            <a:pPr marL="742950" lvl="1" indent="-285750">
              <a:buFont typeface="Arial" panose="020B0604020202020204" pitchFamily="34" charset="0"/>
              <a:buChar char="•"/>
            </a:pPr>
            <a:r>
              <a:rPr lang="en-US" sz="1800" dirty="0">
                <a:solidFill>
                  <a:schemeClr val="tx1"/>
                </a:solidFill>
              </a:rPr>
              <a:t>Solving optimization problems with Bayesian optimization</a:t>
            </a:r>
          </a:p>
        </p:txBody>
      </p:sp>
    </p:spTree>
    <p:extLst>
      <p:ext uri="{BB962C8B-B14F-4D97-AF65-F5344CB8AC3E}">
        <p14:creationId xmlns:p14="http://schemas.microsoft.com/office/powerpoint/2010/main" val="4404864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CF6A1-810A-B775-F7C5-E7232D2502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D81C28-1169-CA00-EB22-A6B84363FD6F}"/>
              </a:ext>
            </a:extLst>
          </p:cNvPr>
          <p:cNvSpPr>
            <a:spLocks noGrp="1"/>
          </p:cNvSpPr>
          <p:nvPr>
            <p:ph type="title"/>
          </p:nvPr>
        </p:nvSpPr>
        <p:spPr>
          <a:xfrm>
            <a:off x="938151" y="558602"/>
            <a:ext cx="10415648" cy="413463"/>
          </a:xfrm>
        </p:spPr>
        <p:txBody>
          <a:bodyPr/>
          <a:lstStyle/>
          <a:p>
            <a:r>
              <a:rPr lang="en-US" dirty="0"/>
              <a:t>Training and loading a Gaussian process surrogate</a:t>
            </a:r>
          </a:p>
        </p:txBody>
      </p:sp>
      <p:sp>
        <p:nvSpPr>
          <p:cNvPr id="4" name="Slide Number Placeholder 3">
            <a:extLst>
              <a:ext uri="{FF2B5EF4-FFF2-40B4-BE49-F238E27FC236}">
                <a16:creationId xmlns:a16="http://schemas.microsoft.com/office/drawing/2014/main" id="{2B580354-457A-C722-DED3-46C686BE30CD}"/>
              </a:ext>
            </a:extLst>
          </p:cNvPr>
          <p:cNvSpPr>
            <a:spLocks noGrp="1"/>
          </p:cNvSpPr>
          <p:nvPr>
            <p:ph type="sldNum" sz="quarter" idx="12"/>
          </p:nvPr>
        </p:nvSpPr>
        <p:spPr/>
        <p:txBody>
          <a:bodyPr/>
          <a:lstStyle/>
          <a:p>
            <a:fld id="{82B577FA-F7D9-2C48-919F-F962E3BF952F}" type="slidenum">
              <a:rPr lang="en-US" smtClean="0"/>
              <a:t>25</a:t>
            </a:fld>
            <a:endParaRPr lang="en-US"/>
          </a:p>
        </p:txBody>
      </p:sp>
      <p:sp>
        <p:nvSpPr>
          <p:cNvPr id="5" name="TextBox 4">
            <a:extLst>
              <a:ext uri="{FF2B5EF4-FFF2-40B4-BE49-F238E27FC236}">
                <a16:creationId xmlns:a16="http://schemas.microsoft.com/office/drawing/2014/main" id="{AF5C16B4-3D92-44B2-5A8D-C748A22A6501}"/>
              </a:ext>
            </a:extLst>
          </p:cNvPr>
          <p:cNvSpPr txBox="1"/>
          <p:nvPr/>
        </p:nvSpPr>
        <p:spPr>
          <a:xfrm>
            <a:off x="5062031" y="6550223"/>
            <a:ext cx="2067938" cy="307777"/>
          </a:xfrm>
          <a:prstGeom prst="rect">
            <a:avLst/>
          </a:prstGeom>
          <a:noFill/>
        </p:spPr>
        <p:txBody>
          <a:bodyPr wrap="none" rtlCol="0">
            <a:spAutoFit/>
          </a:bodyPr>
          <a:lstStyle/>
          <a:p>
            <a:r>
              <a:rPr lang="en-US" sz="1400" b="1" i="0" dirty="0">
                <a:solidFill>
                  <a:srgbClr val="07519E"/>
                </a:solidFill>
                <a:effectLst/>
                <a:latin typeface="Arial" panose="020B0604020202020204" pitchFamily="34" charset="0"/>
              </a:rPr>
              <a:t>Part 3: Active learning</a:t>
            </a:r>
            <a:endParaRPr lang="en-US" sz="1400" b="1" dirty="0">
              <a:solidFill>
                <a:srgbClr val="07519E"/>
              </a:solidFill>
            </a:endParaRPr>
          </a:p>
        </p:txBody>
      </p:sp>
      <p:pic>
        <p:nvPicPr>
          <p:cNvPr id="10" name="Picture 9" descr="Diagram&#10;&#10;Description automatically generated">
            <a:extLst>
              <a:ext uri="{FF2B5EF4-FFF2-40B4-BE49-F238E27FC236}">
                <a16:creationId xmlns:a16="http://schemas.microsoft.com/office/drawing/2014/main" id="{9FFC10B3-7450-3DAF-FC84-BD360AB080D8}"/>
              </a:ext>
            </a:extLst>
          </p:cNvPr>
          <p:cNvPicPr>
            <a:picLocks noChangeAspect="1"/>
          </p:cNvPicPr>
          <p:nvPr/>
        </p:nvPicPr>
        <p:blipFill>
          <a:blip r:embed="rId2"/>
          <a:stretch>
            <a:fillRect/>
          </a:stretch>
        </p:blipFill>
        <p:spPr>
          <a:xfrm>
            <a:off x="6769214" y="1692307"/>
            <a:ext cx="3809269" cy="3089546"/>
          </a:xfrm>
          <a:prstGeom prst="rect">
            <a:avLst/>
          </a:prstGeom>
        </p:spPr>
      </p:pic>
      <p:pic>
        <p:nvPicPr>
          <p:cNvPr id="14" name="Picture 13" descr="Diagram, schematic&#10;&#10;AI-generated content may be incorrect.">
            <a:extLst>
              <a:ext uri="{FF2B5EF4-FFF2-40B4-BE49-F238E27FC236}">
                <a16:creationId xmlns:a16="http://schemas.microsoft.com/office/drawing/2014/main" id="{0F2FF601-2DFE-5995-869A-B1D862DD5B3C}"/>
              </a:ext>
            </a:extLst>
          </p:cNvPr>
          <p:cNvPicPr>
            <a:picLocks noChangeAspect="1"/>
          </p:cNvPicPr>
          <p:nvPr/>
        </p:nvPicPr>
        <p:blipFill>
          <a:blip r:embed="rId3"/>
          <a:stretch>
            <a:fillRect/>
          </a:stretch>
        </p:blipFill>
        <p:spPr>
          <a:xfrm>
            <a:off x="631301" y="3017318"/>
            <a:ext cx="5020153" cy="917864"/>
          </a:xfrm>
          <a:prstGeom prst="rect">
            <a:avLst/>
          </a:prstGeom>
        </p:spPr>
      </p:pic>
      <p:pic>
        <p:nvPicPr>
          <p:cNvPr id="18" name="Picture 17" descr="Text, letter&#10;&#10;AI-generated content may be incorrect.">
            <a:extLst>
              <a:ext uri="{FF2B5EF4-FFF2-40B4-BE49-F238E27FC236}">
                <a16:creationId xmlns:a16="http://schemas.microsoft.com/office/drawing/2014/main" id="{8388DA56-925B-4AE6-BE52-A34A61E372C1}"/>
              </a:ext>
            </a:extLst>
          </p:cNvPr>
          <p:cNvPicPr>
            <a:picLocks noChangeAspect="1"/>
          </p:cNvPicPr>
          <p:nvPr/>
        </p:nvPicPr>
        <p:blipFill>
          <a:blip r:embed="rId4"/>
          <a:stretch>
            <a:fillRect/>
          </a:stretch>
        </p:blipFill>
        <p:spPr>
          <a:xfrm>
            <a:off x="155020" y="4894088"/>
            <a:ext cx="7772400" cy="1266289"/>
          </a:xfrm>
          <a:prstGeom prst="rect">
            <a:avLst/>
          </a:prstGeom>
        </p:spPr>
      </p:pic>
      <p:sp>
        <p:nvSpPr>
          <p:cNvPr id="20" name="TextBox 19">
            <a:extLst>
              <a:ext uri="{FF2B5EF4-FFF2-40B4-BE49-F238E27FC236}">
                <a16:creationId xmlns:a16="http://schemas.microsoft.com/office/drawing/2014/main" id="{CD266515-90B0-9145-2E58-02C3134D2009}"/>
              </a:ext>
            </a:extLst>
          </p:cNvPr>
          <p:cNvSpPr txBox="1"/>
          <p:nvPr/>
        </p:nvSpPr>
        <p:spPr>
          <a:xfrm>
            <a:off x="292994" y="1226597"/>
            <a:ext cx="6098146" cy="369332"/>
          </a:xfrm>
          <a:prstGeom prst="rect">
            <a:avLst/>
          </a:prstGeom>
          <a:noFill/>
        </p:spPr>
        <p:txBody>
          <a:bodyPr wrap="square">
            <a:spAutoFit/>
          </a:bodyPr>
          <a:lstStyle/>
          <a:p>
            <a:pPr algn="ctr"/>
            <a:r>
              <a:rPr lang="en-US" dirty="0"/>
              <a:t>GP is a Bayesian/probabilistic machine learning model</a:t>
            </a:r>
          </a:p>
        </p:txBody>
      </p:sp>
    </p:spTree>
    <p:extLst>
      <p:ext uri="{BB962C8B-B14F-4D97-AF65-F5344CB8AC3E}">
        <p14:creationId xmlns:p14="http://schemas.microsoft.com/office/powerpoint/2010/main" val="22491985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0EAE5-3CE6-4A58-59AF-B4A61E9F63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D64F7E-AC4C-1224-DF52-C288BACBE2A9}"/>
              </a:ext>
            </a:extLst>
          </p:cNvPr>
          <p:cNvSpPr>
            <a:spLocks noGrp="1"/>
          </p:cNvSpPr>
          <p:nvPr>
            <p:ph type="title"/>
          </p:nvPr>
        </p:nvSpPr>
        <p:spPr>
          <a:xfrm>
            <a:off x="938151" y="558602"/>
            <a:ext cx="10415648" cy="413463"/>
          </a:xfrm>
        </p:spPr>
        <p:txBody>
          <a:bodyPr/>
          <a:lstStyle/>
          <a:p>
            <a:r>
              <a:rPr lang="en-US" dirty="0"/>
              <a:t>Training and loading a Gaussian process surrogate</a:t>
            </a:r>
          </a:p>
        </p:txBody>
      </p:sp>
      <p:sp>
        <p:nvSpPr>
          <p:cNvPr id="4" name="Slide Number Placeholder 3">
            <a:extLst>
              <a:ext uri="{FF2B5EF4-FFF2-40B4-BE49-F238E27FC236}">
                <a16:creationId xmlns:a16="http://schemas.microsoft.com/office/drawing/2014/main" id="{9007572C-F448-C0B7-DCA8-DD5488D81D9C}"/>
              </a:ext>
            </a:extLst>
          </p:cNvPr>
          <p:cNvSpPr>
            <a:spLocks noGrp="1"/>
          </p:cNvSpPr>
          <p:nvPr>
            <p:ph type="sldNum" sz="quarter" idx="12"/>
          </p:nvPr>
        </p:nvSpPr>
        <p:spPr/>
        <p:txBody>
          <a:bodyPr/>
          <a:lstStyle/>
          <a:p>
            <a:fld id="{82B577FA-F7D9-2C48-919F-F962E3BF952F}" type="slidenum">
              <a:rPr lang="en-US" smtClean="0"/>
              <a:t>26</a:t>
            </a:fld>
            <a:endParaRPr lang="en-US"/>
          </a:p>
        </p:txBody>
      </p:sp>
      <p:sp>
        <p:nvSpPr>
          <p:cNvPr id="5" name="TextBox 4">
            <a:extLst>
              <a:ext uri="{FF2B5EF4-FFF2-40B4-BE49-F238E27FC236}">
                <a16:creationId xmlns:a16="http://schemas.microsoft.com/office/drawing/2014/main" id="{32584C31-8336-CC88-3315-B638493F9D2A}"/>
              </a:ext>
            </a:extLst>
          </p:cNvPr>
          <p:cNvSpPr txBox="1"/>
          <p:nvPr/>
        </p:nvSpPr>
        <p:spPr>
          <a:xfrm>
            <a:off x="5062031" y="6550223"/>
            <a:ext cx="2067938" cy="307777"/>
          </a:xfrm>
          <a:prstGeom prst="rect">
            <a:avLst/>
          </a:prstGeom>
          <a:noFill/>
        </p:spPr>
        <p:txBody>
          <a:bodyPr wrap="none" rtlCol="0">
            <a:spAutoFit/>
          </a:bodyPr>
          <a:lstStyle/>
          <a:p>
            <a:r>
              <a:rPr lang="en-US" sz="1400" b="1" i="0" dirty="0">
                <a:solidFill>
                  <a:srgbClr val="07519E"/>
                </a:solidFill>
                <a:effectLst/>
                <a:latin typeface="Arial" panose="020B0604020202020204" pitchFamily="34" charset="0"/>
              </a:rPr>
              <a:t>Part 3: Active learning</a:t>
            </a:r>
            <a:endParaRPr lang="en-US" sz="1400" b="1" dirty="0">
              <a:solidFill>
                <a:srgbClr val="07519E"/>
              </a:solidFill>
            </a:endParaRPr>
          </a:p>
        </p:txBody>
      </p:sp>
      <p:sp>
        <p:nvSpPr>
          <p:cNvPr id="3" name="Rectangle 2">
            <a:extLst>
              <a:ext uri="{FF2B5EF4-FFF2-40B4-BE49-F238E27FC236}">
                <a16:creationId xmlns:a16="http://schemas.microsoft.com/office/drawing/2014/main" id="{15429A08-73E7-C12B-9B4D-57266CEFA86B}"/>
              </a:ext>
            </a:extLst>
          </p:cNvPr>
          <p:cNvSpPr/>
          <p:nvPr/>
        </p:nvSpPr>
        <p:spPr>
          <a:xfrm>
            <a:off x="1486582" y="2181955"/>
            <a:ext cx="2197774" cy="210082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4DA0B4DE-E446-C4F5-E162-77DA8756E262}"/>
              </a:ext>
            </a:extLst>
          </p:cNvPr>
          <p:cNvCxnSpPr>
            <a:cxnSpLocks/>
          </p:cNvCxnSpPr>
          <p:nvPr/>
        </p:nvCxnSpPr>
        <p:spPr>
          <a:xfrm>
            <a:off x="1486581" y="2036747"/>
            <a:ext cx="219777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5734E53F-2749-DA8E-8FEC-517C9F3B6DF9}"/>
              </a:ext>
            </a:extLst>
          </p:cNvPr>
          <p:cNvCxnSpPr>
            <a:cxnSpLocks/>
          </p:cNvCxnSpPr>
          <p:nvPr/>
        </p:nvCxnSpPr>
        <p:spPr>
          <a:xfrm flipV="1">
            <a:off x="3837920" y="2180433"/>
            <a:ext cx="1" cy="210234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8A97A5A-55D2-0001-8664-7B30222E10E2}"/>
                  </a:ext>
                </a:extLst>
              </p:cNvPr>
              <p:cNvSpPr txBox="1"/>
              <p:nvPr/>
            </p:nvSpPr>
            <p:spPr>
              <a:xfrm>
                <a:off x="1746605" y="1628405"/>
                <a:ext cx="167772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𝑥</m:t>
                          </m:r>
                          <m:r>
                            <a:rPr lang="en-US" b="0" i="1" smtClean="0">
                              <a:latin typeface="Cambria Math" panose="02040503050406030204" pitchFamily="18" charset="0"/>
                            </a:rPr>
                            <m:t>1</m:t>
                          </m:r>
                        </m:sub>
                      </m:sSub>
                    </m:oMath>
                  </m:oMathPara>
                </a14:m>
                <a:endParaRPr lang="en-US" dirty="0"/>
              </a:p>
            </p:txBody>
          </p:sp>
        </mc:Choice>
        <mc:Fallback xmlns="">
          <p:sp>
            <p:nvSpPr>
              <p:cNvPr id="8" name="TextBox 7">
                <a:extLst>
                  <a:ext uri="{FF2B5EF4-FFF2-40B4-BE49-F238E27FC236}">
                    <a16:creationId xmlns:a16="http://schemas.microsoft.com/office/drawing/2014/main" id="{E8A97A5A-55D2-0001-8664-7B30222E10E2}"/>
                  </a:ext>
                </a:extLst>
              </p:cNvPr>
              <p:cNvSpPr txBox="1">
                <a:spLocks noRot="1" noChangeAspect="1" noMove="1" noResize="1" noEditPoints="1" noAdjustHandles="1" noChangeArrowheads="1" noChangeShapeType="1" noTextEdit="1"/>
              </p:cNvSpPr>
              <p:nvPr/>
            </p:nvSpPr>
            <p:spPr>
              <a:xfrm>
                <a:off x="1746605" y="1628405"/>
                <a:ext cx="1677725"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16336B1-F032-1AB9-B0EA-46F816FB9B53}"/>
                  </a:ext>
                </a:extLst>
              </p:cNvPr>
              <p:cNvSpPr txBox="1"/>
              <p:nvPr/>
            </p:nvSpPr>
            <p:spPr>
              <a:xfrm>
                <a:off x="3779488" y="3034212"/>
                <a:ext cx="778359" cy="39478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𝑦</m:t>
                          </m:r>
                          <m:r>
                            <a:rPr lang="en-US" b="0" i="1" smtClean="0">
                              <a:latin typeface="Cambria Math" panose="02040503050406030204" pitchFamily="18" charset="0"/>
                            </a:rPr>
                            <m:t>1</m:t>
                          </m:r>
                        </m:sub>
                      </m:sSub>
                    </m:oMath>
                  </m:oMathPara>
                </a14:m>
                <a:endParaRPr lang="en-US" dirty="0"/>
              </a:p>
            </p:txBody>
          </p:sp>
        </mc:Choice>
        <mc:Fallback xmlns="">
          <p:sp>
            <p:nvSpPr>
              <p:cNvPr id="9" name="TextBox 8">
                <a:extLst>
                  <a:ext uri="{FF2B5EF4-FFF2-40B4-BE49-F238E27FC236}">
                    <a16:creationId xmlns:a16="http://schemas.microsoft.com/office/drawing/2014/main" id="{116336B1-F032-1AB9-B0EA-46F816FB9B53}"/>
                  </a:ext>
                </a:extLst>
              </p:cNvPr>
              <p:cNvSpPr txBox="1">
                <a:spLocks noRot="1" noChangeAspect="1" noMove="1" noResize="1" noEditPoints="1" noAdjustHandles="1" noChangeArrowheads="1" noChangeShapeType="1" noTextEdit="1"/>
              </p:cNvSpPr>
              <p:nvPr/>
            </p:nvSpPr>
            <p:spPr>
              <a:xfrm>
                <a:off x="3779488" y="3034212"/>
                <a:ext cx="778359" cy="394788"/>
              </a:xfrm>
              <a:prstGeom prst="rect">
                <a:avLst/>
              </a:prstGeom>
              <a:blipFill>
                <a:blip r:embed="rId3"/>
                <a:stretch>
                  <a:fillRect b="-6250"/>
                </a:stretch>
              </a:blipFill>
            </p:spPr>
            <p:txBody>
              <a:bodyPr/>
              <a:lstStyle/>
              <a:p>
                <a:r>
                  <a:rPr lang="en-US">
                    <a:noFill/>
                  </a:rPr>
                  <a:t> </a:t>
                </a:r>
              </a:p>
            </p:txBody>
          </p:sp>
        </mc:Fallback>
      </mc:AlternateContent>
      <p:sp>
        <p:nvSpPr>
          <p:cNvPr id="11" name="Oval 10">
            <a:extLst>
              <a:ext uri="{FF2B5EF4-FFF2-40B4-BE49-F238E27FC236}">
                <a16:creationId xmlns:a16="http://schemas.microsoft.com/office/drawing/2014/main" id="{BC39180D-C31A-87AF-A7AE-A2D6B35192F5}"/>
              </a:ext>
            </a:extLst>
          </p:cNvPr>
          <p:cNvSpPr/>
          <p:nvPr/>
        </p:nvSpPr>
        <p:spPr>
          <a:xfrm>
            <a:off x="1452085" y="4226373"/>
            <a:ext cx="87465" cy="954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C7F1915-1144-1CEB-9286-FEB5A1188A52}"/>
                  </a:ext>
                </a:extLst>
              </p:cNvPr>
              <p:cNvSpPr txBox="1"/>
              <p:nvPr/>
            </p:nvSpPr>
            <p:spPr>
              <a:xfrm>
                <a:off x="1023856" y="4320647"/>
                <a:ext cx="9254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𝒑</m:t>
                      </m:r>
                      <m:r>
                        <a:rPr lang="en-US" b="1" i="1" smtClean="0">
                          <a:latin typeface="Cambria Math" panose="02040503050406030204" pitchFamily="18" charset="0"/>
                        </a:rPr>
                        <m:t>=</m:t>
                      </m:r>
                      <m:r>
                        <a:rPr lang="en-US" b="1" i="1" smtClean="0">
                          <a:latin typeface="Cambria Math" panose="02040503050406030204" pitchFamily="18" charset="0"/>
                        </a:rPr>
                        <m:t>𝟎</m:t>
                      </m:r>
                    </m:oMath>
                  </m:oMathPara>
                </a14:m>
                <a:endParaRPr lang="en-US" b="1" dirty="0"/>
              </a:p>
            </p:txBody>
          </p:sp>
        </mc:Choice>
        <mc:Fallback xmlns="">
          <p:sp>
            <p:nvSpPr>
              <p:cNvPr id="13" name="TextBox 12">
                <a:extLst>
                  <a:ext uri="{FF2B5EF4-FFF2-40B4-BE49-F238E27FC236}">
                    <a16:creationId xmlns:a16="http://schemas.microsoft.com/office/drawing/2014/main" id="{8C7F1915-1144-1CEB-9286-FEB5A1188A52}"/>
                  </a:ext>
                </a:extLst>
              </p:cNvPr>
              <p:cNvSpPr txBox="1">
                <a:spLocks noRot="1" noChangeAspect="1" noMove="1" noResize="1" noEditPoints="1" noAdjustHandles="1" noChangeArrowheads="1" noChangeShapeType="1" noTextEdit="1"/>
              </p:cNvSpPr>
              <p:nvPr/>
            </p:nvSpPr>
            <p:spPr>
              <a:xfrm>
                <a:off x="1023856" y="4320647"/>
                <a:ext cx="925450" cy="369332"/>
              </a:xfrm>
              <a:prstGeom prst="rect">
                <a:avLst/>
              </a:prstGeom>
              <a:blipFill>
                <a:blip r:embed="rId4"/>
                <a:stretch>
                  <a:fillRect b="-10000"/>
                </a:stretch>
              </a:blipFill>
            </p:spPr>
            <p:txBody>
              <a:bodyPr/>
              <a:lstStyle/>
              <a:p>
                <a:r>
                  <a:rPr lang="en-US">
                    <a:noFill/>
                  </a:rPr>
                  <a:t> </a:t>
                </a:r>
              </a:p>
            </p:txBody>
          </p:sp>
        </mc:Fallback>
      </mc:AlternateContent>
      <p:sp>
        <p:nvSpPr>
          <p:cNvPr id="15" name="Oval 14">
            <a:extLst>
              <a:ext uri="{FF2B5EF4-FFF2-40B4-BE49-F238E27FC236}">
                <a16:creationId xmlns:a16="http://schemas.microsoft.com/office/drawing/2014/main" id="{AC5EC5EA-1003-22D4-3A68-E5835D6804A0}"/>
              </a:ext>
            </a:extLst>
          </p:cNvPr>
          <p:cNvSpPr/>
          <p:nvPr/>
        </p:nvSpPr>
        <p:spPr>
          <a:xfrm>
            <a:off x="2529882" y="3180058"/>
            <a:ext cx="87465" cy="954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6A55C8B-0214-C941-7684-FD7A95CD7222}"/>
                  </a:ext>
                </a:extLst>
              </p:cNvPr>
              <p:cNvSpPr txBox="1"/>
              <p:nvPr/>
            </p:nvSpPr>
            <p:spPr>
              <a:xfrm>
                <a:off x="1691019" y="4968086"/>
                <a:ext cx="1677725" cy="6560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ad>
                        <m:radPr>
                          <m:degHide m:val="on"/>
                          <m:ctrlPr>
                            <a:rPr lang="en-US" b="1" i="1" smtClean="0">
                              <a:latin typeface="Cambria Math" panose="02040503050406030204" pitchFamily="18" charset="0"/>
                            </a:rPr>
                          </m:ctrlPr>
                        </m:radPr>
                        <m:deg/>
                        <m:e>
                          <m:sSup>
                            <m:sSupPr>
                              <m:ctrlPr>
                                <a:rPr lang="en-US" b="1" i="1" smtClean="0">
                                  <a:latin typeface="Cambria Math" panose="02040503050406030204" pitchFamily="18" charset="0"/>
                                </a:rPr>
                              </m:ctrlPr>
                            </m:sSupPr>
                            <m:e>
                              <m:sSub>
                                <m:sSubPr>
                                  <m:ctrlPr>
                                    <a:rPr lang="en-US" b="1"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𝑥</m:t>
                                  </m:r>
                                </m:sub>
                              </m:sSub>
                            </m:e>
                            <m:sup>
                              <m:r>
                                <a:rPr lang="en-US" b="1" i="1" smtClean="0">
                                  <a:latin typeface="Cambria Math" panose="02040503050406030204" pitchFamily="18" charset="0"/>
                                </a:rPr>
                                <m:t>𝟐</m:t>
                              </m:r>
                            </m:sup>
                          </m:sSup>
                          <m:r>
                            <a:rPr lang="en-US" b="1" i="1" smtClean="0">
                              <a:latin typeface="Cambria Math" panose="02040503050406030204" pitchFamily="18" charset="0"/>
                            </a:rPr>
                            <m:t>+</m:t>
                          </m:r>
                          <m:sSup>
                            <m:sSupPr>
                              <m:ctrlPr>
                                <a:rPr lang="en-US" b="1" i="1" smtClean="0">
                                  <a:latin typeface="Cambria Math" panose="02040503050406030204" pitchFamily="18" charset="0"/>
                                </a:rPr>
                              </m:ctrlPr>
                            </m:sSupPr>
                            <m:e>
                              <m:sSub>
                                <m:sSubPr>
                                  <m:ctrlPr>
                                    <a:rPr lang="en-US"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𝑦</m:t>
                                  </m:r>
                                </m:sub>
                              </m:sSub>
                            </m:e>
                            <m:sup>
                              <m:r>
                                <a:rPr lang="en-US" b="1" i="1" smtClean="0">
                                  <a:latin typeface="Cambria Math" panose="02040503050406030204" pitchFamily="18" charset="0"/>
                                </a:rPr>
                                <m:t>𝟐</m:t>
                              </m:r>
                            </m:sup>
                          </m:sSup>
                        </m:e>
                      </m:rad>
                    </m:oMath>
                  </m:oMathPara>
                </a14:m>
                <a:endParaRPr lang="en-US" b="1" dirty="0"/>
              </a:p>
            </p:txBody>
          </p:sp>
        </mc:Choice>
        <mc:Fallback xmlns="">
          <p:sp>
            <p:nvSpPr>
              <p:cNvPr id="17" name="TextBox 16">
                <a:extLst>
                  <a:ext uri="{FF2B5EF4-FFF2-40B4-BE49-F238E27FC236}">
                    <a16:creationId xmlns:a16="http://schemas.microsoft.com/office/drawing/2014/main" id="{66A55C8B-0214-C941-7684-FD7A95CD7222}"/>
                  </a:ext>
                </a:extLst>
              </p:cNvPr>
              <p:cNvSpPr txBox="1">
                <a:spLocks noRot="1" noChangeAspect="1" noMove="1" noResize="1" noEditPoints="1" noAdjustHandles="1" noChangeArrowheads="1" noChangeShapeType="1" noTextEdit="1"/>
              </p:cNvSpPr>
              <p:nvPr/>
            </p:nvSpPr>
            <p:spPr>
              <a:xfrm>
                <a:off x="1691019" y="4968086"/>
                <a:ext cx="1677725" cy="656013"/>
              </a:xfrm>
              <a:prstGeom prst="rect">
                <a:avLst/>
              </a:prstGeom>
              <a:blipFill>
                <a:blip r:embed="rId5"/>
                <a:stretch>
                  <a:fillRect/>
                </a:stretch>
              </a:blipFill>
            </p:spPr>
            <p:txBody>
              <a:bodyPr/>
              <a:lstStyle/>
              <a:p>
                <a:r>
                  <a:rPr lang="en-US">
                    <a:noFill/>
                  </a:rPr>
                  <a:t> </a:t>
                </a:r>
              </a:p>
            </p:txBody>
          </p:sp>
        </mc:Fallback>
      </mc:AlternateContent>
      <p:sp>
        <p:nvSpPr>
          <p:cNvPr id="28" name="TextBox 27">
            <a:extLst>
              <a:ext uri="{FF2B5EF4-FFF2-40B4-BE49-F238E27FC236}">
                <a16:creationId xmlns:a16="http://schemas.microsoft.com/office/drawing/2014/main" id="{E59059CD-8CCF-9AC9-8FC9-19B327167812}"/>
              </a:ext>
            </a:extLst>
          </p:cNvPr>
          <p:cNvSpPr txBox="1"/>
          <p:nvPr/>
        </p:nvSpPr>
        <p:spPr>
          <a:xfrm>
            <a:off x="6096000" y="1628405"/>
            <a:ext cx="2946380" cy="2031325"/>
          </a:xfrm>
          <a:prstGeom prst="rect">
            <a:avLst/>
          </a:prstGeom>
          <a:noFill/>
        </p:spPr>
        <p:txBody>
          <a:bodyPr wrap="square">
            <a:spAutoFit/>
          </a:bodyPr>
          <a:lstStyle/>
          <a:p>
            <a:pPr algn="ctr"/>
            <a:r>
              <a:rPr lang="en-US" b="1" dirty="0"/>
              <a:t>Training data</a:t>
            </a:r>
          </a:p>
          <a:p>
            <a:pPr marL="285750" indent="-285750">
              <a:buFontTx/>
              <a:buChar char="-"/>
            </a:pPr>
            <a:r>
              <a:rPr lang="en-US" dirty="0"/>
              <a:t>Resultant velocity at the center point in the domain</a:t>
            </a:r>
          </a:p>
          <a:p>
            <a:endParaRPr lang="en-US" dirty="0"/>
          </a:p>
          <a:p>
            <a:pPr marL="285750" indent="-285750">
              <a:buFontTx/>
              <a:buChar char="-"/>
            </a:pPr>
            <a:r>
              <a:rPr lang="en-US" dirty="0"/>
              <a:t>Ux1, Uy1</a:t>
            </a:r>
          </a:p>
          <a:p>
            <a:pPr algn="ctr"/>
            <a:r>
              <a:rPr lang="en-US" dirty="0"/>
              <a:t>(treated as variable inputs)</a:t>
            </a:r>
          </a:p>
        </p:txBody>
      </p:sp>
      <p:pic>
        <p:nvPicPr>
          <p:cNvPr id="29" name="Picture 28" descr="Text&#10;&#10;AI-generated content may be incorrect.">
            <a:extLst>
              <a:ext uri="{FF2B5EF4-FFF2-40B4-BE49-F238E27FC236}">
                <a16:creationId xmlns:a16="http://schemas.microsoft.com/office/drawing/2014/main" id="{8FF6A58A-1B45-2507-8A04-A1EE9FF8BB6E}"/>
              </a:ext>
            </a:extLst>
          </p:cNvPr>
          <p:cNvPicPr>
            <a:picLocks noChangeAspect="1"/>
          </p:cNvPicPr>
          <p:nvPr/>
        </p:nvPicPr>
        <p:blipFill>
          <a:blip r:embed="rId6"/>
          <a:stretch>
            <a:fillRect/>
          </a:stretch>
        </p:blipFill>
        <p:spPr>
          <a:xfrm>
            <a:off x="5833091" y="4316070"/>
            <a:ext cx="3472197" cy="1176218"/>
          </a:xfrm>
          <a:prstGeom prst="rect">
            <a:avLst/>
          </a:prstGeom>
        </p:spPr>
      </p:pic>
    </p:spTree>
    <p:extLst>
      <p:ext uri="{BB962C8B-B14F-4D97-AF65-F5344CB8AC3E}">
        <p14:creationId xmlns:p14="http://schemas.microsoft.com/office/powerpoint/2010/main" val="7257794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6F01A-D68F-C4CF-7136-73884422EA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D06D99-1286-A779-F0DA-816765DEB946}"/>
              </a:ext>
            </a:extLst>
          </p:cNvPr>
          <p:cNvSpPr>
            <a:spLocks noGrp="1"/>
          </p:cNvSpPr>
          <p:nvPr>
            <p:ph type="title"/>
          </p:nvPr>
        </p:nvSpPr>
        <p:spPr>
          <a:xfrm>
            <a:off x="938151" y="558602"/>
            <a:ext cx="10415648" cy="413463"/>
          </a:xfrm>
        </p:spPr>
        <p:txBody>
          <a:bodyPr/>
          <a:lstStyle/>
          <a:p>
            <a:r>
              <a:rPr lang="en-US" dirty="0"/>
              <a:t>Training and loading a Gaussian process surrogate</a:t>
            </a:r>
          </a:p>
        </p:txBody>
      </p:sp>
      <p:sp>
        <p:nvSpPr>
          <p:cNvPr id="4" name="Slide Number Placeholder 3">
            <a:extLst>
              <a:ext uri="{FF2B5EF4-FFF2-40B4-BE49-F238E27FC236}">
                <a16:creationId xmlns:a16="http://schemas.microsoft.com/office/drawing/2014/main" id="{3CA36134-72D4-59FD-1081-2C4A7AB53F46}"/>
              </a:ext>
            </a:extLst>
          </p:cNvPr>
          <p:cNvSpPr>
            <a:spLocks noGrp="1"/>
          </p:cNvSpPr>
          <p:nvPr>
            <p:ph type="sldNum" sz="quarter" idx="12"/>
          </p:nvPr>
        </p:nvSpPr>
        <p:spPr/>
        <p:txBody>
          <a:bodyPr/>
          <a:lstStyle/>
          <a:p>
            <a:fld id="{82B577FA-F7D9-2C48-919F-F962E3BF952F}" type="slidenum">
              <a:rPr lang="en-US" smtClean="0"/>
              <a:t>27</a:t>
            </a:fld>
            <a:endParaRPr lang="en-US"/>
          </a:p>
        </p:txBody>
      </p:sp>
      <p:sp>
        <p:nvSpPr>
          <p:cNvPr id="5" name="TextBox 4">
            <a:extLst>
              <a:ext uri="{FF2B5EF4-FFF2-40B4-BE49-F238E27FC236}">
                <a16:creationId xmlns:a16="http://schemas.microsoft.com/office/drawing/2014/main" id="{2626D95E-C041-4935-223B-0CC0147E6AE5}"/>
              </a:ext>
            </a:extLst>
          </p:cNvPr>
          <p:cNvSpPr txBox="1"/>
          <p:nvPr/>
        </p:nvSpPr>
        <p:spPr>
          <a:xfrm>
            <a:off x="5062031" y="6550223"/>
            <a:ext cx="2067938" cy="307777"/>
          </a:xfrm>
          <a:prstGeom prst="rect">
            <a:avLst/>
          </a:prstGeom>
          <a:noFill/>
        </p:spPr>
        <p:txBody>
          <a:bodyPr wrap="none" rtlCol="0">
            <a:spAutoFit/>
          </a:bodyPr>
          <a:lstStyle/>
          <a:p>
            <a:r>
              <a:rPr lang="en-US" sz="1400" b="1" i="0" dirty="0">
                <a:solidFill>
                  <a:srgbClr val="07519E"/>
                </a:solidFill>
                <a:effectLst/>
                <a:latin typeface="Arial" panose="020B0604020202020204" pitchFamily="34" charset="0"/>
              </a:rPr>
              <a:t>Part 3: Active learning</a:t>
            </a:r>
            <a:endParaRPr lang="en-US" sz="1400" b="1" dirty="0">
              <a:solidFill>
                <a:srgbClr val="07519E"/>
              </a:solidFill>
            </a:endParaRPr>
          </a:p>
        </p:txBody>
      </p:sp>
      <p:pic>
        <p:nvPicPr>
          <p:cNvPr id="12" name="Picture 11" descr="Text&#10;&#10;AI-generated content may be incorrect.">
            <a:extLst>
              <a:ext uri="{FF2B5EF4-FFF2-40B4-BE49-F238E27FC236}">
                <a16:creationId xmlns:a16="http://schemas.microsoft.com/office/drawing/2014/main" id="{C0AE2535-1877-8BFD-D7A9-84AE539F5E2E}"/>
              </a:ext>
            </a:extLst>
          </p:cNvPr>
          <p:cNvPicPr>
            <a:picLocks noChangeAspect="1"/>
          </p:cNvPicPr>
          <p:nvPr/>
        </p:nvPicPr>
        <p:blipFill>
          <a:blip r:embed="rId2"/>
          <a:stretch>
            <a:fillRect/>
          </a:stretch>
        </p:blipFill>
        <p:spPr>
          <a:xfrm>
            <a:off x="692479" y="1455200"/>
            <a:ext cx="1451853" cy="1973800"/>
          </a:xfrm>
          <a:prstGeom prst="rect">
            <a:avLst/>
          </a:prstGeom>
        </p:spPr>
      </p:pic>
      <p:pic>
        <p:nvPicPr>
          <p:cNvPr id="16" name="Picture 15" descr="Text&#10;&#10;AI-generated content may be incorrect.">
            <a:extLst>
              <a:ext uri="{FF2B5EF4-FFF2-40B4-BE49-F238E27FC236}">
                <a16:creationId xmlns:a16="http://schemas.microsoft.com/office/drawing/2014/main" id="{846FD691-B74E-0C21-2DC4-55101CAE4584}"/>
              </a:ext>
            </a:extLst>
          </p:cNvPr>
          <p:cNvPicPr>
            <a:picLocks noChangeAspect="1"/>
          </p:cNvPicPr>
          <p:nvPr/>
        </p:nvPicPr>
        <p:blipFill>
          <a:blip r:embed="rId3"/>
          <a:stretch>
            <a:fillRect/>
          </a:stretch>
        </p:blipFill>
        <p:spPr>
          <a:xfrm>
            <a:off x="603771" y="4094781"/>
            <a:ext cx="3088679" cy="1775194"/>
          </a:xfrm>
          <a:prstGeom prst="rect">
            <a:avLst/>
          </a:prstGeom>
        </p:spPr>
      </p:pic>
      <p:pic>
        <p:nvPicPr>
          <p:cNvPr id="19" name="Picture 18" descr="Text&#10;&#10;AI-generated content may be incorrect.">
            <a:extLst>
              <a:ext uri="{FF2B5EF4-FFF2-40B4-BE49-F238E27FC236}">
                <a16:creationId xmlns:a16="http://schemas.microsoft.com/office/drawing/2014/main" id="{483AF452-5AEB-9693-4685-4F2BED529301}"/>
              </a:ext>
            </a:extLst>
          </p:cNvPr>
          <p:cNvPicPr>
            <a:picLocks noChangeAspect="1"/>
          </p:cNvPicPr>
          <p:nvPr/>
        </p:nvPicPr>
        <p:blipFill>
          <a:blip r:embed="rId4"/>
          <a:stretch>
            <a:fillRect/>
          </a:stretch>
        </p:blipFill>
        <p:spPr>
          <a:xfrm>
            <a:off x="4040277" y="2442100"/>
            <a:ext cx="4111446" cy="1969669"/>
          </a:xfrm>
          <a:prstGeom prst="rect">
            <a:avLst/>
          </a:prstGeom>
        </p:spPr>
      </p:pic>
      <p:pic>
        <p:nvPicPr>
          <p:cNvPr id="21" name="Picture 20" descr="Text&#10;&#10;AI-generated content may be incorrect.">
            <a:extLst>
              <a:ext uri="{FF2B5EF4-FFF2-40B4-BE49-F238E27FC236}">
                <a16:creationId xmlns:a16="http://schemas.microsoft.com/office/drawing/2014/main" id="{5F0A2F8B-CC8F-83C5-AEE0-BD2F4D82FC55}"/>
              </a:ext>
            </a:extLst>
          </p:cNvPr>
          <p:cNvPicPr>
            <a:picLocks noChangeAspect="1"/>
          </p:cNvPicPr>
          <p:nvPr/>
        </p:nvPicPr>
        <p:blipFill>
          <a:blip r:embed="rId5"/>
          <a:stretch>
            <a:fillRect/>
          </a:stretch>
        </p:blipFill>
        <p:spPr>
          <a:xfrm>
            <a:off x="8888375" y="1312013"/>
            <a:ext cx="2611146" cy="1311562"/>
          </a:xfrm>
          <a:prstGeom prst="rect">
            <a:avLst/>
          </a:prstGeom>
        </p:spPr>
      </p:pic>
      <p:pic>
        <p:nvPicPr>
          <p:cNvPr id="23" name="Picture 22" descr="Text&#10;&#10;AI-generated content may be incorrect.">
            <a:extLst>
              <a:ext uri="{FF2B5EF4-FFF2-40B4-BE49-F238E27FC236}">
                <a16:creationId xmlns:a16="http://schemas.microsoft.com/office/drawing/2014/main" id="{B25B4FBA-E866-5F34-212D-508464AF2985}"/>
              </a:ext>
            </a:extLst>
          </p:cNvPr>
          <p:cNvPicPr>
            <a:picLocks noChangeAspect="1"/>
          </p:cNvPicPr>
          <p:nvPr/>
        </p:nvPicPr>
        <p:blipFill>
          <a:blip r:embed="rId6"/>
          <a:stretch>
            <a:fillRect/>
          </a:stretch>
        </p:blipFill>
        <p:spPr>
          <a:xfrm>
            <a:off x="8860820" y="3958759"/>
            <a:ext cx="3008133" cy="1455062"/>
          </a:xfrm>
          <a:prstGeom prst="rect">
            <a:avLst/>
          </a:prstGeom>
        </p:spPr>
      </p:pic>
      <p:sp>
        <p:nvSpPr>
          <p:cNvPr id="24" name="TextBox 23">
            <a:extLst>
              <a:ext uri="{FF2B5EF4-FFF2-40B4-BE49-F238E27FC236}">
                <a16:creationId xmlns:a16="http://schemas.microsoft.com/office/drawing/2014/main" id="{E3EF864D-A039-D320-C390-DAA597C1177B}"/>
              </a:ext>
            </a:extLst>
          </p:cNvPr>
          <p:cNvSpPr txBox="1"/>
          <p:nvPr/>
        </p:nvSpPr>
        <p:spPr>
          <a:xfrm>
            <a:off x="460064" y="3426934"/>
            <a:ext cx="1916682" cy="369332"/>
          </a:xfrm>
          <a:prstGeom prst="rect">
            <a:avLst/>
          </a:prstGeom>
          <a:noFill/>
        </p:spPr>
        <p:txBody>
          <a:bodyPr wrap="square">
            <a:spAutoFit/>
          </a:bodyPr>
          <a:lstStyle/>
          <a:p>
            <a:pPr algn="ctr"/>
            <a:r>
              <a:rPr lang="en-US" dirty="0"/>
              <a:t>1. Distributions</a:t>
            </a:r>
          </a:p>
        </p:txBody>
      </p:sp>
      <p:sp>
        <p:nvSpPr>
          <p:cNvPr id="25" name="TextBox 24">
            <a:extLst>
              <a:ext uri="{FF2B5EF4-FFF2-40B4-BE49-F238E27FC236}">
                <a16:creationId xmlns:a16="http://schemas.microsoft.com/office/drawing/2014/main" id="{C4150A10-4CDC-EEA2-F04F-2E5A9EB80A84}"/>
              </a:ext>
            </a:extLst>
          </p:cNvPr>
          <p:cNvSpPr txBox="1"/>
          <p:nvPr/>
        </p:nvSpPr>
        <p:spPr>
          <a:xfrm>
            <a:off x="1017554" y="5883869"/>
            <a:ext cx="1916682" cy="369332"/>
          </a:xfrm>
          <a:prstGeom prst="rect">
            <a:avLst/>
          </a:prstGeom>
          <a:noFill/>
        </p:spPr>
        <p:txBody>
          <a:bodyPr wrap="square">
            <a:spAutoFit/>
          </a:bodyPr>
          <a:lstStyle/>
          <a:p>
            <a:pPr algn="ctr"/>
            <a:r>
              <a:rPr lang="en-US" dirty="0"/>
              <a:t>2. Samplers</a:t>
            </a:r>
          </a:p>
        </p:txBody>
      </p:sp>
      <p:sp>
        <p:nvSpPr>
          <p:cNvPr id="26" name="TextBox 25">
            <a:extLst>
              <a:ext uri="{FF2B5EF4-FFF2-40B4-BE49-F238E27FC236}">
                <a16:creationId xmlns:a16="http://schemas.microsoft.com/office/drawing/2014/main" id="{0A7DFC42-39A5-CC0E-5E37-BD1D57F749D0}"/>
              </a:ext>
            </a:extLst>
          </p:cNvPr>
          <p:cNvSpPr txBox="1"/>
          <p:nvPr/>
        </p:nvSpPr>
        <p:spPr>
          <a:xfrm>
            <a:off x="5137659" y="4411769"/>
            <a:ext cx="1916682" cy="369332"/>
          </a:xfrm>
          <a:prstGeom prst="rect">
            <a:avLst/>
          </a:prstGeom>
          <a:noFill/>
        </p:spPr>
        <p:txBody>
          <a:bodyPr wrap="square">
            <a:spAutoFit/>
          </a:bodyPr>
          <a:lstStyle/>
          <a:p>
            <a:pPr algn="ctr"/>
            <a:r>
              <a:rPr lang="en-US" dirty="0"/>
              <a:t>3. Trainers</a:t>
            </a:r>
          </a:p>
        </p:txBody>
      </p:sp>
      <p:sp>
        <p:nvSpPr>
          <p:cNvPr id="27" name="TextBox 26">
            <a:extLst>
              <a:ext uri="{FF2B5EF4-FFF2-40B4-BE49-F238E27FC236}">
                <a16:creationId xmlns:a16="http://schemas.microsoft.com/office/drawing/2014/main" id="{42011974-9C6E-A6CF-C32B-57CA3108D882}"/>
              </a:ext>
            </a:extLst>
          </p:cNvPr>
          <p:cNvSpPr txBox="1"/>
          <p:nvPr/>
        </p:nvSpPr>
        <p:spPr>
          <a:xfrm>
            <a:off x="9235607" y="2623575"/>
            <a:ext cx="1916682" cy="369332"/>
          </a:xfrm>
          <a:prstGeom prst="rect">
            <a:avLst/>
          </a:prstGeom>
          <a:noFill/>
        </p:spPr>
        <p:txBody>
          <a:bodyPr wrap="square">
            <a:spAutoFit/>
          </a:bodyPr>
          <a:lstStyle/>
          <a:p>
            <a:pPr algn="ctr"/>
            <a:r>
              <a:rPr lang="en-US" dirty="0"/>
              <a:t>4. Covariance</a:t>
            </a:r>
          </a:p>
        </p:txBody>
      </p:sp>
      <p:sp>
        <p:nvSpPr>
          <p:cNvPr id="30" name="TextBox 29">
            <a:extLst>
              <a:ext uri="{FF2B5EF4-FFF2-40B4-BE49-F238E27FC236}">
                <a16:creationId xmlns:a16="http://schemas.microsoft.com/office/drawing/2014/main" id="{8D72E3D4-507B-D68F-510D-44420F0B8ADD}"/>
              </a:ext>
            </a:extLst>
          </p:cNvPr>
          <p:cNvSpPr txBox="1"/>
          <p:nvPr/>
        </p:nvSpPr>
        <p:spPr>
          <a:xfrm>
            <a:off x="9406545" y="5413821"/>
            <a:ext cx="1916682" cy="369332"/>
          </a:xfrm>
          <a:prstGeom prst="rect">
            <a:avLst/>
          </a:prstGeom>
          <a:noFill/>
        </p:spPr>
        <p:txBody>
          <a:bodyPr wrap="square">
            <a:spAutoFit/>
          </a:bodyPr>
          <a:lstStyle/>
          <a:p>
            <a:pPr algn="ctr"/>
            <a:r>
              <a:rPr lang="en-US" dirty="0"/>
              <a:t>5. Outputs</a:t>
            </a:r>
          </a:p>
        </p:txBody>
      </p:sp>
    </p:spTree>
    <p:extLst>
      <p:ext uri="{BB962C8B-B14F-4D97-AF65-F5344CB8AC3E}">
        <p14:creationId xmlns:p14="http://schemas.microsoft.com/office/powerpoint/2010/main" val="13061864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B2830-F3FE-1384-2ECD-81F9F9EDBB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59F0B1-E34E-92C3-30D5-61ACC9572501}"/>
              </a:ext>
            </a:extLst>
          </p:cNvPr>
          <p:cNvSpPr>
            <a:spLocks noGrp="1"/>
          </p:cNvSpPr>
          <p:nvPr>
            <p:ph type="title"/>
          </p:nvPr>
        </p:nvSpPr>
        <p:spPr>
          <a:xfrm>
            <a:off x="938151" y="558602"/>
            <a:ext cx="10415648" cy="413463"/>
          </a:xfrm>
        </p:spPr>
        <p:txBody>
          <a:bodyPr/>
          <a:lstStyle/>
          <a:p>
            <a:r>
              <a:rPr lang="en-US" dirty="0"/>
              <a:t>Training and loading a Gaussian process surrogate</a:t>
            </a:r>
          </a:p>
        </p:txBody>
      </p:sp>
      <p:sp>
        <p:nvSpPr>
          <p:cNvPr id="4" name="Slide Number Placeholder 3">
            <a:extLst>
              <a:ext uri="{FF2B5EF4-FFF2-40B4-BE49-F238E27FC236}">
                <a16:creationId xmlns:a16="http://schemas.microsoft.com/office/drawing/2014/main" id="{4F52817B-0E64-CA23-AFBD-F2DA20915530}"/>
              </a:ext>
            </a:extLst>
          </p:cNvPr>
          <p:cNvSpPr>
            <a:spLocks noGrp="1"/>
          </p:cNvSpPr>
          <p:nvPr>
            <p:ph type="sldNum" sz="quarter" idx="12"/>
          </p:nvPr>
        </p:nvSpPr>
        <p:spPr/>
        <p:txBody>
          <a:bodyPr/>
          <a:lstStyle/>
          <a:p>
            <a:fld id="{82B577FA-F7D9-2C48-919F-F962E3BF952F}" type="slidenum">
              <a:rPr lang="en-US" smtClean="0"/>
              <a:t>28</a:t>
            </a:fld>
            <a:endParaRPr lang="en-US"/>
          </a:p>
        </p:txBody>
      </p:sp>
      <p:sp>
        <p:nvSpPr>
          <p:cNvPr id="5" name="TextBox 4">
            <a:extLst>
              <a:ext uri="{FF2B5EF4-FFF2-40B4-BE49-F238E27FC236}">
                <a16:creationId xmlns:a16="http://schemas.microsoft.com/office/drawing/2014/main" id="{6339ADF3-FA9D-BC43-5103-26C273A3D423}"/>
              </a:ext>
            </a:extLst>
          </p:cNvPr>
          <p:cNvSpPr txBox="1"/>
          <p:nvPr/>
        </p:nvSpPr>
        <p:spPr>
          <a:xfrm>
            <a:off x="5062031" y="6550223"/>
            <a:ext cx="2067938" cy="307777"/>
          </a:xfrm>
          <a:prstGeom prst="rect">
            <a:avLst/>
          </a:prstGeom>
          <a:noFill/>
        </p:spPr>
        <p:txBody>
          <a:bodyPr wrap="none" rtlCol="0">
            <a:spAutoFit/>
          </a:bodyPr>
          <a:lstStyle/>
          <a:p>
            <a:r>
              <a:rPr lang="en-US" sz="1400" b="1" i="0" dirty="0">
                <a:solidFill>
                  <a:srgbClr val="07519E"/>
                </a:solidFill>
                <a:effectLst/>
                <a:latin typeface="Arial" panose="020B0604020202020204" pitchFamily="34" charset="0"/>
              </a:rPr>
              <a:t>Part 3: Active learning</a:t>
            </a:r>
            <a:endParaRPr lang="en-US" sz="1400" b="1" dirty="0">
              <a:solidFill>
                <a:srgbClr val="07519E"/>
              </a:solidFill>
            </a:endParaRPr>
          </a:p>
        </p:txBody>
      </p:sp>
      <p:pic>
        <p:nvPicPr>
          <p:cNvPr id="6" name="Picture 5" descr="Text&#10;&#10;AI-generated content may be incorrect.">
            <a:extLst>
              <a:ext uri="{FF2B5EF4-FFF2-40B4-BE49-F238E27FC236}">
                <a16:creationId xmlns:a16="http://schemas.microsoft.com/office/drawing/2014/main" id="{8AF668CE-57DD-6F7E-6D90-515BFB4C1C4A}"/>
              </a:ext>
            </a:extLst>
          </p:cNvPr>
          <p:cNvPicPr>
            <a:picLocks noChangeAspect="1"/>
          </p:cNvPicPr>
          <p:nvPr/>
        </p:nvPicPr>
        <p:blipFill>
          <a:blip r:embed="rId2"/>
          <a:stretch>
            <a:fillRect/>
          </a:stretch>
        </p:blipFill>
        <p:spPr>
          <a:xfrm>
            <a:off x="324188" y="2685692"/>
            <a:ext cx="3074946" cy="1486615"/>
          </a:xfrm>
          <a:prstGeom prst="rect">
            <a:avLst/>
          </a:prstGeom>
        </p:spPr>
      </p:pic>
      <p:pic>
        <p:nvPicPr>
          <p:cNvPr id="8" name="Picture 7" descr="Text&#10;&#10;AI-generated content may be incorrect.">
            <a:extLst>
              <a:ext uri="{FF2B5EF4-FFF2-40B4-BE49-F238E27FC236}">
                <a16:creationId xmlns:a16="http://schemas.microsoft.com/office/drawing/2014/main" id="{A3C33ACE-7FA7-4557-80A2-F5152219E88F}"/>
              </a:ext>
            </a:extLst>
          </p:cNvPr>
          <p:cNvPicPr>
            <a:picLocks noChangeAspect="1"/>
          </p:cNvPicPr>
          <p:nvPr/>
        </p:nvPicPr>
        <p:blipFill>
          <a:blip r:embed="rId3"/>
          <a:stretch>
            <a:fillRect/>
          </a:stretch>
        </p:blipFill>
        <p:spPr>
          <a:xfrm>
            <a:off x="8991176" y="2168665"/>
            <a:ext cx="2929927" cy="2520667"/>
          </a:xfrm>
          <a:prstGeom prst="rect">
            <a:avLst/>
          </a:prstGeom>
        </p:spPr>
      </p:pic>
      <p:pic>
        <p:nvPicPr>
          <p:cNvPr id="10" name="Picture 9" descr="Text&#10;&#10;AI-generated content may be incorrect.">
            <a:extLst>
              <a:ext uri="{FF2B5EF4-FFF2-40B4-BE49-F238E27FC236}">
                <a16:creationId xmlns:a16="http://schemas.microsoft.com/office/drawing/2014/main" id="{08F3F3B5-D36D-0486-FF1A-A2D019EF1646}"/>
              </a:ext>
            </a:extLst>
          </p:cNvPr>
          <p:cNvPicPr>
            <a:picLocks noChangeAspect="1"/>
          </p:cNvPicPr>
          <p:nvPr/>
        </p:nvPicPr>
        <p:blipFill>
          <a:blip r:embed="rId4"/>
          <a:stretch>
            <a:fillRect/>
          </a:stretch>
        </p:blipFill>
        <p:spPr>
          <a:xfrm>
            <a:off x="3805707" y="2763221"/>
            <a:ext cx="4778896" cy="1331556"/>
          </a:xfrm>
          <a:prstGeom prst="rect">
            <a:avLst/>
          </a:prstGeom>
        </p:spPr>
      </p:pic>
      <p:sp>
        <p:nvSpPr>
          <p:cNvPr id="11" name="TextBox 10">
            <a:extLst>
              <a:ext uri="{FF2B5EF4-FFF2-40B4-BE49-F238E27FC236}">
                <a16:creationId xmlns:a16="http://schemas.microsoft.com/office/drawing/2014/main" id="{C8A907E8-D8EF-E24C-96F4-95A2D1B74E7F}"/>
              </a:ext>
            </a:extLst>
          </p:cNvPr>
          <p:cNvSpPr txBox="1"/>
          <p:nvPr/>
        </p:nvSpPr>
        <p:spPr>
          <a:xfrm>
            <a:off x="709783" y="4172307"/>
            <a:ext cx="1916682" cy="646331"/>
          </a:xfrm>
          <a:prstGeom prst="rect">
            <a:avLst/>
          </a:prstGeom>
          <a:noFill/>
        </p:spPr>
        <p:txBody>
          <a:bodyPr wrap="square">
            <a:spAutoFit/>
          </a:bodyPr>
          <a:lstStyle/>
          <a:p>
            <a:pPr marL="342900" indent="-342900" algn="ctr">
              <a:buAutoNum type="arabicPeriod"/>
            </a:pPr>
            <a:r>
              <a:rPr lang="en-US" dirty="0"/>
              <a:t>Samplers</a:t>
            </a:r>
          </a:p>
          <a:p>
            <a:pPr algn="ctr"/>
            <a:r>
              <a:rPr lang="en-US" dirty="0"/>
              <a:t>Test samples</a:t>
            </a:r>
          </a:p>
        </p:txBody>
      </p:sp>
      <p:sp>
        <p:nvSpPr>
          <p:cNvPr id="12" name="TextBox 11">
            <a:extLst>
              <a:ext uri="{FF2B5EF4-FFF2-40B4-BE49-F238E27FC236}">
                <a16:creationId xmlns:a16="http://schemas.microsoft.com/office/drawing/2014/main" id="{CCE76361-55D4-143A-3ECB-9ADEE6230D08}"/>
              </a:ext>
            </a:extLst>
          </p:cNvPr>
          <p:cNvSpPr txBox="1"/>
          <p:nvPr/>
        </p:nvSpPr>
        <p:spPr>
          <a:xfrm>
            <a:off x="4655010" y="4172306"/>
            <a:ext cx="2409051" cy="646331"/>
          </a:xfrm>
          <a:prstGeom prst="rect">
            <a:avLst/>
          </a:prstGeom>
          <a:noFill/>
        </p:spPr>
        <p:txBody>
          <a:bodyPr wrap="square">
            <a:spAutoFit/>
          </a:bodyPr>
          <a:lstStyle/>
          <a:p>
            <a:pPr algn="ctr"/>
            <a:r>
              <a:rPr lang="en-US" dirty="0"/>
              <a:t>2. Surrogates</a:t>
            </a:r>
          </a:p>
          <a:p>
            <a:pPr algn="ctr"/>
            <a:r>
              <a:rPr lang="en-US" dirty="0"/>
              <a:t>Gaussian process</a:t>
            </a:r>
          </a:p>
        </p:txBody>
      </p:sp>
      <p:sp>
        <p:nvSpPr>
          <p:cNvPr id="13" name="TextBox 12">
            <a:extLst>
              <a:ext uri="{FF2B5EF4-FFF2-40B4-BE49-F238E27FC236}">
                <a16:creationId xmlns:a16="http://schemas.microsoft.com/office/drawing/2014/main" id="{AAF2A2A3-A3F1-52A0-464A-34B0C9B27256}"/>
              </a:ext>
            </a:extLst>
          </p:cNvPr>
          <p:cNvSpPr txBox="1"/>
          <p:nvPr/>
        </p:nvSpPr>
        <p:spPr>
          <a:xfrm>
            <a:off x="9251613" y="4751849"/>
            <a:ext cx="2409051" cy="923330"/>
          </a:xfrm>
          <a:prstGeom prst="rect">
            <a:avLst/>
          </a:prstGeom>
          <a:noFill/>
        </p:spPr>
        <p:txBody>
          <a:bodyPr wrap="square">
            <a:spAutoFit/>
          </a:bodyPr>
          <a:lstStyle/>
          <a:p>
            <a:pPr algn="ctr"/>
            <a:r>
              <a:rPr lang="en-US" dirty="0"/>
              <a:t>3. Reporters</a:t>
            </a:r>
          </a:p>
          <a:p>
            <a:pPr algn="ctr"/>
            <a:r>
              <a:rPr lang="en-US" dirty="0"/>
              <a:t>Evaluate pre-trained GP</a:t>
            </a:r>
          </a:p>
        </p:txBody>
      </p:sp>
    </p:spTree>
    <p:extLst>
      <p:ext uri="{BB962C8B-B14F-4D97-AF65-F5344CB8AC3E}">
        <p14:creationId xmlns:p14="http://schemas.microsoft.com/office/powerpoint/2010/main" val="6852123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3A7EC-520A-EB7A-16A3-9396EEEF46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8A5203-C823-F37B-AEE9-54BC780E24E4}"/>
              </a:ext>
            </a:extLst>
          </p:cNvPr>
          <p:cNvSpPr>
            <a:spLocks noGrp="1"/>
          </p:cNvSpPr>
          <p:nvPr>
            <p:ph type="title"/>
          </p:nvPr>
        </p:nvSpPr>
        <p:spPr>
          <a:xfrm>
            <a:off x="938151" y="558602"/>
            <a:ext cx="10415648" cy="413463"/>
          </a:xfrm>
        </p:spPr>
        <p:txBody>
          <a:bodyPr/>
          <a:lstStyle/>
          <a:p>
            <a:r>
              <a:rPr lang="en-US" dirty="0"/>
              <a:t>Training a GP with active learning</a:t>
            </a:r>
          </a:p>
        </p:txBody>
      </p:sp>
      <p:sp>
        <p:nvSpPr>
          <p:cNvPr id="4" name="Slide Number Placeholder 3">
            <a:extLst>
              <a:ext uri="{FF2B5EF4-FFF2-40B4-BE49-F238E27FC236}">
                <a16:creationId xmlns:a16="http://schemas.microsoft.com/office/drawing/2014/main" id="{CA18E7A0-F923-1235-B562-2532E3819C7D}"/>
              </a:ext>
            </a:extLst>
          </p:cNvPr>
          <p:cNvSpPr>
            <a:spLocks noGrp="1"/>
          </p:cNvSpPr>
          <p:nvPr>
            <p:ph type="sldNum" sz="quarter" idx="12"/>
          </p:nvPr>
        </p:nvSpPr>
        <p:spPr/>
        <p:txBody>
          <a:bodyPr/>
          <a:lstStyle/>
          <a:p>
            <a:fld id="{82B577FA-F7D9-2C48-919F-F962E3BF952F}" type="slidenum">
              <a:rPr lang="en-US" smtClean="0"/>
              <a:t>29</a:t>
            </a:fld>
            <a:endParaRPr lang="en-US"/>
          </a:p>
        </p:txBody>
      </p:sp>
      <p:sp>
        <p:nvSpPr>
          <p:cNvPr id="5" name="TextBox 4">
            <a:extLst>
              <a:ext uri="{FF2B5EF4-FFF2-40B4-BE49-F238E27FC236}">
                <a16:creationId xmlns:a16="http://schemas.microsoft.com/office/drawing/2014/main" id="{FBEEE450-CC89-1B86-82E5-43B027F11F9C}"/>
              </a:ext>
            </a:extLst>
          </p:cNvPr>
          <p:cNvSpPr txBox="1"/>
          <p:nvPr/>
        </p:nvSpPr>
        <p:spPr>
          <a:xfrm>
            <a:off x="5062031" y="6550223"/>
            <a:ext cx="2067938" cy="307777"/>
          </a:xfrm>
          <a:prstGeom prst="rect">
            <a:avLst/>
          </a:prstGeom>
          <a:noFill/>
        </p:spPr>
        <p:txBody>
          <a:bodyPr wrap="none" rtlCol="0">
            <a:spAutoFit/>
          </a:bodyPr>
          <a:lstStyle/>
          <a:p>
            <a:r>
              <a:rPr lang="en-US" sz="1400" b="1" i="0" dirty="0">
                <a:solidFill>
                  <a:srgbClr val="07519E"/>
                </a:solidFill>
                <a:effectLst/>
                <a:latin typeface="Arial" panose="020B0604020202020204" pitchFamily="34" charset="0"/>
              </a:rPr>
              <a:t>Part 3: Active learning</a:t>
            </a:r>
            <a:endParaRPr lang="en-US" sz="1400" b="1" dirty="0">
              <a:solidFill>
                <a:srgbClr val="07519E"/>
              </a:solidFill>
            </a:endParaRPr>
          </a:p>
        </p:txBody>
      </p:sp>
      <p:pic>
        <p:nvPicPr>
          <p:cNvPr id="8" name="Picture 7" descr="A screenshot of a computer&#10;&#10;AI-generated content may be incorrect.">
            <a:extLst>
              <a:ext uri="{FF2B5EF4-FFF2-40B4-BE49-F238E27FC236}">
                <a16:creationId xmlns:a16="http://schemas.microsoft.com/office/drawing/2014/main" id="{F2106F45-C57A-6E89-7766-D323B2682370}"/>
              </a:ext>
            </a:extLst>
          </p:cNvPr>
          <p:cNvPicPr>
            <a:picLocks noChangeAspect="1"/>
          </p:cNvPicPr>
          <p:nvPr/>
        </p:nvPicPr>
        <p:blipFill>
          <a:blip r:embed="rId2"/>
          <a:stretch>
            <a:fillRect/>
          </a:stretch>
        </p:blipFill>
        <p:spPr>
          <a:xfrm>
            <a:off x="1849185" y="1683515"/>
            <a:ext cx="7772400" cy="2287246"/>
          </a:xfrm>
          <a:prstGeom prst="rect">
            <a:avLst/>
          </a:prstGeom>
        </p:spPr>
      </p:pic>
      <p:cxnSp>
        <p:nvCxnSpPr>
          <p:cNvPr id="10" name="Straight Arrow Connector 9">
            <a:extLst>
              <a:ext uri="{FF2B5EF4-FFF2-40B4-BE49-F238E27FC236}">
                <a16:creationId xmlns:a16="http://schemas.microsoft.com/office/drawing/2014/main" id="{3CA3915A-DD0B-00ED-E835-C91D9B4F809D}"/>
              </a:ext>
            </a:extLst>
          </p:cNvPr>
          <p:cNvCxnSpPr/>
          <p:nvPr/>
        </p:nvCxnSpPr>
        <p:spPr>
          <a:xfrm>
            <a:off x="5402681" y="3970761"/>
            <a:ext cx="0" cy="52732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FEF9BEA-A5A3-777F-D0EE-6AD4C96C4C01}"/>
              </a:ext>
            </a:extLst>
          </p:cNvPr>
          <p:cNvSpPr txBox="1"/>
          <p:nvPr/>
        </p:nvSpPr>
        <p:spPr>
          <a:xfrm>
            <a:off x="4278997" y="4530746"/>
            <a:ext cx="4027863" cy="1200329"/>
          </a:xfrm>
          <a:prstGeom prst="rect">
            <a:avLst/>
          </a:prstGeom>
          <a:noFill/>
        </p:spPr>
        <p:txBody>
          <a:bodyPr wrap="square">
            <a:spAutoFit/>
          </a:bodyPr>
          <a:lstStyle/>
          <a:p>
            <a:r>
              <a:rPr lang="en-US" dirty="0"/>
              <a:t>- Global surrogate development</a:t>
            </a:r>
          </a:p>
          <a:p>
            <a:r>
              <a:rPr lang="en-US" dirty="0"/>
              <a:t>- Bayesian UQ</a:t>
            </a:r>
          </a:p>
          <a:p>
            <a:r>
              <a:rPr lang="en-US" dirty="0"/>
              <a:t>- Rare events analysis</a:t>
            </a:r>
          </a:p>
          <a:p>
            <a:r>
              <a:rPr lang="en-US" dirty="0"/>
              <a:t>- Optimization</a:t>
            </a:r>
          </a:p>
        </p:txBody>
      </p:sp>
      <p:cxnSp>
        <p:nvCxnSpPr>
          <p:cNvPr id="13" name="Straight Arrow Connector 12">
            <a:extLst>
              <a:ext uri="{FF2B5EF4-FFF2-40B4-BE49-F238E27FC236}">
                <a16:creationId xmlns:a16="http://schemas.microsoft.com/office/drawing/2014/main" id="{B3FFB3A6-AB82-E1B3-357A-B0B76CF79BC9}"/>
              </a:ext>
            </a:extLst>
          </p:cNvPr>
          <p:cNvCxnSpPr>
            <a:cxnSpLocks/>
          </p:cNvCxnSpPr>
          <p:nvPr/>
        </p:nvCxnSpPr>
        <p:spPr>
          <a:xfrm>
            <a:off x="7057616" y="3487093"/>
            <a:ext cx="1526146" cy="104365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F5BE033D-4D15-13A8-4181-43FDB1DDA8FC}"/>
              </a:ext>
            </a:extLst>
          </p:cNvPr>
          <p:cNvSpPr txBox="1"/>
          <p:nvPr/>
        </p:nvSpPr>
        <p:spPr>
          <a:xfrm>
            <a:off x="8583762" y="4484579"/>
            <a:ext cx="1988715" cy="646331"/>
          </a:xfrm>
          <a:prstGeom prst="rect">
            <a:avLst/>
          </a:prstGeom>
          <a:noFill/>
        </p:spPr>
        <p:txBody>
          <a:bodyPr wrap="square">
            <a:spAutoFit/>
          </a:bodyPr>
          <a:lstStyle/>
          <a:p>
            <a:r>
              <a:rPr lang="en-US" dirty="0"/>
              <a:t>Local penalization</a:t>
            </a:r>
          </a:p>
        </p:txBody>
      </p:sp>
    </p:spTree>
    <p:extLst>
      <p:ext uri="{BB962C8B-B14F-4D97-AF65-F5344CB8AC3E}">
        <p14:creationId xmlns:p14="http://schemas.microsoft.com/office/powerpoint/2010/main" val="4459533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A205D-D8C7-77B8-F44A-CF4088B14B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E7A324-804C-E038-1E2B-80B1D5B2769F}"/>
              </a:ext>
            </a:extLst>
          </p:cNvPr>
          <p:cNvSpPr>
            <a:spLocks noGrp="1"/>
          </p:cNvSpPr>
          <p:nvPr>
            <p:ph type="title"/>
          </p:nvPr>
        </p:nvSpPr>
        <p:spPr>
          <a:xfrm>
            <a:off x="938151" y="558602"/>
            <a:ext cx="10415648" cy="413463"/>
          </a:xfrm>
        </p:spPr>
        <p:txBody>
          <a:bodyPr/>
          <a:lstStyle/>
          <a:p>
            <a:r>
              <a:rPr lang="en-US" dirty="0"/>
              <a:t>Training a GP with active learning</a:t>
            </a:r>
          </a:p>
        </p:txBody>
      </p:sp>
      <p:sp>
        <p:nvSpPr>
          <p:cNvPr id="4" name="Slide Number Placeholder 3">
            <a:extLst>
              <a:ext uri="{FF2B5EF4-FFF2-40B4-BE49-F238E27FC236}">
                <a16:creationId xmlns:a16="http://schemas.microsoft.com/office/drawing/2014/main" id="{5C1B80F5-DA9F-8FAA-A597-C5163CB83281}"/>
              </a:ext>
            </a:extLst>
          </p:cNvPr>
          <p:cNvSpPr>
            <a:spLocks noGrp="1"/>
          </p:cNvSpPr>
          <p:nvPr>
            <p:ph type="sldNum" sz="quarter" idx="12"/>
          </p:nvPr>
        </p:nvSpPr>
        <p:spPr/>
        <p:txBody>
          <a:bodyPr/>
          <a:lstStyle/>
          <a:p>
            <a:fld id="{82B577FA-F7D9-2C48-919F-F962E3BF952F}" type="slidenum">
              <a:rPr lang="en-US" smtClean="0"/>
              <a:t>30</a:t>
            </a:fld>
            <a:endParaRPr lang="en-US"/>
          </a:p>
        </p:txBody>
      </p:sp>
      <p:sp>
        <p:nvSpPr>
          <p:cNvPr id="5" name="TextBox 4">
            <a:extLst>
              <a:ext uri="{FF2B5EF4-FFF2-40B4-BE49-F238E27FC236}">
                <a16:creationId xmlns:a16="http://schemas.microsoft.com/office/drawing/2014/main" id="{D93BF747-7621-E394-6BF3-7F86D7AB91EB}"/>
              </a:ext>
            </a:extLst>
          </p:cNvPr>
          <p:cNvSpPr txBox="1"/>
          <p:nvPr/>
        </p:nvSpPr>
        <p:spPr>
          <a:xfrm>
            <a:off x="5062031" y="6550223"/>
            <a:ext cx="2067938" cy="307777"/>
          </a:xfrm>
          <a:prstGeom prst="rect">
            <a:avLst/>
          </a:prstGeom>
          <a:noFill/>
        </p:spPr>
        <p:txBody>
          <a:bodyPr wrap="none" rtlCol="0">
            <a:spAutoFit/>
          </a:bodyPr>
          <a:lstStyle/>
          <a:p>
            <a:r>
              <a:rPr lang="en-US" sz="1400" b="1" i="0" dirty="0">
                <a:solidFill>
                  <a:srgbClr val="07519E"/>
                </a:solidFill>
                <a:effectLst/>
                <a:latin typeface="Arial" panose="020B0604020202020204" pitchFamily="34" charset="0"/>
              </a:rPr>
              <a:t>Part 3: Active learning</a:t>
            </a:r>
            <a:endParaRPr lang="en-US" sz="1400" b="1" dirty="0">
              <a:solidFill>
                <a:srgbClr val="07519E"/>
              </a:solidFill>
            </a:endParaRPr>
          </a:p>
        </p:txBody>
      </p:sp>
      <p:pic>
        <p:nvPicPr>
          <p:cNvPr id="6" name="Picture 5">
            <a:extLst>
              <a:ext uri="{FF2B5EF4-FFF2-40B4-BE49-F238E27FC236}">
                <a16:creationId xmlns:a16="http://schemas.microsoft.com/office/drawing/2014/main" id="{116E6469-BF86-C99B-E1C8-2103841C2959}"/>
              </a:ext>
            </a:extLst>
          </p:cNvPr>
          <p:cNvPicPr>
            <a:picLocks noChangeAspect="1"/>
          </p:cNvPicPr>
          <p:nvPr/>
        </p:nvPicPr>
        <p:blipFill>
          <a:blip r:embed="rId2"/>
          <a:stretch>
            <a:fillRect/>
          </a:stretch>
        </p:blipFill>
        <p:spPr>
          <a:xfrm>
            <a:off x="2209800" y="1662325"/>
            <a:ext cx="7772400" cy="4197637"/>
          </a:xfrm>
          <a:prstGeom prst="rect">
            <a:avLst/>
          </a:prstGeom>
        </p:spPr>
      </p:pic>
    </p:spTree>
    <p:extLst>
      <p:ext uri="{BB962C8B-B14F-4D97-AF65-F5344CB8AC3E}">
        <p14:creationId xmlns:p14="http://schemas.microsoft.com/office/powerpoint/2010/main" val="28472223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E93BC-C839-3D59-C28F-124BE41DB4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28A68F-7DF8-0EE3-32FD-1F612E60330B}"/>
              </a:ext>
            </a:extLst>
          </p:cNvPr>
          <p:cNvSpPr>
            <a:spLocks noGrp="1"/>
          </p:cNvSpPr>
          <p:nvPr>
            <p:ph type="title"/>
          </p:nvPr>
        </p:nvSpPr>
        <p:spPr>
          <a:xfrm>
            <a:off x="938151" y="558602"/>
            <a:ext cx="10415648" cy="413463"/>
          </a:xfrm>
        </p:spPr>
        <p:txBody>
          <a:bodyPr/>
          <a:lstStyle/>
          <a:p>
            <a:r>
              <a:rPr lang="en-US" dirty="0"/>
              <a:t>Training a GP with active learning</a:t>
            </a:r>
          </a:p>
        </p:txBody>
      </p:sp>
      <p:sp>
        <p:nvSpPr>
          <p:cNvPr id="4" name="Slide Number Placeholder 3">
            <a:extLst>
              <a:ext uri="{FF2B5EF4-FFF2-40B4-BE49-F238E27FC236}">
                <a16:creationId xmlns:a16="http://schemas.microsoft.com/office/drawing/2014/main" id="{7F097B59-06E5-1E22-16D2-56C0B583077C}"/>
              </a:ext>
            </a:extLst>
          </p:cNvPr>
          <p:cNvSpPr>
            <a:spLocks noGrp="1"/>
          </p:cNvSpPr>
          <p:nvPr>
            <p:ph type="sldNum" sz="quarter" idx="12"/>
          </p:nvPr>
        </p:nvSpPr>
        <p:spPr/>
        <p:txBody>
          <a:bodyPr/>
          <a:lstStyle/>
          <a:p>
            <a:fld id="{82B577FA-F7D9-2C48-919F-F962E3BF952F}" type="slidenum">
              <a:rPr lang="en-US" smtClean="0"/>
              <a:t>31</a:t>
            </a:fld>
            <a:endParaRPr lang="en-US"/>
          </a:p>
        </p:txBody>
      </p:sp>
      <p:sp>
        <p:nvSpPr>
          <p:cNvPr id="5" name="TextBox 4">
            <a:extLst>
              <a:ext uri="{FF2B5EF4-FFF2-40B4-BE49-F238E27FC236}">
                <a16:creationId xmlns:a16="http://schemas.microsoft.com/office/drawing/2014/main" id="{59E5CF13-98DE-C213-3045-6F03FB9E7448}"/>
              </a:ext>
            </a:extLst>
          </p:cNvPr>
          <p:cNvSpPr txBox="1"/>
          <p:nvPr/>
        </p:nvSpPr>
        <p:spPr>
          <a:xfrm>
            <a:off x="5062031" y="6550223"/>
            <a:ext cx="2067938" cy="307777"/>
          </a:xfrm>
          <a:prstGeom prst="rect">
            <a:avLst/>
          </a:prstGeom>
          <a:noFill/>
        </p:spPr>
        <p:txBody>
          <a:bodyPr wrap="none" rtlCol="0">
            <a:spAutoFit/>
          </a:bodyPr>
          <a:lstStyle/>
          <a:p>
            <a:r>
              <a:rPr lang="en-US" sz="1400" b="1" i="0" dirty="0">
                <a:solidFill>
                  <a:srgbClr val="07519E"/>
                </a:solidFill>
                <a:effectLst/>
                <a:latin typeface="Arial" panose="020B0604020202020204" pitchFamily="34" charset="0"/>
              </a:rPr>
              <a:t>Part 3: Active learning</a:t>
            </a:r>
            <a:endParaRPr lang="en-US" sz="1400" b="1" dirty="0">
              <a:solidFill>
                <a:srgbClr val="07519E"/>
              </a:solidFill>
            </a:endParaRPr>
          </a:p>
        </p:txBody>
      </p:sp>
      <p:sp>
        <p:nvSpPr>
          <p:cNvPr id="3" name="Rectangle 2">
            <a:extLst>
              <a:ext uri="{FF2B5EF4-FFF2-40B4-BE49-F238E27FC236}">
                <a16:creationId xmlns:a16="http://schemas.microsoft.com/office/drawing/2014/main" id="{1CB97CB3-E632-B22F-F361-B72B1BEBF150}"/>
              </a:ext>
            </a:extLst>
          </p:cNvPr>
          <p:cNvSpPr/>
          <p:nvPr/>
        </p:nvSpPr>
        <p:spPr>
          <a:xfrm>
            <a:off x="1486582" y="2181955"/>
            <a:ext cx="2197774" cy="210082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3DACD4A1-DCB6-DEDE-E705-AFD0CB21C4C8}"/>
              </a:ext>
            </a:extLst>
          </p:cNvPr>
          <p:cNvCxnSpPr>
            <a:cxnSpLocks/>
          </p:cNvCxnSpPr>
          <p:nvPr/>
        </p:nvCxnSpPr>
        <p:spPr>
          <a:xfrm>
            <a:off x="1486581" y="2036747"/>
            <a:ext cx="219777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F840C28F-F8EE-32AD-1828-E0AA7C05B43B}"/>
              </a:ext>
            </a:extLst>
          </p:cNvPr>
          <p:cNvCxnSpPr>
            <a:cxnSpLocks/>
          </p:cNvCxnSpPr>
          <p:nvPr/>
        </p:nvCxnSpPr>
        <p:spPr>
          <a:xfrm flipV="1">
            <a:off x="3837920" y="2180433"/>
            <a:ext cx="1" cy="210234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EADE2DB-5ABB-8E74-9A70-FBBBFBA982FC}"/>
                  </a:ext>
                </a:extLst>
              </p:cNvPr>
              <p:cNvSpPr txBox="1"/>
              <p:nvPr/>
            </p:nvSpPr>
            <p:spPr>
              <a:xfrm>
                <a:off x="1746605" y="1628405"/>
                <a:ext cx="167772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𝑥</m:t>
                          </m:r>
                          <m:r>
                            <a:rPr lang="en-US" b="0" i="1" smtClean="0">
                              <a:latin typeface="Cambria Math" panose="02040503050406030204" pitchFamily="18" charset="0"/>
                            </a:rPr>
                            <m:t>1</m:t>
                          </m:r>
                        </m:sub>
                      </m:sSub>
                    </m:oMath>
                  </m:oMathPara>
                </a14:m>
                <a:endParaRPr lang="en-US" dirty="0"/>
              </a:p>
            </p:txBody>
          </p:sp>
        </mc:Choice>
        <mc:Fallback xmlns="">
          <p:sp>
            <p:nvSpPr>
              <p:cNvPr id="8" name="TextBox 7">
                <a:extLst>
                  <a:ext uri="{FF2B5EF4-FFF2-40B4-BE49-F238E27FC236}">
                    <a16:creationId xmlns:a16="http://schemas.microsoft.com/office/drawing/2014/main" id="{8EADE2DB-5ABB-8E74-9A70-FBBBFBA982FC}"/>
                  </a:ext>
                </a:extLst>
              </p:cNvPr>
              <p:cNvSpPr txBox="1">
                <a:spLocks noRot="1" noChangeAspect="1" noMove="1" noResize="1" noEditPoints="1" noAdjustHandles="1" noChangeArrowheads="1" noChangeShapeType="1" noTextEdit="1"/>
              </p:cNvSpPr>
              <p:nvPr/>
            </p:nvSpPr>
            <p:spPr>
              <a:xfrm>
                <a:off x="1746605" y="1628405"/>
                <a:ext cx="1677725"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991D4E3-CAA6-74D2-9855-B35CF6FC5A09}"/>
                  </a:ext>
                </a:extLst>
              </p:cNvPr>
              <p:cNvSpPr txBox="1"/>
              <p:nvPr/>
            </p:nvSpPr>
            <p:spPr>
              <a:xfrm>
                <a:off x="3779488" y="3034212"/>
                <a:ext cx="778359" cy="39478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𝑦</m:t>
                          </m:r>
                          <m:r>
                            <a:rPr lang="en-US" b="0" i="1" smtClean="0">
                              <a:latin typeface="Cambria Math" panose="02040503050406030204" pitchFamily="18" charset="0"/>
                            </a:rPr>
                            <m:t>1</m:t>
                          </m:r>
                        </m:sub>
                      </m:sSub>
                    </m:oMath>
                  </m:oMathPara>
                </a14:m>
                <a:endParaRPr lang="en-US" dirty="0"/>
              </a:p>
            </p:txBody>
          </p:sp>
        </mc:Choice>
        <mc:Fallback xmlns="">
          <p:sp>
            <p:nvSpPr>
              <p:cNvPr id="9" name="TextBox 8">
                <a:extLst>
                  <a:ext uri="{FF2B5EF4-FFF2-40B4-BE49-F238E27FC236}">
                    <a16:creationId xmlns:a16="http://schemas.microsoft.com/office/drawing/2014/main" id="{9991D4E3-CAA6-74D2-9855-B35CF6FC5A09}"/>
                  </a:ext>
                </a:extLst>
              </p:cNvPr>
              <p:cNvSpPr txBox="1">
                <a:spLocks noRot="1" noChangeAspect="1" noMove="1" noResize="1" noEditPoints="1" noAdjustHandles="1" noChangeArrowheads="1" noChangeShapeType="1" noTextEdit="1"/>
              </p:cNvSpPr>
              <p:nvPr/>
            </p:nvSpPr>
            <p:spPr>
              <a:xfrm>
                <a:off x="3779488" y="3034212"/>
                <a:ext cx="778359" cy="394788"/>
              </a:xfrm>
              <a:prstGeom prst="rect">
                <a:avLst/>
              </a:prstGeom>
              <a:blipFill>
                <a:blip r:embed="rId3"/>
                <a:stretch>
                  <a:fillRect b="-6250"/>
                </a:stretch>
              </a:blipFill>
            </p:spPr>
            <p:txBody>
              <a:bodyPr/>
              <a:lstStyle/>
              <a:p>
                <a:r>
                  <a:rPr lang="en-US">
                    <a:noFill/>
                  </a:rPr>
                  <a:t> </a:t>
                </a:r>
              </a:p>
            </p:txBody>
          </p:sp>
        </mc:Fallback>
      </mc:AlternateContent>
      <p:sp>
        <p:nvSpPr>
          <p:cNvPr id="11" name="Oval 10">
            <a:extLst>
              <a:ext uri="{FF2B5EF4-FFF2-40B4-BE49-F238E27FC236}">
                <a16:creationId xmlns:a16="http://schemas.microsoft.com/office/drawing/2014/main" id="{E05627EB-9859-F35A-C56F-72321D056A7A}"/>
              </a:ext>
            </a:extLst>
          </p:cNvPr>
          <p:cNvSpPr/>
          <p:nvPr/>
        </p:nvSpPr>
        <p:spPr>
          <a:xfrm>
            <a:off x="1452085" y="4226373"/>
            <a:ext cx="87465" cy="954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122EB37-7028-AE82-FF3D-6DBFDE5123FB}"/>
                  </a:ext>
                </a:extLst>
              </p:cNvPr>
              <p:cNvSpPr txBox="1"/>
              <p:nvPr/>
            </p:nvSpPr>
            <p:spPr>
              <a:xfrm>
                <a:off x="1023856" y="4320647"/>
                <a:ext cx="9254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𝒑</m:t>
                      </m:r>
                      <m:r>
                        <a:rPr lang="en-US" b="1" i="1" smtClean="0">
                          <a:latin typeface="Cambria Math" panose="02040503050406030204" pitchFamily="18" charset="0"/>
                        </a:rPr>
                        <m:t>=</m:t>
                      </m:r>
                      <m:r>
                        <a:rPr lang="en-US" b="1" i="1" smtClean="0">
                          <a:latin typeface="Cambria Math" panose="02040503050406030204" pitchFamily="18" charset="0"/>
                        </a:rPr>
                        <m:t>𝟎</m:t>
                      </m:r>
                    </m:oMath>
                  </m:oMathPara>
                </a14:m>
                <a:endParaRPr lang="en-US" b="1" dirty="0"/>
              </a:p>
            </p:txBody>
          </p:sp>
        </mc:Choice>
        <mc:Fallback xmlns="">
          <p:sp>
            <p:nvSpPr>
              <p:cNvPr id="13" name="TextBox 12">
                <a:extLst>
                  <a:ext uri="{FF2B5EF4-FFF2-40B4-BE49-F238E27FC236}">
                    <a16:creationId xmlns:a16="http://schemas.microsoft.com/office/drawing/2014/main" id="{2122EB37-7028-AE82-FF3D-6DBFDE5123FB}"/>
                  </a:ext>
                </a:extLst>
              </p:cNvPr>
              <p:cNvSpPr txBox="1">
                <a:spLocks noRot="1" noChangeAspect="1" noMove="1" noResize="1" noEditPoints="1" noAdjustHandles="1" noChangeArrowheads="1" noChangeShapeType="1" noTextEdit="1"/>
              </p:cNvSpPr>
              <p:nvPr/>
            </p:nvSpPr>
            <p:spPr>
              <a:xfrm>
                <a:off x="1023856" y="4320647"/>
                <a:ext cx="925450" cy="369332"/>
              </a:xfrm>
              <a:prstGeom prst="rect">
                <a:avLst/>
              </a:prstGeom>
              <a:blipFill>
                <a:blip r:embed="rId4"/>
                <a:stretch>
                  <a:fillRect b="-10000"/>
                </a:stretch>
              </a:blipFill>
            </p:spPr>
            <p:txBody>
              <a:bodyPr/>
              <a:lstStyle/>
              <a:p>
                <a:r>
                  <a:rPr lang="en-US">
                    <a:noFill/>
                  </a:rPr>
                  <a:t> </a:t>
                </a:r>
              </a:p>
            </p:txBody>
          </p:sp>
        </mc:Fallback>
      </mc:AlternateContent>
      <p:sp>
        <p:nvSpPr>
          <p:cNvPr id="15" name="Oval 14">
            <a:extLst>
              <a:ext uri="{FF2B5EF4-FFF2-40B4-BE49-F238E27FC236}">
                <a16:creationId xmlns:a16="http://schemas.microsoft.com/office/drawing/2014/main" id="{AF16E351-F5D7-455F-BE3E-2CCFD3DB68B2}"/>
              </a:ext>
            </a:extLst>
          </p:cNvPr>
          <p:cNvSpPr/>
          <p:nvPr/>
        </p:nvSpPr>
        <p:spPr>
          <a:xfrm>
            <a:off x="2529882" y="3180058"/>
            <a:ext cx="87465" cy="954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58920C3-6DD3-A4C6-73D2-A8157864F0A0}"/>
                  </a:ext>
                </a:extLst>
              </p:cNvPr>
              <p:cNvSpPr txBox="1"/>
              <p:nvPr/>
            </p:nvSpPr>
            <p:spPr>
              <a:xfrm>
                <a:off x="1691019" y="4968086"/>
                <a:ext cx="1677725" cy="6560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ad>
                        <m:radPr>
                          <m:degHide m:val="on"/>
                          <m:ctrlPr>
                            <a:rPr lang="en-US" b="1" i="1" smtClean="0">
                              <a:latin typeface="Cambria Math" panose="02040503050406030204" pitchFamily="18" charset="0"/>
                            </a:rPr>
                          </m:ctrlPr>
                        </m:radPr>
                        <m:deg/>
                        <m:e>
                          <m:sSup>
                            <m:sSupPr>
                              <m:ctrlPr>
                                <a:rPr lang="en-US" b="1" i="1" smtClean="0">
                                  <a:latin typeface="Cambria Math" panose="02040503050406030204" pitchFamily="18" charset="0"/>
                                </a:rPr>
                              </m:ctrlPr>
                            </m:sSupPr>
                            <m:e>
                              <m:sSub>
                                <m:sSubPr>
                                  <m:ctrlPr>
                                    <a:rPr lang="en-US" b="1"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𝑥</m:t>
                                  </m:r>
                                </m:sub>
                              </m:sSub>
                            </m:e>
                            <m:sup>
                              <m:r>
                                <a:rPr lang="en-US" b="1" i="1" smtClean="0">
                                  <a:latin typeface="Cambria Math" panose="02040503050406030204" pitchFamily="18" charset="0"/>
                                </a:rPr>
                                <m:t>𝟐</m:t>
                              </m:r>
                            </m:sup>
                          </m:sSup>
                          <m:r>
                            <a:rPr lang="en-US" b="1" i="1" smtClean="0">
                              <a:latin typeface="Cambria Math" panose="02040503050406030204" pitchFamily="18" charset="0"/>
                            </a:rPr>
                            <m:t>+</m:t>
                          </m:r>
                          <m:sSup>
                            <m:sSupPr>
                              <m:ctrlPr>
                                <a:rPr lang="en-US" b="1" i="1" smtClean="0">
                                  <a:latin typeface="Cambria Math" panose="02040503050406030204" pitchFamily="18" charset="0"/>
                                </a:rPr>
                              </m:ctrlPr>
                            </m:sSupPr>
                            <m:e>
                              <m:sSub>
                                <m:sSubPr>
                                  <m:ctrlPr>
                                    <a:rPr lang="en-US"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𝑦</m:t>
                                  </m:r>
                                </m:sub>
                              </m:sSub>
                            </m:e>
                            <m:sup>
                              <m:r>
                                <a:rPr lang="en-US" b="1" i="1" smtClean="0">
                                  <a:latin typeface="Cambria Math" panose="02040503050406030204" pitchFamily="18" charset="0"/>
                                </a:rPr>
                                <m:t>𝟐</m:t>
                              </m:r>
                            </m:sup>
                          </m:sSup>
                        </m:e>
                      </m:rad>
                    </m:oMath>
                  </m:oMathPara>
                </a14:m>
                <a:endParaRPr lang="en-US" b="1" dirty="0"/>
              </a:p>
            </p:txBody>
          </p:sp>
        </mc:Choice>
        <mc:Fallback xmlns="">
          <p:sp>
            <p:nvSpPr>
              <p:cNvPr id="17" name="TextBox 16">
                <a:extLst>
                  <a:ext uri="{FF2B5EF4-FFF2-40B4-BE49-F238E27FC236}">
                    <a16:creationId xmlns:a16="http://schemas.microsoft.com/office/drawing/2014/main" id="{E58920C3-6DD3-A4C6-73D2-A8157864F0A0}"/>
                  </a:ext>
                </a:extLst>
              </p:cNvPr>
              <p:cNvSpPr txBox="1">
                <a:spLocks noRot="1" noChangeAspect="1" noMove="1" noResize="1" noEditPoints="1" noAdjustHandles="1" noChangeArrowheads="1" noChangeShapeType="1" noTextEdit="1"/>
              </p:cNvSpPr>
              <p:nvPr/>
            </p:nvSpPr>
            <p:spPr>
              <a:xfrm>
                <a:off x="1691019" y="4968086"/>
                <a:ext cx="1677725" cy="656013"/>
              </a:xfrm>
              <a:prstGeom prst="rect">
                <a:avLst/>
              </a:prstGeom>
              <a:blipFill>
                <a:blip r:embed="rId5"/>
                <a:stretch>
                  <a:fillRect/>
                </a:stretch>
              </a:blipFill>
            </p:spPr>
            <p:txBody>
              <a:bodyPr/>
              <a:lstStyle/>
              <a:p>
                <a:r>
                  <a:rPr lang="en-US">
                    <a:noFill/>
                  </a:rPr>
                  <a:t> </a:t>
                </a:r>
              </a:p>
            </p:txBody>
          </p:sp>
        </mc:Fallback>
      </mc:AlternateContent>
      <p:sp>
        <p:nvSpPr>
          <p:cNvPr id="28" name="TextBox 27">
            <a:extLst>
              <a:ext uri="{FF2B5EF4-FFF2-40B4-BE49-F238E27FC236}">
                <a16:creationId xmlns:a16="http://schemas.microsoft.com/office/drawing/2014/main" id="{169A3C12-2DA7-34FC-B13A-A2CD45FB574C}"/>
              </a:ext>
            </a:extLst>
          </p:cNvPr>
          <p:cNvSpPr txBox="1"/>
          <p:nvPr/>
        </p:nvSpPr>
        <p:spPr>
          <a:xfrm>
            <a:off x="5356246" y="1628405"/>
            <a:ext cx="2946380" cy="2031325"/>
          </a:xfrm>
          <a:prstGeom prst="rect">
            <a:avLst/>
          </a:prstGeom>
          <a:noFill/>
        </p:spPr>
        <p:txBody>
          <a:bodyPr wrap="square">
            <a:spAutoFit/>
          </a:bodyPr>
          <a:lstStyle/>
          <a:p>
            <a:pPr algn="ctr"/>
            <a:r>
              <a:rPr lang="en-US" b="1" dirty="0"/>
              <a:t>Training data</a:t>
            </a:r>
          </a:p>
          <a:p>
            <a:pPr marL="285750" indent="-285750">
              <a:buFontTx/>
              <a:buChar char="-"/>
            </a:pPr>
            <a:r>
              <a:rPr lang="en-US" dirty="0"/>
              <a:t>Resultant velocity at the center point in the domain</a:t>
            </a:r>
          </a:p>
          <a:p>
            <a:endParaRPr lang="en-US" dirty="0"/>
          </a:p>
          <a:p>
            <a:pPr marL="285750" indent="-285750">
              <a:buFontTx/>
              <a:buChar char="-"/>
            </a:pPr>
            <a:r>
              <a:rPr lang="en-US" dirty="0"/>
              <a:t>Ux1, Uy1</a:t>
            </a:r>
          </a:p>
          <a:p>
            <a:pPr algn="ctr"/>
            <a:r>
              <a:rPr lang="en-US" dirty="0"/>
              <a:t>(treated as variable inputs)</a:t>
            </a:r>
          </a:p>
        </p:txBody>
      </p:sp>
      <p:pic>
        <p:nvPicPr>
          <p:cNvPr id="29" name="Picture 28" descr="Text&#10;&#10;AI-generated content may be incorrect.">
            <a:extLst>
              <a:ext uri="{FF2B5EF4-FFF2-40B4-BE49-F238E27FC236}">
                <a16:creationId xmlns:a16="http://schemas.microsoft.com/office/drawing/2014/main" id="{EEAC319B-44CE-08A5-1866-1D08DDDDA5B2}"/>
              </a:ext>
            </a:extLst>
          </p:cNvPr>
          <p:cNvPicPr>
            <a:picLocks noChangeAspect="1"/>
          </p:cNvPicPr>
          <p:nvPr/>
        </p:nvPicPr>
        <p:blipFill>
          <a:blip r:embed="rId6"/>
          <a:stretch>
            <a:fillRect/>
          </a:stretch>
        </p:blipFill>
        <p:spPr>
          <a:xfrm>
            <a:off x="5093337" y="4316070"/>
            <a:ext cx="3472197" cy="1176218"/>
          </a:xfrm>
          <a:prstGeom prst="rect">
            <a:avLst/>
          </a:prstGeom>
        </p:spPr>
      </p:pic>
      <p:sp>
        <p:nvSpPr>
          <p:cNvPr id="10" name="TextBox 9">
            <a:extLst>
              <a:ext uri="{FF2B5EF4-FFF2-40B4-BE49-F238E27FC236}">
                <a16:creationId xmlns:a16="http://schemas.microsoft.com/office/drawing/2014/main" id="{BBA6B3FA-D759-57DF-6EA0-E9FE0876BE52}"/>
              </a:ext>
            </a:extLst>
          </p:cNvPr>
          <p:cNvSpPr txBox="1"/>
          <p:nvPr/>
        </p:nvSpPr>
        <p:spPr>
          <a:xfrm>
            <a:off x="9491729" y="2967335"/>
            <a:ext cx="2825258" cy="923330"/>
          </a:xfrm>
          <a:prstGeom prst="rect">
            <a:avLst/>
          </a:prstGeom>
          <a:noFill/>
        </p:spPr>
        <p:txBody>
          <a:bodyPr wrap="square">
            <a:spAutoFit/>
          </a:bodyPr>
          <a:lstStyle/>
          <a:p>
            <a:r>
              <a:rPr lang="en-US" b="1" dirty="0"/>
              <a:t>Acquisition function:</a:t>
            </a:r>
            <a:r>
              <a:rPr lang="en-US" dirty="0"/>
              <a:t> Expected Improvement for Global Fit (EIGF)</a:t>
            </a:r>
          </a:p>
        </p:txBody>
      </p:sp>
    </p:spTree>
    <p:extLst>
      <p:ext uri="{BB962C8B-B14F-4D97-AF65-F5344CB8AC3E}">
        <p14:creationId xmlns:p14="http://schemas.microsoft.com/office/powerpoint/2010/main" val="2797751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4F7A7-1C9B-0BCA-4D02-1A3E54C7AE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298E24-7783-0371-E1D8-041B783CC48B}"/>
              </a:ext>
            </a:extLst>
          </p:cNvPr>
          <p:cNvSpPr>
            <a:spLocks noGrp="1"/>
          </p:cNvSpPr>
          <p:nvPr>
            <p:ph type="title"/>
          </p:nvPr>
        </p:nvSpPr>
        <p:spPr>
          <a:xfrm>
            <a:off x="938151" y="558602"/>
            <a:ext cx="10415648" cy="413463"/>
          </a:xfrm>
        </p:spPr>
        <p:txBody>
          <a:bodyPr/>
          <a:lstStyle/>
          <a:p>
            <a:r>
              <a:rPr lang="en-US" dirty="0"/>
              <a:t>Training a GP with active learning</a:t>
            </a:r>
          </a:p>
        </p:txBody>
      </p:sp>
      <p:sp>
        <p:nvSpPr>
          <p:cNvPr id="4" name="Slide Number Placeholder 3">
            <a:extLst>
              <a:ext uri="{FF2B5EF4-FFF2-40B4-BE49-F238E27FC236}">
                <a16:creationId xmlns:a16="http://schemas.microsoft.com/office/drawing/2014/main" id="{C26B9B89-685E-A415-2CB4-EE15140CE736}"/>
              </a:ext>
            </a:extLst>
          </p:cNvPr>
          <p:cNvSpPr>
            <a:spLocks noGrp="1"/>
          </p:cNvSpPr>
          <p:nvPr>
            <p:ph type="sldNum" sz="quarter" idx="12"/>
          </p:nvPr>
        </p:nvSpPr>
        <p:spPr/>
        <p:txBody>
          <a:bodyPr/>
          <a:lstStyle/>
          <a:p>
            <a:fld id="{82B577FA-F7D9-2C48-919F-F962E3BF952F}" type="slidenum">
              <a:rPr lang="en-US" smtClean="0"/>
              <a:t>32</a:t>
            </a:fld>
            <a:endParaRPr lang="en-US"/>
          </a:p>
        </p:txBody>
      </p:sp>
      <p:sp>
        <p:nvSpPr>
          <p:cNvPr id="5" name="TextBox 4">
            <a:extLst>
              <a:ext uri="{FF2B5EF4-FFF2-40B4-BE49-F238E27FC236}">
                <a16:creationId xmlns:a16="http://schemas.microsoft.com/office/drawing/2014/main" id="{F4F905F5-408F-DC1B-F2FC-83D5B7E79A46}"/>
              </a:ext>
            </a:extLst>
          </p:cNvPr>
          <p:cNvSpPr txBox="1"/>
          <p:nvPr/>
        </p:nvSpPr>
        <p:spPr>
          <a:xfrm>
            <a:off x="5062031" y="6550223"/>
            <a:ext cx="2067938" cy="307777"/>
          </a:xfrm>
          <a:prstGeom prst="rect">
            <a:avLst/>
          </a:prstGeom>
          <a:noFill/>
        </p:spPr>
        <p:txBody>
          <a:bodyPr wrap="none" rtlCol="0">
            <a:spAutoFit/>
          </a:bodyPr>
          <a:lstStyle/>
          <a:p>
            <a:r>
              <a:rPr lang="en-US" sz="1400" b="1" i="0" dirty="0">
                <a:solidFill>
                  <a:srgbClr val="07519E"/>
                </a:solidFill>
                <a:effectLst/>
                <a:latin typeface="Arial" panose="020B0604020202020204" pitchFamily="34" charset="0"/>
              </a:rPr>
              <a:t>Part 3: Active learning</a:t>
            </a:r>
            <a:endParaRPr lang="en-US" sz="1400" b="1" dirty="0">
              <a:solidFill>
                <a:srgbClr val="07519E"/>
              </a:solidFill>
            </a:endParaRPr>
          </a:p>
        </p:txBody>
      </p:sp>
      <p:pic>
        <p:nvPicPr>
          <p:cNvPr id="6" name="Picture 5" descr="Text&#10;&#10;AI-generated content may be incorrect.">
            <a:extLst>
              <a:ext uri="{FF2B5EF4-FFF2-40B4-BE49-F238E27FC236}">
                <a16:creationId xmlns:a16="http://schemas.microsoft.com/office/drawing/2014/main" id="{82DB7241-7D09-1160-64A6-61C53EEC7077}"/>
              </a:ext>
            </a:extLst>
          </p:cNvPr>
          <p:cNvPicPr>
            <a:picLocks noChangeAspect="1"/>
          </p:cNvPicPr>
          <p:nvPr/>
        </p:nvPicPr>
        <p:blipFill>
          <a:blip r:embed="rId2"/>
          <a:stretch>
            <a:fillRect/>
          </a:stretch>
        </p:blipFill>
        <p:spPr>
          <a:xfrm>
            <a:off x="303638" y="1459606"/>
            <a:ext cx="3729242" cy="2075645"/>
          </a:xfrm>
          <a:prstGeom prst="rect">
            <a:avLst/>
          </a:prstGeom>
        </p:spPr>
      </p:pic>
      <p:pic>
        <p:nvPicPr>
          <p:cNvPr id="9" name="Picture 8" descr="Text&#10;&#10;AI-generated content may be incorrect.">
            <a:extLst>
              <a:ext uri="{FF2B5EF4-FFF2-40B4-BE49-F238E27FC236}">
                <a16:creationId xmlns:a16="http://schemas.microsoft.com/office/drawing/2014/main" id="{82251D31-FC9E-DCEE-2AA6-1CC6E0D8CB42}"/>
              </a:ext>
            </a:extLst>
          </p:cNvPr>
          <p:cNvPicPr>
            <a:picLocks noChangeAspect="1"/>
          </p:cNvPicPr>
          <p:nvPr/>
        </p:nvPicPr>
        <p:blipFill>
          <a:blip r:embed="rId3"/>
          <a:stretch>
            <a:fillRect/>
          </a:stretch>
        </p:blipFill>
        <p:spPr>
          <a:xfrm>
            <a:off x="499506" y="4496174"/>
            <a:ext cx="3337506" cy="1035778"/>
          </a:xfrm>
          <a:prstGeom prst="rect">
            <a:avLst/>
          </a:prstGeom>
        </p:spPr>
      </p:pic>
      <p:pic>
        <p:nvPicPr>
          <p:cNvPr id="11" name="Picture 10" descr="Text&#10;&#10;AI-generated content may be incorrect.">
            <a:extLst>
              <a:ext uri="{FF2B5EF4-FFF2-40B4-BE49-F238E27FC236}">
                <a16:creationId xmlns:a16="http://schemas.microsoft.com/office/drawing/2014/main" id="{B9A48B93-398C-1F68-CCD0-AD685721648C}"/>
              </a:ext>
            </a:extLst>
          </p:cNvPr>
          <p:cNvPicPr>
            <a:picLocks noChangeAspect="1"/>
          </p:cNvPicPr>
          <p:nvPr/>
        </p:nvPicPr>
        <p:blipFill>
          <a:blip r:embed="rId4"/>
          <a:stretch>
            <a:fillRect/>
          </a:stretch>
        </p:blipFill>
        <p:spPr>
          <a:xfrm>
            <a:off x="4297786" y="3864874"/>
            <a:ext cx="4991100" cy="2241550"/>
          </a:xfrm>
          <a:prstGeom prst="rect">
            <a:avLst/>
          </a:prstGeom>
        </p:spPr>
      </p:pic>
      <p:pic>
        <p:nvPicPr>
          <p:cNvPr id="13" name="Picture 12" descr="Text&#10;&#10;AI-generated content may be incorrect.">
            <a:extLst>
              <a:ext uri="{FF2B5EF4-FFF2-40B4-BE49-F238E27FC236}">
                <a16:creationId xmlns:a16="http://schemas.microsoft.com/office/drawing/2014/main" id="{8DBE6051-6AAE-1D27-EC79-32C3FD27D827}"/>
              </a:ext>
            </a:extLst>
          </p:cNvPr>
          <p:cNvPicPr>
            <a:picLocks noChangeAspect="1"/>
          </p:cNvPicPr>
          <p:nvPr/>
        </p:nvPicPr>
        <p:blipFill>
          <a:blip r:embed="rId5"/>
          <a:stretch>
            <a:fillRect/>
          </a:stretch>
        </p:blipFill>
        <p:spPr>
          <a:xfrm>
            <a:off x="4535867" y="1111433"/>
            <a:ext cx="4131615" cy="2065808"/>
          </a:xfrm>
          <a:prstGeom prst="rect">
            <a:avLst/>
          </a:prstGeom>
        </p:spPr>
      </p:pic>
      <p:pic>
        <p:nvPicPr>
          <p:cNvPr id="15" name="Picture 14" descr="Text&#10;&#10;AI-generated content may be incorrect.">
            <a:extLst>
              <a:ext uri="{FF2B5EF4-FFF2-40B4-BE49-F238E27FC236}">
                <a16:creationId xmlns:a16="http://schemas.microsoft.com/office/drawing/2014/main" id="{E368E80A-5B11-79AD-3085-4E724910C5E2}"/>
              </a:ext>
            </a:extLst>
          </p:cNvPr>
          <p:cNvPicPr>
            <a:picLocks noChangeAspect="1"/>
          </p:cNvPicPr>
          <p:nvPr/>
        </p:nvPicPr>
        <p:blipFill>
          <a:blip r:embed="rId6"/>
          <a:stretch>
            <a:fillRect/>
          </a:stretch>
        </p:blipFill>
        <p:spPr>
          <a:xfrm>
            <a:off x="8995893" y="1722688"/>
            <a:ext cx="3125273" cy="1312937"/>
          </a:xfrm>
          <a:prstGeom prst="rect">
            <a:avLst/>
          </a:prstGeom>
        </p:spPr>
      </p:pic>
      <p:sp>
        <p:nvSpPr>
          <p:cNvPr id="16" name="TextBox 15">
            <a:extLst>
              <a:ext uri="{FF2B5EF4-FFF2-40B4-BE49-F238E27FC236}">
                <a16:creationId xmlns:a16="http://schemas.microsoft.com/office/drawing/2014/main" id="{325064C2-F298-D952-F944-1381CDE9F6F8}"/>
              </a:ext>
            </a:extLst>
          </p:cNvPr>
          <p:cNvSpPr txBox="1"/>
          <p:nvPr/>
        </p:nvSpPr>
        <p:spPr>
          <a:xfrm>
            <a:off x="636218" y="3535251"/>
            <a:ext cx="3064081" cy="646331"/>
          </a:xfrm>
          <a:prstGeom prst="rect">
            <a:avLst/>
          </a:prstGeom>
          <a:noFill/>
        </p:spPr>
        <p:txBody>
          <a:bodyPr wrap="square">
            <a:spAutoFit/>
          </a:bodyPr>
          <a:lstStyle/>
          <a:p>
            <a:pPr algn="ctr"/>
            <a:r>
              <a:rPr lang="en-US" dirty="0"/>
              <a:t>1. Sampler</a:t>
            </a:r>
          </a:p>
          <a:p>
            <a:pPr algn="ctr"/>
            <a:r>
              <a:rPr lang="en-US" dirty="0"/>
              <a:t>Active learning sampler</a:t>
            </a:r>
          </a:p>
        </p:txBody>
      </p:sp>
      <p:sp>
        <p:nvSpPr>
          <p:cNvPr id="17" name="TextBox 16">
            <a:extLst>
              <a:ext uri="{FF2B5EF4-FFF2-40B4-BE49-F238E27FC236}">
                <a16:creationId xmlns:a16="http://schemas.microsoft.com/office/drawing/2014/main" id="{E4B066DA-0000-C77F-6C5F-41D4F4BC1836}"/>
              </a:ext>
            </a:extLst>
          </p:cNvPr>
          <p:cNvSpPr txBox="1"/>
          <p:nvPr/>
        </p:nvSpPr>
        <p:spPr>
          <a:xfrm>
            <a:off x="5062031" y="3194304"/>
            <a:ext cx="3064081" cy="646331"/>
          </a:xfrm>
          <a:prstGeom prst="rect">
            <a:avLst/>
          </a:prstGeom>
          <a:noFill/>
        </p:spPr>
        <p:txBody>
          <a:bodyPr wrap="square">
            <a:spAutoFit/>
          </a:bodyPr>
          <a:lstStyle/>
          <a:p>
            <a:pPr algn="ctr"/>
            <a:r>
              <a:rPr lang="en-US" dirty="0"/>
              <a:t>3. Trainers</a:t>
            </a:r>
          </a:p>
          <a:p>
            <a:pPr algn="ctr"/>
            <a:r>
              <a:rPr lang="en-US" dirty="0"/>
              <a:t>GP active learning trainer</a:t>
            </a:r>
          </a:p>
        </p:txBody>
      </p:sp>
      <p:sp>
        <p:nvSpPr>
          <p:cNvPr id="18" name="TextBox 17">
            <a:extLst>
              <a:ext uri="{FF2B5EF4-FFF2-40B4-BE49-F238E27FC236}">
                <a16:creationId xmlns:a16="http://schemas.microsoft.com/office/drawing/2014/main" id="{32C4059A-6375-927A-8789-5360A8DE346F}"/>
              </a:ext>
            </a:extLst>
          </p:cNvPr>
          <p:cNvSpPr txBox="1"/>
          <p:nvPr/>
        </p:nvSpPr>
        <p:spPr>
          <a:xfrm>
            <a:off x="9057085" y="3105834"/>
            <a:ext cx="3064081" cy="646331"/>
          </a:xfrm>
          <a:prstGeom prst="rect">
            <a:avLst/>
          </a:prstGeom>
          <a:noFill/>
        </p:spPr>
        <p:txBody>
          <a:bodyPr wrap="square">
            <a:spAutoFit/>
          </a:bodyPr>
          <a:lstStyle/>
          <a:p>
            <a:pPr algn="ctr"/>
            <a:r>
              <a:rPr lang="en-US" dirty="0"/>
              <a:t>4. Surrogates</a:t>
            </a:r>
          </a:p>
          <a:p>
            <a:pPr algn="ctr"/>
            <a:r>
              <a:rPr lang="en-US" dirty="0"/>
              <a:t>Evaluate a GP surrogate</a:t>
            </a:r>
          </a:p>
        </p:txBody>
      </p:sp>
      <p:sp>
        <p:nvSpPr>
          <p:cNvPr id="19" name="TextBox 18">
            <a:extLst>
              <a:ext uri="{FF2B5EF4-FFF2-40B4-BE49-F238E27FC236}">
                <a16:creationId xmlns:a16="http://schemas.microsoft.com/office/drawing/2014/main" id="{C9FD9E27-A41E-D100-1E17-6487E90291AE}"/>
              </a:ext>
            </a:extLst>
          </p:cNvPr>
          <p:cNvSpPr txBox="1"/>
          <p:nvPr/>
        </p:nvSpPr>
        <p:spPr>
          <a:xfrm>
            <a:off x="9057085" y="4608622"/>
            <a:ext cx="3064081" cy="923330"/>
          </a:xfrm>
          <a:prstGeom prst="rect">
            <a:avLst/>
          </a:prstGeom>
          <a:noFill/>
        </p:spPr>
        <p:txBody>
          <a:bodyPr wrap="square">
            <a:spAutoFit/>
          </a:bodyPr>
          <a:lstStyle/>
          <a:p>
            <a:pPr algn="ctr"/>
            <a:r>
              <a:rPr lang="en-US" dirty="0"/>
              <a:t>5. Reporters</a:t>
            </a:r>
          </a:p>
          <a:p>
            <a:pPr algn="ctr"/>
            <a:r>
              <a:rPr lang="en-US" dirty="0"/>
              <a:t>Active learning decision making</a:t>
            </a:r>
          </a:p>
        </p:txBody>
      </p:sp>
      <p:sp>
        <p:nvSpPr>
          <p:cNvPr id="20" name="TextBox 19">
            <a:extLst>
              <a:ext uri="{FF2B5EF4-FFF2-40B4-BE49-F238E27FC236}">
                <a16:creationId xmlns:a16="http://schemas.microsoft.com/office/drawing/2014/main" id="{DD682C30-8C98-2921-D86C-20B9138AE08B}"/>
              </a:ext>
            </a:extLst>
          </p:cNvPr>
          <p:cNvSpPr txBox="1"/>
          <p:nvPr/>
        </p:nvSpPr>
        <p:spPr>
          <a:xfrm>
            <a:off x="589448" y="5570645"/>
            <a:ext cx="3064081" cy="369332"/>
          </a:xfrm>
          <a:prstGeom prst="rect">
            <a:avLst/>
          </a:prstGeom>
          <a:noFill/>
        </p:spPr>
        <p:txBody>
          <a:bodyPr wrap="square">
            <a:spAutoFit/>
          </a:bodyPr>
          <a:lstStyle/>
          <a:p>
            <a:pPr algn="ctr"/>
            <a:r>
              <a:rPr lang="en-US" dirty="0"/>
              <a:t>2. </a:t>
            </a:r>
            <a:r>
              <a:rPr lang="en-US" dirty="0" err="1"/>
              <a:t>ParallelAcquisition</a:t>
            </a:r>
            <a:endParaRPr lang="en-US" dirty="0"/>
          </a:p>
        </p:txBody>
      </p:sp>
    </p:spTree>
    <p:extLst>
      <p:ext uri="{BB962C8B-B14F-4D97-AF65-F5344CB8AC3E}">
        <p14:creationId xmlns:p14="http://schemas.microsoft.com/office/powerpoint/2010/main" val="42869062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ADC25-CC0B-5C41-D4A4-6F682810E4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D0950B-53A8-B058-C4CF-14CF7EFA18CB}"/>
              </a:ext>
            </a:extLst>
          </p:cNvPr>
          <p:cNvSpPr>
            <a:spLocks noGrp="1"/>
          </p:cNvSpPr>
          <p:nvPr>
            <p:ph type="title"/>
          </p:nvPr>
        </p:nvSpPr>
        <p:spPr>
          <a:xfrm>
            <a:off x="938151" y="558602"/>
            <a:ext cx="10415648" cy="413463"/>
          </a:xfrm>
        </p:spPr>
        <p:txBody>
          <a:bodyPr/>
          <a:lstStyle/>
          <a:p>
            <a:r>
              <a:rPr lang="en-US" dirty="0"/>
              <a:t>Bayesian optimization</a:t>
            </a:r>
          </a:p>
        </p:txBody>
      </p:sp>
      <p:sp>
        <p:nvSpPr>
          <p:cNvPr id="4" name="Slide Number Placeholder 3">
            <a:extLst>
              <a:ext uri="{FF2B5EF4-FFF2-40B4-BE49-F238E27FC236}">
                <a16:creationId xmlns:a16="http://schemas.microsoft.com/office/drawing/2014/main" id="{5F6E8F4B-FDE8-2739-630A-B0A7C623ADB6}"/>
              </a:ext>
            </a:extLst>
          </p:cNvPr>
          <p:cNvSpPr>
            <a:spLocks noGrp="1"/>
          </p:cNvSpPr>
          <p:nvPr>
            <p:ph type="sldNum" sz="quarter" idx="12"/>
          </p:nvPr>
        </p:nvSpPr>
        <p:spPr/>
        <p:txBody>
          <a:bodyPr/>
          <a:lstStyle/>
          <a:p>
            <a:fld id="{82B577FA-F7D9-2C48-919F-F962E3BF952F}" type="slidenum">
              <a:rPr lang="en-US" smtClean="0"/>
              <a:t>33</a:t>
            </a:fld>
            <a:endParaRPr lang="en-US"/>
          </a:p>
        </p:txBody>
      </p:sp>
      <p:sp>
        <p:nvSpPr>
          <p:cNvPr id="5" name="TextBox 4">
            <a:extLst>
              <a:ext uri="{FF2B5EF4-FFF2-40B4-BE49-F238E27FC236}">
                <a16:creationId xmlns:a16="http://schemas.microsoft.com/office/drawing/2014/main" id="{5A9D68E6-E593-7F37-9C0D-59F9F74B518D}"/>
              </a:ext>
            </a:extLst>
          </p:cNvPr>
          <p:cNvSpPr txBox="1"/>
          <p:nvPr/>
        </p:nvSpPr>
        <p:spPr>
          <a:xfrm>
            <a:off x="5062031" y="6550223"/>
            <a:ext cx="2067938" cy="307777"/>
          </a:xfrm>
          <a:prstGeom prst="rect">
            <a:avLst/>
          </a:prstGeom>
          <a:noFill/>
        </p:spPr>
        <p:txBody>
          <a:bodyPr wrap="none" rtlCol="0">
            <a:spAutoFit/>
          </a:bodyPr>
          <a:lstStyle/>
          <a:p>
            <a:r>
              <a:rPr lang="en-US" sz="1400" b="1" i="0" dirty="0">
                <a:solidFill>
                  <a:srgbClr val="07519E"/>
                </a:solidFill>
                <a:effectLst/>
                <a:latin typeface="Arial" panose="020B0604020202020204" pitchFamily="34" charset="0"/>
              </a:rPr>
              <a:t>Part 3: Active learning</a:t>
            </a:r>
            <a:endParaRPr lang="en-US" sz="1400" b="1" dirty="0">
              <a:solidFill>
                <a:srgbClr val="07519E"/>
              </a:solidFill>
            </a:endParaRPr>
          </a:p>
        </p:txBody>
      </p:sp>
      <p:sp>
        <p:nvSpPr>
          <p:cNvPr id="3" name="Rectangle 2">
            <a:extLst>
              <a:ext uri="{FF2B5EF4-FFF2-40B4-BE49-F238E27FC236}">
                <a16:creationId xmlns:a16="http://schemas.microsoft.com/office/drawing/2014/main" id="{04C80E41-4ED7-0E0C-6AEA-A56BF397B5F5}"/>
              </a:ext>
            </a:extLst>
          </p:cNvPr>
          <p:cNvSpPr/>
          <p:nvPr/>
        </p:nvSpPr>
        <p:spPr>
          <a:xfrm>
            <a:off x="1486582" y="2181955"/>
            <a:ext cx="2197774" cy="210082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0E4B2035-FFA7-3AF0-8B23-0C3C7B88AF10}"/>
              </a:ext>
            </a:extLst>
          </p:cNvPr>
          <p:cNvCxnSpPr>
            <a:cxnSpLocks/>
          </p:cNvCxnSpPr>
          <p:nvPr/>
        </p:nvCxnSpPr>
        <p:spPr>
          <a:xfrm>
            <a:off x="1486581" y="2036747"/>
            <a:ext cx="219777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5BD63521-6276-FE44-C293-ADF5F92F726E}"/>
              </a:ext>
            </a:extLst>
          </p:cNvPr>
          <p:cNvCxnSpPr>
            <a:cxnSpLocks/>
          </p:cNvCxnSpPr>
          <p:nvPr/>
        </p:nvCxnSpPr>
        <p:spPr>
          <a:xfrm flipV="1">
            <a:off x="3837920" y="2180433"/>
            <a:ext cx="1" cy="210234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0C89A24-FA15-48D9-EEE7-85501F832D44}"/>
                  </a:ext>
                </a:extLst>
              </p:cNvPr>
              <p:cNvSpPr txBox="1"/>
              <p:nvPr/>
            </p:nvSpPr>
            <p:spPr>
              <a:xfrm>
                <a:off x="1746605" y="1628405"/>
                <a:ext cx="167772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𝑥</m:t>
                          </m:r>
                          <m:r>
                            <a:rPr lang="en-US" b="0" i="1" smtClean="0">
                              <a:latin typeface="Cambria Math" panose="02040503050406030204" pitchFamily="18" charset="0"/>
                            </a:rPr>
                            <m:t>1</m:t>
                          </m:r>
                        </m:sub>
                      </m:sSub>
                    </m:oMath>
                  </m:oMathPara>
                </a14:m>
                <a:endParaRPr lang="en-US" dirty="0"/>
              </a:p>
            </p:txBody>
          </p:sp>
        </mc:Choice>
        <mc:Fallback xmlns="">
          <p:sp>
            <p:nvSpPr>
              <p:cNvPr id="9" name="TextBox 8">
                <a:extLst>
                  <a:ext uri="{FF2B5EF4-FFF2-40B4-BE49-F238E27FC236}">
                    <a16:creationId xmlns:a16="http://schemas.microsoft.com/office/drawing/2014/main" id="{D0C89A24-FA15-48D9-EEE7-85501F832D44}"/>
                  </a:ext>
                </a:extLst>
              </p:cNvPr>
              <p:cNvSpPr txBox="1">
                <a:spLocks noRot="1" noChangeAspect="1" noMove="1" noResize="1" noEditPoints="1" noAdjustHandles="1" noChangeArrowheads="1" noChangeShapeType="1" noTextEdit="1"/>
              </p:cNvSpPr>
              <p:nvPr/>
            </p:nvSpPr>
            <p:spPr>
              <a:xfrm>
                <a:off x="1746605" y="1628405"/>
                <a:ext cx="1677725"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19B57D7-B0DE-A5E1-8CC1-FE6C22D1458C}"/>
                  </a:ext>
                </a:extLst>
              </p:cNvPr>
              <p:cNvSpPr txBox="1"/>
              <p:nvPr/>
            </p:nvSpPr>
            <p:spPr>
              <a:xfrm>
                <a:off x="3779488" y="3034212"/>
                <a:ext cx="778359" cy="39478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𝑦</m:t>
                          </m:r>
                          <m:r>
                            <a:rPr lang="en-US" b="0" i="1" smtClean="0">
                              <a:latin typeface="Cambria Math" panose="02040503050406030204" pitchFamily="18" charset="0"/>
                            </a:rPr>
                            <m:t>1</m:t>
                          </m:r>
                        </m:sub>
                      </m:sSub>
                    </m:oMath>
                  </m:oMathPara>
                </a14:m>
                <a:endParaRPr lang="en-US" dirty="0"/>
              </a:p>
            </p:txBody>
          </p:sp>
        </mc:Choice>
        <mc:Fallback xmlns="">
          <p:sp>
            <p:nvSpPr>
              <p:cNvPr id="10" name="TextBox 9">
                <a:extLst>
                  <a:ext uri="{FF2B5EF4-FFF2-40B4-BE49-F238E27FC236}">
                    <a16:creationId xmlns:a16="http://schemas.microsoft.com/office/drawing/2014/main" id="{719B57D7-B0DE-A5E1-8CC1-FE6C22D1458C}"/>
                  </a:ext>
                </a:extLst>
              </p:cNvPr>
              <p:cNvSpPr txBox="1">
                <a:spLocks noRot="1" noChangeAspect="1" noMove="1" noResize="1" noEditPoints="1" noAdjustHandles="1" noChangeArrowheads="1" noChangeShapeType="1" noTextEdit="1"/>
              </p:cNvSpPr>
              <p:nvPr/>
            </p:nvSpPr>
            <p:spPr>
              <a:xfrm>
                <a:off x="3779488" y="3034212"/>
                <a:ext cx="778359" cy="394788"/>
              </a:xfrm>
              <a:prstGeom prst="rect">
                <a:avLst/>
              </a:prstGeom>
              <a:blipFill>
                <a:blip r:embed="rId3"/>
                <a:stretch>
                  <a:fillRect b="-6250"/>
                </a:stretch>
              </a:blipFill>
            </p:spPr>
            <p:txBody>
              <a:bodyPr/>
              <a:lstStyle/>
              <a:p>
                <a:r>
                  <a:rPr lang="en-US">
                    <a:noFill/>
                  </a:rPr>
                  <a:t> </a:t>
                </a:r>
              </a:p>
            </p:txBody>
          </p:sp>
        </mc:Fallback>
      </mc:AlternateContent>
      <p:sp>
        <p:nvSpPr>
          <p:cNvPr id="11" name="Oval 10">
            <a:extLst>
              <a:ext uri="{FF2B5EF4-FFF2-40B4-BE49-F238E27FC236}">
                <a16:creationId xmlns:a16="http://schemas.microsoft.com/office/drawing/2014/main" id="{6FF177D5-4DEA-382B-E4AF-3F16722A434E}"/>
              </a:ext>
            </a:extLst>
          </p:cNvPr>
          <p:cNvSpPr/>
          <p:nvPr/>
        </p:nvSpPr>
        <p:spPr>
          <a:xfrm>
            <a:off x="1452085" y="4226373"/>
            <a:ext cx="87465" cy="954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46FA757-18E3-97B3-ACCB-5E65484440C3}"/>
                  </a:ext>
                </a:extLst>
              </p:cNvPr>
              <p:cNvSpPr txBox="1"/>
              <p:nvPr/>
            </p:nvSpPr>
            <p:spPr>
              <a:xfrm>
                <a:off x="1023856" y="4320647"/>
                <a:ext cx="9254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𝒑</m:t>
                      </m:r>
                      <m:r>
                        <a:rPr lang="en-US" b="1" i="1" smtClean="0">
                          <a:latin typeface="Cambria Math" panose="02040503050406030204" pitchFamily="18" charset="0"/>
                        </a:rPr>
                        <m:t>=</m:t>
                      </m:r>
                      <m:r>
                        <a:rPr lang="en-US" b="1" i="1" smtClean="0">
                          <a:latin typeface="Cambria Math" panose="02040503050406030204" pitchFamily="18" charset="0"/>
                        </a:rPr>
                        <m:t>𝟎</m:t>
                      </m:r>
                    </m:oMath>
                  </m:oMathPara>
                </a14:m>
                <a:endParaRPr lang="en-US" b="1" dirty="0"/>
              </a:p>
            </p:txBody>
          </p:sp>
        </mc:Choice>
        <mc:Fallback xmlns="">
          <p:sp>
            <p:nvSpPr>
              <p:cNvPr id="12" name="TextBox 11">
                <a:extLst>
                  <a:ext uri="{FF2B5EF4-FFF2-40B4-BE49-F238E27FC236}">
                    <a16:creationId xmlns:a16="http://schemas.microsoft.com/office/drawing/2014/main" id="{E46FA757-18E3-97B3-ACCB-5E65484440C3}"/>
                  </a:ext>
                </a:extLst>
              </p:cNvPr>
              <p:cNvSpPr txBox="1">
                <a:spLocks noRot="1" noChangeAspect="1" noMove="1" noResize="1" noEditPoints="1" noAdjustHandles="1" noChangeArrowheads="1" noChangeShapeType="1" noTextEdit="1"/>
              </p:cNvSpPr>
              <p:nvPr/>
            </p:nvSpPr>
            <p:spPr>
              <a:xfrm>
                <a:off x="1023856" y="4320647"/>
                <a:ext cx="925450" cy="369332"/>
              </a:xfrm>
              <a:prstGeom prst="rect">
                <a:avLst/>
              </a:prstGeom>
              <a:blipFill>
                <a:blip r:embed="rId4"/>
                <a:stretch>
                  <a:fillRect b="-10000"/>
                </a:stretch>
              </a:blipFill>
            </p:spPr>
            <p:txBody>
              <a:bodyPr/>
              <a:lstStyle/>
              <a:p>
                <a:r>
                  <a:rPr lang="en-US">
                    <a:noFill/>
                  </a:rPr>
                  <a:t> </a:t>
                </a:r>
              </a:p>
            </p:txBody>
          </p:sp>
        </mc:Fallback>
      </mc:AlternateContent>
      <p:sp>
        <p:nvSpPr>
          <p:cNvPr id="13" name="Oval 12">
            <a:extLst>
              <a:ext uri="{FF2B5EF4-FFF2-40B4-BE49-F238E27FC236}">
                <a16:creationId xmlns:a16="http://schemas.microsoft.com/office/drawing/2014/main" id="{4ECCB5D7-8131-E7E4-20CB-D565A9DA81E2}"/>
              </a:ext>
            </a:extLst>
          </p:cNvPr>
          <p:cNvSpPr/>
          <p:nvPr/>
        </p:nvSpPr>
        <p:spPr>
          <a:xfrm>
            <a:off x="2529882" y="3180058"/>
            <a:ext cx="87465" cy="954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F69174A-DCF9-8B30-CF3E-FA722B3EACC1}"/>
                  </a:ext>
                </a:extLst>
              </p:cNvPr>
              <p:cNvSpPr txBox="1"/>
              <p:nvPr/>
            </p:nvSpPr>
            <p:spPr>
              <a:xfrm>
                <a:off x="1691019" y="4968086"/>
                <a:ext cx="1677725" cy="6560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ad>
                        <m:radPr>
                          <m:degHide m:val="on"/>
                          <m:ctrlPr>
                            <a:rPr lang="en-US" b="1" i="1" smtClean="0">
                              <a:latin typeface="Cambria Math" panose="02040503050406030204" pitchFamily="18" charset="0"/>
                            </a:rPr>
                          </m:ctrlPr>
                        </m:radPr>
                        <m:deg/>
                        <m:e>
                          <m:sSup>
                            <m:sSupPr>
                              <m:ctrlPr>
                                <a:rPr lang="en-US" b="1" i="1" smtClean="0">
                                  <a:latin typeface="Cambria Math" panose="02040503050406030204" pitchFamily="18" charset="0"/>
                                </a:rPr>
                              </m:ctrlPr>
                            </m:sSupPr>
                            <m:e>
                              <m:sSub>
                                <m:sSubPr>
                                  <m:ctrlPr>
                                    <a:rPr lang="en-US" b="1"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𝑥</m:t>
                                  </m:r>
                                </m:sub>
                              </m:sSub>
                            </m:e>
                            <m:sup>
                              <m:r>
                                <a:rPr lang="en-US" b="1" i="1" smtClean="0">
                                  <a:latin typeface="Cambria Math" panose="02040503050406030204" pitchFamily="18" charset="0"/>
                                </a:rPr>
                                <m:t>𝟐</m:t>
                              </m:r>
                            </m:sup>
                          </m:sSup>
                          <m:r>
                            <a:rPr lang="en-US" b="1" i="1" smtClean="0">
                              <a:latin typeface="Cambria Math" panose="02040503050406030204" pitchFamily="18" charset="0"/>
                            </a:rPr>
                            <m:t>+</m:t>
                          </m:r>
                          <m:sSup>
                            <m:sSupPr>
                              <m:ctrlPr>
                                <a:rPr lang="en-US" b="1" i="1" smtClean="0">
                                  <a:latin typeface="Cambria Math" panose="02040503050406030204" pitchFamily="18" charset="0"/>
                                </a:rPr>
                              </m:ctrlPr>
                            </m:sSupPr>
                            <m:e>
                              <m:sSub>
                                <m:sSubPr>
                                  <m:ctrlPr>
                                    <a:rPr lang="en-US"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𝑦</m:t>
                                  </m:r>
                                </m:sub>
                              </m:sSub>
                            </m:e>
                            <m:sup>
                              <m:r>
                                <a:rPr lang="en-US" b="1" i="1" smtClean="0">
                                  <a:latin typeface="Cambria Math" panose="02040503050406030204" pitchFamily="18" charset="0"/>
                                </a:rPr>
                                <m:t>𝟐</m:t>
                              </m:r>
                            </m:sup>
                          </m:sSup>
                        </m:e>
                      </m:rad>
                    </m:oMath>
                  </m:oMathPara>
                </a14:m>
                <a:endParaRPr lang="en-US" b="1" dirty="0"/>
              </a:p>
            </p:txBody>
          </p:sp>
        </mc:Choice>
        <mc:Fallback xmlns="">
          <p:sp>
            <p:nvSpPr>
              <p:cNvPr id="14" name="TextBox 13">
                <a:extLst>
                  <a:ext uri="{FF2B5EF4-FFF2-40B4-BE49-F238E27FC236}">
                    <a16:creationId xmlns:a16="http://schemas.microsoft.com/office/drawing/2014/main" id="{BF69174A-DCF9-8B30-CF3E-FA722B3EACC1}"/>
                  </a:ext>
                </a:extLst>
              </p:cNvPr>
              <p:cNvSpPr txBox="1">
                <a:spLocks noRot="1" noChangeAspect="1" noMove="1" noResize="1" noEditPoints="1" noAdjustHandles="1" noChangeArrowheads="1" noChangeShapeType="1" noTextEdit="1"/>
              </p:cNvSpPr>
              <p:nvPr/>
            </p:nvSpPr>
            <p:spPr>
              <a:xfrm>
                <a:off x="1691019" y="4968086"/>
                <a:ext cx="1677725" cy="656013"/>
              </a:xfrm>
              <a:prstGeom prst="rect">
                <a:avLst/>
              </a:prstGeom>
              <a:blipFill>
                <a:blip r:embed="rId5"/>
                <a:stretch>
                  <a:fillRect/>
                </a:stretch>
              </a:blipFill>
            </p:spPr>
            <p:txBody>
              <a:bodyPr/>
              <a:lstStyle/>
              <a:p>
                <a:r>
                  <a:rPr lang="en-US">
                    <a:noFill/>
                  </a:rPr>
                  <a:t> </a:t>
                </a:r>
              </a:p>
            </p:txBody>
          </p:sp>
        </mc:Fallback>
      </mc:AlternateContent>
      <p:sp>
        <p:nvSpPr>
          <p:cNvPr id="15" name="Oval 14">
            <a:extLst>
              <a:ext uri="{FF2B5EF4-FFF2-40B4-BE49-F238E27FC236}">
                <a16:creationId xmlns:a16="http://schemas.microsoft.com/office/drawing/2014/main" id="{0924A532-1B5C-24A9-D3FE-E8C56BA82ABD}"/>
              </a:ext>
            </a:extLst>
          </p:cNvPr>
          <p:cNvSpPr/>
          <p:nvPr/>
        </p:nvSpPr>
        <p:spPr>
          <a:xfrm>
            <a:off x="3235291" y="3180058"/>
            <a:ext cx="87465" cy="954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E915C046-7A8E-4515-9AE5-8FDDA4D2BA6C}"/>
              </a:ext>
            </a:extLst>
          </p:cNvPr>
          <p:cNvSpPr/>
          <p:nvPr/>
        </p:nvSpPr>
        <p:spPr>
          <a:xfrm>
            <a:off x="1780741" y="3180058"/>
            <a:ext cx="87465" cy="954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FA711C9E-16CA-9FC2-CFB7-ADEA5AC0F460}"/>
              </a:ext>
            </a:extLst>
          </p:cNvPr>
          <p:cNvSpPr/>
          <p:nvPr/>
        </p:nvSpPr>
        <p:spPr>
          <a:xfrm>
            <a:off x="2529882" y="2492692"/>
            <a:ext cx="87465" cy="954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84B22166-B6E5-83D2-AD55-B8DD755A6BA4}"/>
              </a:ext>
            </a:extLst>
          </p:cNvPr>
          <p:cNvSpPr/>
          <p:nvPr/>
        </p:nvSpPr>
        <p:spPr>
          <a:xfrm>
            <a:off x="3235291" y="2492692"/>
            <a:ext cx="87465" cy="954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0B7B73D-AD55-D05E-818F-069EA2CEC9FD}"/>
              </a:ext>
            </a:extLst>
          </p:cNvPr>
          <p:cNvSpPr/>
          <p:nvPr/>
        </p:nvSpPr>
        <p:spPr>
          <a:xfrm>
            <a:off x="1780741" y="2492692"/>
            <a:ext cx="87465" cy="954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6FE97572-46E0-040A-8348-479A61917229}"/>
              </a:ext>
            </a:extLst>
          </p:cNvPr>
          <p:cNvSpPr/>
          <p:nvPr/>
        </p:nvSpPr>
        <p:spPr>
          <a:xfrm>
            <a:off x="2529882" y="3819716"/>
            <a:ext cx="87465" cy="954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4669B709-9355-1F1A-BCCC-8485105E11BC}"/>
              </a:ext>
            </a:extLst>
          </p:cNvPr>
          <p:cNvSpPr/>
          <p:nvPr/>
        </p:nvSpPr>
        <p:spPr>
          <a:xfrm>
            <a:off x="3235291" y="3819716"/>
            <a:ext cx="87465" cy="954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92EC30C6-C4FD-5AB3-9D67-C709A97E8DF7}"/>
              </a:ext>
            </a:extLst>
          </p:cNvPr>
          <p:cNvSpPr/>
          <p:nvPr/>
        </p:nvSpPr>
        <p:spPr>
          <a:xfrm>
            <a:off x="1780741" y="3819716"/>
            <a:ext cx="87465" cy="954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3E28C316-C8E8-46E2-DEAB-7EC8A3DC53DD}"/>
              </a:ext>
            </a:extLst>
          </p:cNvPr>
          <p:cNvSpPr txBox="1"/>
          <p:nvPr/>
        </p:nvSpPr>
        <p:spPr>
          <a:xfrm>
            <a:off x="5003015" y="1748897"/>
            <a:ext cx="2946380" cy="2862322"/>
          </a:xfrm>
          <a:prstGeom prst="rect">
            <a:avLst/>
          </a:prstGeom>
          <a:noFill/>
        </p:spPr>
        <p:txBody>
          <a:bodyPr wrap="square">
            <a:spAutoFit/>
          </a:bodyPr>
          <a:lstStyle/>
          <a:p>
            <a:pPr algn="ctr"/>
            <a:r>
              <a:rPr lang="en-US" b="1" dirty="0"/>
              <a:t>Optimization objective</a:t>
            </a:r>
          </a:p>
          <a:p>
            <a:pPr marL="285750" indent="-285750">
              <a:buFontTx/>
              <a:buChar char="-"/>
            </a:pPr>
            <a:r>
              <a:rPr lang="en-US" dirty="0"/>
              <a:t>Resultant velocities at 9 locations in the domain</a:t>
            </a:r>
          </a:p>
          <a:p>
            <a:pPr marL="285750" indent="-285750">
              <a:buFontTx/>
              <a:buChar char="-"/>
            </a:pPr>
            <a:r>
              <a:rPr lang="en-US" dirty="0"/>
              <a:t>Resultant velocities: experimental data</a:t>
            </a:r>
          </a:p>
          <a:p>
            <a:endParaRPr lang="en-US" dirty="0"/>
          </a:p>
          <a:p>
            <a:pPr marL="285750" indent="-285750">
              <a:buFontTx/>
              <a:buChar char="-"/>
            </a:pPr>
            <a:r>
              <a:rPr lang="en-US" dirty="0"/>
              <a:t>Do not know Ux1, Uy1</a:t>
            </a:r>
          </a:p>
          <a:p>
            <a:pPr marL="285750" indent="-285750">
              <a:buFontTx/>
              <a:buChar char="-"/>
            </a:pPr>
            <a:r>
              <a:rPr lang="en-US" dirty="0"/>
              <a:t>Given experimental data, optimize for Ux1, Uy1</a:t>
            </a:r>
          </a:p>
        </p:txBody>
      </p:sp>
      <p:pic>
        <p:nvPicPr>
          <p:cNvPr id="24" name="Picture 23" descr="Text&#10;&#10;AI-generated content may be incorrect.">
            <a:extLst>
              <a:ext uri="{FF2B5EF4-FFF2-40B4-BE49-F238E27FC236}">
                <a16:creationId xmlns:a16="http://schemas.microsoft.com/office/drawing/2014/main" id="{4D500906-1AA2-E94A-746D-6FFB09A37C89}"/>
              </a:ext>
            </a:extLst>
          </p:cNvPr>
          <p:cNvPicPr>
            <a:picLocks noChangeAspect="1"/>
          </p:cNvPicPr>
          <p:nvPr/>
        </p:nvPicPr>
        <p:blipFill>
          <a:blip r:embed="rId6"/>
          <a:stretch>
            <a:fillRect/>
          </a:stretch>
        </p:blipFill>
        <p:spPr>
          <a:xfrm>
            <a:off x="4740107" y="5052679"/>
            <a:ext cx="3472197" cy="1176218"/>
          </a:xfrm>
          <a:prstGeom prst="rect">
            <a:avLst/>
          </a:prstGeom>
        </p:spPr>
      </p:pic>
      <p:sp>
        <p:nvSpPr>
          <p:cNvPr id="25" name="TextBox 24">
            <a:extLst>
              <a:ext uri="{FF2B5EF4-FFF2-40B4-BE49-F238E27FC236}">
                <a16:creationId xmlns:a16="http://schemas.microsoft.com/office/drawing/2014/main" id="{D533CE8E-1180-7156-084A-27531C3DACA3}"/>
              </a:ext>
            </a:extLst>
          </p:cNvPr>
          <p:cNvSpPr txBox="1"/>
          <p:nvPr/>
        </p:nvSpPr>
        <p:spPr>
          <a:xfrm>
            <a:off x="8925059" y="2766101"/>
            <a:ext cx="2825258" cy="1477328"/>
          </a:xfrm>
          <a:prstGeom prst="rect">
            <a:avLst/>
          </a:prstGeom>
          <a:noFill/>
        </p:spPr>
        <p:txBody>
          <a:bodyPr wrap="square">
            <a:spAutoFit/>
          </a:bodyPr>
          <a:lstStyle/>
          <a:p>
            <a:r>
              <a:rPr lang="en-US" b="1" dirty="0"/>
              <a:t>Acquisition functions:</a:t>
            </a:r>
            <a:r>
              <a:rPr lang="en-US" dirty="0"/>
              <a:t> Expected Improvement, Probability of Improvement, Upper Confidence Bound</a:t>
            </a:r>
          </a:p>
        </p:txBody>
      </p:sp>
    </p:spTree>
    <p:extLst>
      <p:ext uri="{BB962C8B-B14F-4D97-AF65-F5344CB8AC3E}">
        <p14:creationId xmlns:p14="http://schemas.microsoft.com/office/powerpoint/2010/main" val="17957438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93A99-E60B-E8CD-1E29-ECF1876EBC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E29522-0C91-501B-74D8-FB58241A3EDC}"/>
              </a:ext>
            </a:extLst>
          </p:cNvPr>
          <p:cNvSpPr>
            <a:spLocks noGrp="1"/>
          </p:cNvSpPr>
          <p:nvPr>
            <p:ph type="title"/>
          </p:nvPr>
        </p:nvSpPr>
        <p:spPr>
          <a:xfrm>
            <a:off x="938151" y="558602"/>
            <a:ext cx="10415648" cy="413463"/>
          </a:xfrm>
        </p:spPr>
        <p:txBody>
          <a:bodyPr/>
          <a:lstStyle/>
          <a:p>
            <a:r>
              <a:rPr lang="en-US" dirty="0"/>
              <a:t>Bayesian optimization</a:t>
            </a:r>
          </a:p>
        </p:txBody>
      </p:sp>
      <p:sp>
        <p:nvSpPr>
          <p:cNvPr id="4" name="Slide Number Placeholder 3">
            <a:extLst>
              <a:ext uri="{FF2B5EF4-FFF2-40B4-BE49-F238E27FC236}">
                <a16:creationId xmlns:a16="http://schemas.microsoft.com/office/drawing/2014/main" id="{F897E30E-DB0F-1372-FEB5-26CABFCDC679}"/>
              </a:ext>
            </a:extLst>
          </p:cNvPr>
          <p:cNvSpPr>
            <a:spLocks noGrp="1"/>
          </p:cNvSpPr>
          <p:nvPr>
            <p:ph type="sldNum" sz="quarter" idx="12"/>
          </p:nvPr>
        </p:nvSpPr>
        <p:spPr/>
        <p:txBody>
          <a:bodyPr/>
          <a:lstStyle/>
          <a:p>
            <a:fld id="{82B577FA-F7D9-2C48-919F-F962E3BF952F}" type="slidenum">
              <a:rPr lang="en-US" smtClean="0"/>
              <a:t>34</a:t>
            </a:fld>
            <a:endParaRPr lang="en-US"/>
          </a:p>
        </p:txBody>
      </p:sp>
      <p:sp>
        <p:nvSpPr>
          <p:cNvPr id="5" name="TextBox 4">
            <a:extLst>
              <a:ext uri="{FF2B5EF4-FFF2-40B4-BE49-F238E27FC236}">
                <a16:creationId xmlns:a16="http://schemas.microsoft.com/office/drawing/2014/main" id="{A49DD919-CD35-BA61-78F1-05BCCFCE3778}"/>
              </a:ext>
            </a:extLst>
          </p:cNvPr>
          <p:cNvSpPr txBox="1"/>
          <p:nvPr/>
        </p:nvSpPr>
        <p:spPr>
          <a:xfrm>
            <a:off x="5062031" y="6550223"/>
            <a:ext cx="2067938" cy="307777"/>
          </a:xfrm>
          <a:prstGeom prst="rect">
            <a:avLst/>
          </a:prstGeom>
          <a:noFill/>
        </p:spPr>
        <p:txBody>
          <a:bodyPr wrap="none" rtlCol="0">
            <a:spAutoFit/>
          </a:bodyPr>
          <a:lstStyle/>
          <a:p>
            <a:r>
              <a:rPr lang="en-US" sz="1400" b="1" i="0" dirty="0">
                <a:solidFill>
                  <a:srgbClr val="07519E"/>
                </a:solidFill>
                <a:effectLst/>
                <a:latin typeface="Arial" panose="020B0604020202020204" pitchFamily="34" charset="0"/>
              </a:rPr>
              <a:t>Part 3: Active learning</a:t>
            </a:r>
            <a:endParaRPr lang="en-US" sz="1400" b="1" dirty="0">
              <a:solidFill>
                <a:srgbClr val="07519E"/>
              </a:solidFill>
            </a:endParaRPr>
          </a:p>
        </p:txBody>
      </p:sp>
      <p:pic>
        <p:nvPicPr>
          <p:cNvPr id="26" name="Picture 25" descr="Text&#10;&#10;AI-generated content may be incorrect.">
            <a:extLst>
              <a:ext uri="{FF2B5EF4-FFF2-40B4-BE49-F238E27FC236}">
                <a16:creationId xmlns:a16="http://schemas.microsoft.com/office/drawing/2014/main" id="{5DC6EE25-A7B4-1F25-5C67-0AAD997DE3CF}"/>
              </a:ext>
            </a:extLst>
          </p:cNvPr>
          <p:cNvPicPr>
            <a:picLocks noChangeAspect="1"/>
          </p:cNvPicPr>
          <p:nvPr/>
        </p:nvPicPr>
        <p:blipFill>
          <a:blip r:embed="rId2"/>
          <a:stretch>
            <a:fillRect/>
          </a:stretch>
        </p:blipFill>
        <p:spPr>
          <a:xfrm>
            <a:off x="3975100" y="2387600"/>
            <a:ext cx="4241800" cy="2082800"/>
          </a:xfrm>
          <a:prstGeom prst="rect">
            <a:avLst/>
          </a:prstGeom>
        </p:spPr>
      </p:pic>
    </p:spTree>
    <p:extLst>
      <p:ext uri="{BB962C8B-B14F-4D97-AF65-F5344CB8AC3E}">
        <p14:creationId xmlns:p14="http://schemas.microsoft.com/office/powerpoint/2010/main" val="27813018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13701-5DFC-A845-ABEE-258D0E315132}"/>
              </a:ext>
            </a:extLst>
          </p:cNvPr>
          <p:cNvSpPr>
            <a:spLocks noGrp="1"/>
          </p:cNvSpPr>
          <p:nvPr>
            <p:ph type="title"/>
          </p:nvPr>
        </p:nvSpPr>
        <p:spPr>
          <a:xfrm>
            <a:off x="888176" y="1669396"/>
            <a:ext cx="10415648" cy="1008797"/>
          </a:xfrm>
        </p:spPr>
        <p:txBody>
          <a:bodyPr/>
          <a:lstStyle/>
          <a:p>
            <a:pPr algn="ctr"/>
            <a:r>
              <a:rPr lang="en-US" dirty="0"/>
              <a:t>Thank you!</a:t>
            </a:r>
            <a:br>
              <a:rPr lang="en-US" dirty="0"/>
            </a:br>
            <a:r>
              <a:rPr lang="en-US" sz="2000" dirty="0"/>
              <a:t>(</a:t>
            </a:r>
            <a:r>
              <a:rPr lang="en-US" sz="2000" dirty="0">
                <a:hlinkClick r:id="rId2"/>
              </a:rPr>
              <a:t>Som.Dhulipala@inl.gov</a:t>
            </a:r>
            <a:r>
              <a:rPr lang="en-US" sz="2000" dirty="0"/>
              <a:t>, </a:t>
            </a:r>
            <a:r>
              <a:rPr lang="en-US" sz="2000" dirty="0">
                <a:hlinkClick r:id="rId3"/>
              </a:rPr>
              <a:t>Peter.German@inl.gov</a:t>
            </a:r>
            <a:r>
              <a:rPr lang="en-US" sz="2000" dirty="0"/>
              <a:t>, </a:t>
            </a:r>
            <a:r>
              <a:rPr lang="en-US" sz="2000" dirty="0">
                <a:hlinkClick r:id="rId4"/>
              </a:rPr>
              <a:t>Zachary.Prince@inl.gov</a:t>
            </a:r>
            <a:r>
              <a:rPr lang="en-US" sz="2000" dirty="0"/>
              <a:t>)</a:t>
            </a:r>
            <a:br>
              <a:rPr lang="en-US" sz="2000" dirty="0"/>
            </a:br>
            <a:br>
              <a:rPr lang="en-US" dirty="0"/>
            </a:br>
            <a:r>
              <a:rPr lang="en-US" sz="2400" dirty="0"/>
              <a:t>Acknowledgements: </a:t>
            </a:r>
            <a:r>
              <a:rPr lang="en-US" sz="2400" b="0" dirty="0"/>
              <a:t>This work is funded by the INL Laboratory Directed Research and Development (LDRD), Nuclear Energy Advanced Modeling and Simulations (NEAMS), Advanced Materials and Manufacturing Technologies (AMMT), and Nuclear Energy University Partnerships (NEUP) programs.</a:t>
            </a:r>
            <a:br>
              <a:rPr lang="en-US" sz="2400" dirty="0"/>
            </a:br>
            <a:br>
              <a:rPr lang="en-US" sz="2400" dirty="0"/>
            </a:br>
            <a:r>
              <a:rPr lang="en-US" sz="2400" b="0" dirty="0"/>
              <a:t>This work has utilized the high-performance computing resources at the Idaho National Laboratory.</a:t>
            </a:r>
            <a:br>
              <a:rPr lang="en-US" sz="2400" dirty="0"/>
            </a:br>
            <a:endParaRPr lang="en-US" dirty="0"/>
          </a:p>
        </p:txBody>
      </p:sp>
      <p:sp>
        <p:nvSpPr>
          <p:cNvPr id="4" name="Slide Number Placeholder 3">
            <a:extLst>
              <a:ext uri="{FF2B5EF4-FFF2-40B4-BE49-F238E27FC236}">
                <a16:creationId xmlns:a16="http://schemas.microsoft.com/office/drawing/2014/main" id="{2D0C078C-20C4-604E-A34E-77BFF8497DFA}"/>
              </a:ext>
            </a:extLst>
          </p:cNvPr>
          <p:cNvSpPr>
            <a:spLocks noGrp="1"/>
          </p:cNvSpPr>
          <p:nvPr>
            <p:ph type="sldNum" sz="quarter" idx="12"/>
          </p:nvPr>
        </p:nvSpPr>
        <p:spPr/>
        <p:txBody>
          <a:bodyPr/>
          <a:lstStyle/>
          <a:p>
            <a:fld id="{82B577FA-F7D9-2C48-919F-F962E3BF952F}" type="slidenum">
              <a:rPr lang="en-US" smtClean="0"/>
              <a:t>35</a:t>
            </a:fld>
            <a:endParaRPr lang="en-US"/>
          </a:p>
        </p:txBody>
      </p:sp>
    </p:spTree>
    <p:extLst>
      <p:ext uri="{BB962C8B-B14F-4D97-AF65-F5344CB8AC3E}">
        <p14:creationId xmlns:p14="http://schemas.microsoft.com/office/powerpoint/2010/main" val="1122358767"/>
      </p:ext>
    </p:extLst>
  </p:cSld>
  <p:clrMapOvr>
    <a:masterClrMapping/>
  </p:clrMapOvr>
</p:sld>
</file>

<file path=ppt/theme/theme1.xml><?xml version="1.0" encoding="utf-8"?>
<a:theme xmlns:a="http://schemas.openxmlformats.org/drawingml/2006/main" name="INL 2020">
  <a:themeElements>
    <a:clrScheme name="INL 2020">
      <a:dk1>
        <a:srgbClr val="000000"/>
      </a:dk1>
      <a:lt1>
        <a:srgbClr val="FFFFFF"/>
      </a:lt1>
      <a:dk2>
        <a:srgbClr val="06509D"/>
      </a:dk2>
      <a:lt2>
        <a:srgbClr val="2CA8E1"/>
      </a:lt2>
      <a:accent1>
        <a:srgbClr val="8EC423"/>
      </a:accent1>
      <a:accent2>
        <a:srgbClr val="2CA8E1"/>
      </a:accent2>
      <a:accent3>
        <a:srgbClr val="832369"/>
      </a:accent3>
      <a:accent4>
        <a:srgbClr val="CF1D4C"/>
      </a:accent4>
      <a:accent5>
        <a:srgbClr val="F78E20"/>
      </a:accent5>
      <a:accent6>
        <a:srgbClr val="59595C"/>
      </a:accent6>
      <a:hlink>
        <a:srgbClr val="7F7F7F"/>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7E82F965877DA48B42BD2A948B41834" ma:contentTypeVersion="1" ma:contentTypeDescription="Create a new document." ma:contentTypeScope="" ma:versionID="2256d34d26a10fb9041f5e82347b058b">
  <xsd:schema xmlns:xsd="http://www.w3.org/2001/XMLSchema" xmlns:xs="http://www.w3.org/2001/XMLSchema" xmlns:p="http://schemas.microsoft.com/office/2006/metadata/properties" xmlns:ns2="e13a543c-6713-4e5a-aa83-cb6a8e4cb4d2" targetNamespace="http://schemas.microsoft.com/office/2006/metadata/properties" ma:root="true" ma:fieldsID="fe980c8458d991d66740f43b520c8eeb" ns2:_="">
    <xsd:import namespace="e13a543c-6713-4e5a-aa83-cb6a8e4cb4d2"/>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3a543c-6713-4e5a-aa83-cb6a8e4cb4d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2E72521-46AD-4BAF-8AA5-1067FA401909}">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2B7AF8C6-E10B-4783-A4B1-8FFF49C2B0E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3a543c-6713-4e5a-aa83-cb6a8e4cb4d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B987B27-07C2-425E-9FC8-8EB9D2FCBB9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19814</TotalTime>
  <Words>1568</Words>
  <Application>Microsoft Macintosh PowerPoint</Application>
  <PresentationFormat>Widescreen</PresentationFormat>
  <Paragraphs>342</Paragraphs>
  <Slides>35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Calibri</vt:lpstr>
      <vt:lpstr>Cambria Math</vt:lpstr>
      <vt:lpstr>Myriad Pro Condensed</vt:lpstr>
      <vt:lpstr>Times New Roman</vt:lpstr>
      <vt:lpstr>INL 2020</vt:lpstr>
      <vt:lpstr>PowerPoint Presentation</vt:lpstr>
      <vt:lpstr>The MOOSE Stochastic Tools Module</vt:lpstr>
      <vt:lpstr>Recent developments in MOOSE STM</vt:lpstr>
      <vt:lpstr>Focus of this training session</vt:lpstr>
      <vt:lpstr>Part 1: Forward uncertainty quantification</vt:lpstr>
      <vt:lpstr>Uncertainty propagation to model outputs</vt:lpstr>
      <vt:lpstr>Uncertainty propagation to model outputs</vt:lpstr>
      <vt:lpstr>Sobol sensitivity analysis</vt:lpstr>
      <vt:lpstr>Sobol sensitivity analysis</vt:lpstr>
      <vt:lpstr>Rare events analysis: parallel subset simulation</vt:lpstr>
      <vt:lpstr>Rare events analysis: parallel subset simulation</vt:lpstr>
      <vt:lpstr>Part 2: Bayesian (inverse) uncertainty quantification</vt:lpstr>
      <vt:lpstr>Quantify model parameter uncertainties</vt:lpstr>
      <vt:lpstr>Quantify model parameter uncertainties</vt:lpstr>
      <vt:lpstr>Quantify model parameter uncertainties</vt:lpstr>
      <vt:lpstr>Quantify model parameter uncertainties</vt:lpstr>
      <vt:lpstr>Computational engine</vt:lpstr>
      <vt:lpstr>Quantify model parameter + noise uncertainties</vt:lpstr>
      <vt:lpstr>Quantify model parameter + noise uncertainties</vt:lpstr>
      <vt:lpstr>A note on the code architecture</vt:lpstr>
      <vt:lpstr>Quantify model parameter + noise uncertainties</vt:lpstr>
      <vt:lpstr>Quantify model parameter + noise + model inadequacy uncertainties</vt:lpstr>
      <vt:lpstr>Quantify model parameter + noise + model inadequacy uncertainties</vt:lpstr>
      <vt:lpstr>Part 3: Active learning and Bayesian optimization</vt:lpstr>
      <vt:lpstr>Training and loading a Gaussian process surrogate</vt:lpstr>
      <vt:lpstr>Training and loading a Gaussian process surrogate</vt:lpstr>
      <vt:lpstr>Training and loading a Gaussian process surrogate</vt:lpstr>
      <vt:lpstr>Training and loading a Gaussian process surrogate</vt:lpstr>
      <vt:lpstr>Training a GP with active learning</vt:lpstr>
      <vt:lpstr>Training a GP with active learning</vt:lpstr>
      <vt:lpstr>Training a GP with active learning</vt:lpstr>
      <vt:lpstr>Training a GP with active learning</vt:lpstr>
      <vt:lpstr>Bayesian optimization</vt:lpstr>
      <vt:lpstr>Bayesian optimization</vt:lpstr>
      <vt:lpstr>Thank you! (Som.Dhulipala@inl.gov, Peter.German@inl.gov, Zachary.Prince@inl.gov)  Acknowledgements: This work is funded by the INL Laboratory Directed Research and Development (LDRD), Nuclear Energy Advanced Modeling and Simulations (NEAMS), Advanced Materials and Manufacturing Technologies (AMMT), and Nuclear Energy University Partnerships (NEUP) programs.  This work has utilized the high-performance computing resources at the Idaho National Laboratory.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Daniel L. Campbell</dc:creator>
  <cp:keywords/>
  <dc:description/>
  <cp:lastModifiedBy>Som LakshmiNarasimha Dhulipala</cp:lastModifiedBy>
  <cp:revision>779</cp:revision>
  <dcterms:created xsi:type="dcterms:W3CDTF">2020-04-22T20:22:45Z</dcterms:created>
  <dcterms:modified xsi:type="dcterms:W3CDTF">2025-03-12T17:27:01Z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0x010100E7E82F965877DA48B42BD2A948B41834</vt:lpwstr>
  </property>
</Properties>
</file>